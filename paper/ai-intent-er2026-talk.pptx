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89870985-40b9-6d01-f9d3-55d5670e0279}">
          <p14:sldIdLst>
            <p14:sldId id="256"/>
          </p14:sldIdLst>
        </p14:section>
        <p14:section name="Motivation" id="{5e0fb741-f717-66fb-9151-f2be4f2a911e}">
          <p14:sldIdLst>
            <p14:sldId id="257"/>
            <p14:sldId id="258"/>
            <p14:sldId id="259"/>
          </p14:sldIdLst>
        </p14:section>
        <p14:section name="The AI-Intent Framework" id="{8dfb0c79-d7b0-2d73-cb0f-35e8699d42c3}">
          <p14:sldIdLst>
            <p14:sldId id="260"/>
            <p14:sldId id="261"/>
            <p14:sldId id="262"/>
            <p14:sldId id="263"/>
            <p14:sldId id="264"/>
            <p14:sldId id="265"/>
            <p14:sldId id="266"/>
          </p14:sldIdLst>
        </p14:section>
        <p14:section name="Evaluation" id="{b54c9300-e0e9-56ef-3316-3ff117032973}">
          <p14:sldIdLst>
            <p14:sldId id="267"/>
            <p14:sldId id="268"/>
            <p14:sldId id="269"/>
            <p14:sldId id="270"/>
            <p14:sldId id="271"/>
            <p14:sldId id="272"/>
            <p14:sldId id="273"/>
            <p14:sldId id="274"/>
            <p14:sldId id="275"/>
          </p14:sldIdLst>
        </p14:section>
        <p14:section name="Discussion and Conclusion" id="{5df0d673-3279-52a1-8cf0-3104f5d29c4f}">
          <p14:sldIdLst>
            <p14:sldId id="276"/>
            <p14:sldId id="277"/>
            <p14:sldId id="278"/>
            <p14:sldId id="279"/>
          </p14:sldIdLst>
        </p14:section>
        <p14:section name="Backup" id="{86b7d3d8-7905-bf24-4c59-5cae736e95aa}">
          <p14:sldIdLst>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at 0:00]
Good morning, and thank you for the introduction. My name is Wolfgang Maass. This is joint work with Iris Reinhartz-Berger from the University of Haifa. The paper is called AI-Intent, a conceptual modeling framework for accountable multi-agent AI systems.
In the next twenty minutes I want to make one argument. When the components of a system are language model agents, accountability stops being an engineering add-on and becomes a modeling problem. I will show you three constructs that address it, and then I will show you what happens when we put them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at 0:30]
Let me start with the setting. Language model agents are moving into production in finance, in healthcare, in enterprise operations. And increasingly it is not one agent but several, collaborating on a single recommendation.
What makes these components different from everything agent-oriented modeling has dealt with so far is on the left. Their behaviour is not determined by source code. The output is a sample from a probability distribution, and that distribution is steered by natural-language input. The same agent, given the same request, can answer differently.
When several such agents produce a joint decision, three questions arise, on the right. What was each agent supposed to do? Did it stay within that scope? And why was this particular output produced?
These are modeling questions. And I will argue that our existing conceptual models cannot answer them, because, as the line at the bottom says, they all assume deterministic or at least rule-governed execution. Drop that assumption, and three specific gaps open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at 1:45]
Here are the three gaps.
Gap one is about boundaries. Goal-oriented models such as i-star and Tropos treat goal satisfaction as a matter of degree, and that is right for design trade-offs. But a mandate is not a soft goal. An equity agent that recommends thirty-five percent gold has not partially satisfied its goal. It has stepped outside its competence. That is a binary, sortal distinction: in scope or out of scope.
Gap two is about prohibitions. Deontic logic and normative multi-agent systems represent prohibitions very well. But they assume an agent that deliberates over the norm before it acts. A language model agent may acknowledge a constraint in one sentence and violate it in the next, or construct a plausible-sounding exception. So the modeling task is to represent negative obligations in a form that something outside the agent can evaluate.
Gap three is about evidence. FIPA-ACL specifies message syntax and semantics, but the log is an engineering option. Under the EU AI Act and under MiFID II, traceability is a legal requirement. That moves logging from the implementation into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at 3:00]
We examined four influential approaches through the lens of these gaps: i-star, Tropos, GAIA, and normative multi-agent systems.
The table reads the same way across the board. The goal-oriented frameworks represent neither scope boundaries nor prohibitions. GAIA comes closest with its permission construct, but permissions are granted at modeling time and assumed to hold at runtime. Nothing checks. NMAS closes the representational gap on prohibitions, but enforcement rests on the agent deliberating over its own norms, which is precisely what we cannot rely on.
And the lower half of the table, an external compliance component, audit-native communication, a compliance history in the trace, is empty for all four. That is the gap AI-Intent is designed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at 4:00]
AI-Intent has one pillar per gap.
Declaration closes gap one. It declares the legitimate action space of each agent through a construct we call the Mandate. Enforcement closes gap two. An external component evaluates every proposed action before it is delivered. Auditability closes gap three. The evidence is derived from the same verdicts that gate delivery, so it cannot be an afterthought.
One clarification before we go in, because it matters for this community. AI-Intent is not a new modeling language and not a syntactic extension of one. It is a conceptual model: nine governance constructs, their metamodel relationships, and well-formedness conditions. We ground it in the Unified Foundational Ontology, render it in OntoUML, and intend it to augment the agent-oriented languages you already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at 5:00]
This is the model as a whole. I will not read it, but let me trace the main path once.
Top left, a Principal, the human or organisation that owns the objectives, delegates to an Agent and governs it through a Mandate. The Agent generates a Proposed Action. That action is intercepted by Intent Enforcement, which validates it against the Mandate and against an external Regulatory Framework, and yields a Compliance Verdict. Every verdict is recorded in a Log Entry, and the Log Entries of a session make up the Accountability Trace, on the right.
Three things to notice. The Verdict is a relator: it mediates between enforcement and action. The Proposed Action is an event, not a message. And the Trace is composed of Log Entries; it is not a separate artifact that someone has to produce. I will come back to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at 6:00]
Pillar one, the Mandate. A Mandate is a type-level specification: what an agent may address, what it must not produce, and under which operational parameters. It has four parts, on the left: decision rights, boundaries, capabilities, and policies.
The formal core is the boundary constraint, on the right. Each constraint is a triple: a natural-language statement, a machine-evaluable predicate over the output, and a deontic type, prohibition or obligation. The semantics is simple, and deliberately so. A prohibition is violated if and only if the output satisfies the predicate.
And a risk parameter, say a fifteen percent cap, is not a free-standing number in a table somewhere. It binds the free variable in the predicate. That is what makes the boundary decidable.
One point on how the Mandate works at runtime, because it explains the row called model operativity in the comparison table, and it prepares a limitation I will come to at the end. The Mandate is read twice. Its text, the intent scope and the constraint sentences, is injected into the agent's system prompt; that is what the language model sees. Its risk parameters bind the predicates that the Compliance Agent evaluates; that is what the gate sees. The gate never reads the sentences. Text for the model, numbers for the gate, one object for both.
The candidate output before evaluation we call a Proposed Action. That is the unit the next pillar intercepts.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at 7:15]
Pillar two, Enforcement. At runtime this is a Compliance Agent sitting between every pair of financial agents. But as a framework construct we define it by what it must guarantee, not by an algorithm. Four requirements.
R1, non-bypassability. Every cross-agent Proposed Action is mediated. There is no delivery path around the gate.
R2, independence. The evaluator is a different component from the agent it evaluates, so enforcement does not inherit the generator's randomness.
R3, decidability. For every constraint there is a determinate verdict, approve or block, and a block names the constraint it violated.
R4, terminating revision. The agent may revise, a bounded number of times, and the loop ends either in delivery or in a recorded forced block. Never in an unrecorded pass.
How a deployment meets these, by deterministic predicates, a semantic classifier, or a hybrid, is an implementation decision, and we will see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at 8:15]
A worked example makes the mechanism concrete.
The Materials Mandate carries a risk parameter, max allocation fifteen percent. That instantiates the predicate: allocation greater than zero point one five. The Materials Agent proposes an allocation of eighteen percent. The predicate is satisfied, so the prohibition is violated. The verdict is blocked. It names the constraint, and it returns a revision directive to the agent.
The point for the model is at the bottom. The risk parameter supplies the threshold, the deontic type supplies the polarity. Together they turn a sentence in a policy document into something decidable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at 9:00]
Pillar three, Auditability. The Accountability Trace is, in UFO terms, a situation. It aggregates the Log Entries of a complete session, closed under their references to Proposed Actions and Mandates.
Two well-formedness conditions do the work. WFC-1: every Compliance Verdict is recorded in exactly one Log Entry. No evaluation goes unlogged. WFC-2: a completed session has a Log Entry for every cross-agent Proposed Action. No action goes unaccounted for.
Why does this matter? A conventional audit log can be missing, partial, or edited afterwards, and no model constraint is violated. Here a session without a complete record is ill-formed by definition. And because the Trace is built from the same verdicts that gated delivery, the record cannot diverge from what was enforced.
Auditability is a consequence of the structure, not a module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at 10:00 · optional]
For the ontologists in the room, briefly, the grounding.
Three constructs are derived directly from UFO and inherit its entailments: the Agent as an intentional object with dispositions, the Proposed Action as a non-repeatable event, which is what licenses using it as evidence, and the Trace as a situation. The remaining six are design choices layered on top: the Mandate as a normative description, Intent Enforcement as a role, the Verdict as a relator.
One caveat to prevent a misunderstanding. We use UFO for categorization and its entailments. No UFO reasoner runs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at 10:45]
Now to the evidence. We built a reference implementation: private investment advisory under MiFID II. A central orchestrator, three specialist agents for stocks, bonds and raw materials, and the Compliance Agent on every edge. No sub-agent is reachable except through the gate. That is R1 made literal.
Each agent carries five boundary constraints and two to four risk parameters. The table shows one example constraint each.
We chose this domain for a methodological reason. MiFID II supplies the constraints. They are imposed by regulation, not authored by us, which guards against a case study constructed to confirm its own premise.
The stack is deliberately modest: Python, Pydantic, SQLite, Streamlit, and Llama 3.1 with eight billion parameters, served locally. A small model, and that will matter when we read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at 11:45 · optional]
This is what the constructs look like once they are operable.
On the left, the agent network, with the Compliance Agent on every edge from the orchestrator to a sub-agent. In the centre, the intent lifecycle: query, routing, delegation, synthesis, response, with a compliance checkpoint between stages. On the right, the constraint audit: for the selected agent, its Mandate, each constraint with its current status, and its risk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at 12:30 · optional]
Let me zoom in on that right panel for one session. This is the Stocks Agent. All five of its boundary constraints are evaluated and reported individually: satisfied, or flagged by the agent as a concern.
That is what a Compliance Verdict looks like when you make it visible. Not a pass or fail score, but a per-constraint record naming what was checked. And that record is exactly what a Log Entry carries. So WFC-1 and WFC-2 hold by construction, not because someone wrote a reporting step.
In this session the Stocks Agent was approved on its first attempt. The one revision happened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at 13:15]
Here is the same session as the message log. Every arrow is a time-indexed, non-repeatable event, which is the ontological status that lets us treat it as evidence.
From this log alone you can reconstruct the whole session: the routing decision, each delegation and its result, the compliance event, the synthesis, the response to the user.
The line in red is the gate firing: compliance dot revision dot materials, violation, at 16:44:10. It is in the record. It is not something an auditor would have to infer. This is our scenario S3, audit reconstruction, and no agent-oriented framework we know of provides an equivalent artifact as a structural part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at 14:00]
And here is requirement R4 in a single session.
The Materials Agent answers at 16:44:10. The Compliance Agent evaluates the proposed action against the Materials Mandate, finds a violated constraint, and instead of delivering, returns a revision directive. The agent re-analyses and answers again at 16:44:13. That answer passes and is delivered.
One revision, zero forced blocks, a bounded loop that terminates in delivery. The thing I want you to retain: the non-compliant first answer never reached the orchestrator.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at 14:45]
We make two claims, and we evaluate them separately.
The modeling claim is expressiveness: does each pillar capture a scenario that existing languages cannot? Three scenarios, one per gap. S1, out-of-scope declination: agents returned out of scope with the violated constraint named; GAIA can express the permission but not verify it. S2, quantitative enforcement: the gate fired on every session that exceeded a limit; NMAS would need the agent to evaluate itself. S3, audit reconstruction, which you just saw.
The operativity claim is applicability: do the constructs hold at runtime, across sessions, and under adversarial agent dispositions? Nineteen test cases: fifteen covering baseline, out-of-scope, hard violations, synthesis and trace integrity, plus four with disposition presets, neutral, aggressive broker, reckless portfolio manager, and groupthink. Ten independent runs, one hundred and ninety evaluations.
Scoring is deterministic pattern matching over the session JSON, zero, one or two per dimension. There is no language model judging another language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at 15:45]
Before the numbers, where the dimensions come from, because the table on the next slide is otherwise hard to read.
The evaluation protocol maps each framework claim to one measurable dimension. BVC, boundary violation containment, and CGP, gate precision, test the Compliance Verdict gate, so the Enforcement pillar: does anything non-compliant get through, and does anything compliant get wrongly blocked. ME and CDA test whether Mandate boundaries are explicit and machine-interpretable, so Declaration, checked through Enforcement. ATC tests whether the Accountability Trace is populated, so Auditability. DC, disposition containment, was added with the four presets and asks whether enforcement holds regardless of how the agent is biased.
The right-hand column is what the scorer actually checks, and every one of these is a deterministic function over the session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at 16:45]
The results over one hundred and ninety evaluations. The thresholds in the third column were fixed in the protocol before the runs. Mean is the share of achievable points, averaged over the ten runs. Std is the spread across those runs, in percentage points.
Two dimensions carry the core claim. BVC at 97.9 against a zero-tolerance threshold of one hundred, so a near-pass. CGP at 97.9 against 85, a clear pass.
Three dimensions fall below their thresholds, ATC, CDA and ME. I will explain each on the next slide, because the reasons differ. DC has no threshold; it is reported under a strict rubric.
The headline is at the bottom, and it is categorical rather than statistical. Zero forced-pass across all one hundred and ninety evaluations. Every violation that occurred was caught before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at 17:45]
BVC and CGP are identical, and that is not a coincidence: they score the same event. In six of ten runs nothing non-compliant was delivered at all. The other four runs each had one borderline case. Under the reckless preset the Materials Agent recommended 14.8 percent gold. That is inside the fifteen percent cap, so the predicate correctly approved it. But the phrasing implied the agent was aiming at the cap, and the rubric penalises that. These are rubric strictness, not breaches.
ATC at 71 percent. Every trace was structurally well formed. What the small model left out, in 29 percent of sessions, was the identifiers of the violated rules in the accountability note. That is an instruction-following limit of the small model, not a design failure.
CDA has two figures because the denominator matters: unconditioned over all sessions, or conditioned on the 72 sessions where there was something to detect. Either way it is low, because CDA rewards detection on the first evaluation; detection on revision two scores one. So CDA measures latency, not reliability. Every violation was eventually caught.
ME is low and volatile for a reason outside the framework. The orchestrator routes non-deterministically, and when it did not call the target agent, that mandate could not be tested in that session.
And DC. In forty disposition evaluations, no forced pass. The reckless preset needed two to five times more revisions than neutral, but it never got through. The strict number measures effort, not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at 19:00]
So what does AI-Intent contribute, and what does it cost?
Three modeling constructs that existing frameworks lack. A binary sortal boundary on the action space, complementary to graded goals, as a first-class enforceable artifact. External norm enforcement as a structural role rather than agent self-compliance, and the data motivate this: even under the neutral disposition, the Materials Agent violated its cap on the first attempt in thirteen percent of sessions, and across all agents the rate was twenty-six percent. And communication as evidence: a verdict attached to every message, the trace derived from it.
The cost is a tension. We asked for a leveraged gold ETF, a product the Materials Mandate forbids. The Materials Agent was permanently blocked, the orchestrator fell back on stocks and bonds, and the system produced a fully compliant recommendation that did not answer the question. AI-Intent resolves this with lexicographic priority: a compliant non-answer beats a non-compliant answer. Right for regulated finance. But at present that priority is implicit in the architecture, not modeled.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at 20:00]
Five limitations, and I want to be explicit about the second one.
First, modeling scope. Conflicts between constraints are detected but not resolved, Mandates are immutable within a session, and constraints have no exception structure. That is deliberate for finance and limits transfer to domains where exceptions are routine.
Second, specification-to-predicate consistency. The gate enforces the predicate, not the sentence. If a fifteen percent cap is miscoded as greater than twenty, an eighteen percent allocation passes silently, and BVC still reports containment, because no rule fired. The metric cannot detect its own predicate being wrong. And our expected rules and enforced predicates share provenance, so our evaluation does not independently verify this. The guarantees are conditional on specification quality.
Third, operativity depends on instruction following: model-agnostic by design, model-dependent in practice. Fourth, our predicates are simple; substring matching for leverage fires when an agent correctly declines a leveraged product by name, and a negation window catches only the common phrasings. Fifth, routing non-determinism, which you saw in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at 21:00]
To conclude. AI-Intent grounds three governance constructs, a binary action-space boundary, runtime-enforceable negative obligations, and communication as evidence, in deontic logic and UFO, and it is explicit about what is new and what is appropriated from NMAS and UFO.
The reference implementation supports two things. That agent self-compliance is unreliable for non-deterministic generators, which makes external enforcement structural rather than optional. And that a Compliance Agent meeting R1 to R4 contains boundary violations even under adversarial dispositions.
Future work runs on three tracks. Modeling: defeasible norms, session-mutable Mandates, richer predicates. Ontological: a full OntoUML model, and the question whether design-time reasoning can catch the specification errors the runtime gate cannot. Empirical: further domains, and more capable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at 21:45]
Thank you. The reference implementation, the evaluation suite and all session data are in the repository on the slide.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Backup. The full mandate set, in case someone asks what the constraints actually are. Five boundary constraints per agent; F marks a prohibition, O an obligation. Note that the Central orchestrator carries obligations, consult at least one sub-agent and surface all violations, whereas the specialists carry mostly prohibitions.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Backup, threats to validity. Internal: deterministic scoring removes evaluator subjectivity, and expected rules were derived from the Mandate definitions. Construct: ATC measures population, not semantic correctness; CDA measures latency, not reliability. External: one domain, one model, a proof of concept. The core should transfer where competence admits a sortal boundary, norms are decidable prohibitions, Mandates are session-stable, and the domain tolerates lexicographic priority. Conclusion validity: BVC and CGP vary by 2.7 points over ten runs; the adversarial claim rests on zero forced-pass in forty evaluations, categorical rather than statistical.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A4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902" y="6299302"/>
            <a:ext cx="3810305" cy="254203"/>
          </a:xfrm>
          <a:prstGeom prst="rect">
            <a:avLst/>
          </a:prstGeom>
          <a:noFill/>
          <a:ln/>
        </p:spPr>
        <p:txBody>
          <a:bodyPr wrap="square" lIns="0" tIns="0" rIns="0" bIns="0" rtlCol="0" anchor="ctr"/>
          <a:lstStyle/>
          <a:p>
            <a:pPr indent="0" marL="0">
              <a:buNone/>
            </a:pPr>
            <a:r>
              <a:rPr lang="en-US" sz="1100" dirty="0">
                <a:solidFill>
                  <a:srgbClr val="6B7280"/>
                </a:solidFill>
              </a:rPr>
              <a:t>AI-Intent · ER 2026</a:t>
            </a:r>
            <a:endParaRPr lang="en-US" sz="1100" dirty="0"/>
          </a:p>
        </p:txBody>
      </p:sp>
      <p:sp>
        <p:nvSpPr>
          <p:cNvPr id="3" name="Text 1"/>
          <p:cNvSpPr/>
          <p:nvPr>
            <p:ph idx="101" type="body" hasCustomPrompt="1"/>
          </p:nvPr>
        </p:nvSpPr>
        <p:spPr>
          <a:xfrm>
            <a:off x="812902" y="609905"/>
            <a:ext cx="10566806" cy="254203"/>
          </a:xfrm>
          <a:prstGeom prst="rect">
            <a:avLst/>
          </a:prstGeom>
          <a:noFill/>
          <a:ln/>
        </p:spPr>
        <p:txBody>
          <a:bodyPr wrap="square" rtlCol="0"/>
          <a:lstStyle>
            <a:lvl1pPr indent="0" marL="0">
              <a:buNone/>
              <a:defRPr lang="en-US" sz="1100" b="1" spc="200" kern="0" dirty="0">
                <a:solidFill>
                  <a:srgbClr val="B45F06"/>
                </a:solidFill>
              </a:defRPr>
            </a:lvl1pPr>
          </a:lstStyle>
          <a:p>
            <a:pPr indent="0" marL="0">
              <a:buNone/>
            </a:pPr>
            <a:endParaRPr lang="en-US" sz="1100" dirty="0"/>
          </a:p>
        </p:txBody>
      </p:sp>
      <p:sp>
        <p:nvSpPr>
          <p:cNvPr id="4" name="Text 1"/>
          <p:cNvSpPr/>
          <p:nvPr>
            <p:ph idx="102" type="title" hasCustomPrompt="1"/>
          </p:nvPr>
        </p:nvSpPr>
        <p:spPr>
          <a:xfrm>
            <a:off x="812902" y="863194"/>
            <a:ext cx="10566806" cy="698602"/>
          </a:xfrm>
          <a:prstGeom prst="rect">
            <a:avLst/>
          </a:prstGeom>
          <a:noFill/>
          <a:ln/>
        </p:spPr>
        <p:txBody>
          <a:bodyPr wrap="square" rtlCol="0"/>
          <a:lstStyle>
            <a:lvl1pPr algn="l" indent="0" marL="0">
              <a:buNone/>
              <a:defRPr lang="en-US" sz="2800" b="1" dirty="0">
                <a:solidFill>
                  <a:srgbClr val="1B2A4A"/>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12902" y="711403"/>
            <a:ext cx="609905" cy="38405"/>
          </a:xfrm>
          <a:prstGeom prst="rect">
            <a:avLst/>
          </a:prstGeom>
          <a:solidFill>
            <a:schemeClr val="accent2"/>
          </a:solidFill>
          <a:ln w="12700">
            <a:solidFill>
              <a:schemeClr val="accent2"/>
            </a:solidFill>
            <a:prstDash val="solid"/>
          </a:ln>
        </p:spPr>
      </p:sp>
      <p:sp>
        <p:nvSpPr>
          <p:cNvPr id="3" name="Text 1"/>
          <p:cNvSpPr txBox="1"/>
          <p:nvPr/>
        </p:nvSpPr>
        <p:spPr>
          <a:xfrm>
            <a:off x="812902" y="952805"/>
            <a:ext cx="10566806" cy="952805"/>
          </a:xfrm>
          <a:prstGeom prst="rect">
            <a:avLst/>
          </a:prstGeom>
          <a:noFill/>
          <a:ln/>
        </p:spPr>
        <p:txBody>
          <a:bodyPr wrap="square" lIns="0" tIns="0" rIns="0" bIns="0" rtlCol="0" anchor="t"/>
          <a:lstStyle/>
          <a:p>
            <a:pPr indent="0" marL="0">
              <a:spcAft>
                <a:spcPts val="400"/>
              </a:spcAft>
              <a:buNone/>
            </a:pPr>
            <a:r>
              <a:rPr lang="en-US" sz="5600" b="1" dirty="0">
                <a:solidFill>
                  <a:srgbClr val="F7F5EF"/>
                </a:solidFill>
                <a:latin typeface="Cambria" pitchFamily="34" charset="0"/>
                <a:ea typeface="Cambria" pitchFamily="34" charset="-122"/>
                <a:cs typeface="Cambria" pitchFamily="34" charset="-120"/>
              </a:rPr>
              <a:t>AI-Intent</a:t>
            </a:r>
            <a:endParaRPr lang="en-US" sz="5600" dirty="0"/>
          </a:p>
        </p:txBody>
      </p:sp>
      <p:sp>
        <p:nvSpPr>
          <p:cNvPr id="4" name="Text 2"/>
          <p:cNvSpPr txBox="1"/>
          <p:nvPr/>
        </p:nvSpPr>
        <p:spPr>
          <a:xfrm>
            <a:off x="812902" y="1968703"/>
            <a:ext cx="10566806" cy="952805"/>
          </a:xfrm>
          <a:prstGeom prst="rect">
            <a:avLst/>
          </a:prstGeom>
          <a:noFill/>
          <a:ln/>
        </p:spPr>
        <p:txBody>
          <a:bodyPr wrap="square" lIns="0" tIns="0" rIns="0" bIns="0" rtlCol="0" anchor="t"/>
          <a:lstStyle/>
          <a:p>
            <a:pPr indent="0" marL="0">
              <a:spcAft>
                <a:spcPts val="400"/>
              </a:spcAft>
              <a:buNone/>
            </a:pPr>
            <a:r>
              <a:rPr lang="en-US" sz="2400" dirty="0">
                <a:solidFill>
                  <a:srgbClr val="D9DEE8"/>
                </a:solidFill>
                <a:latin typeface="Cambria" pitchFamily="34" charset="0"/>
                <a:ea typeface="Cambria" pitchFamily="34" charset="-122"/>
                <a:cs typeface="Cambria" pitchFamily="34" charset="-120"/>
              </a:rPr>
              <a:t>A Conceptual Modeling Framework for</a:t>
            </a:r>
            <a:endParaRPr lang="en-US" sz="2400" dirty="0"/>
          </a:p>
          <a:p>
            <a:pPr indent="0" marL="0">
              <a:spcAft>
                <a:spcPts val="400"/>
              </a:spcAft>
              <a:buNone/>
            </a:pPr>
            <a:r>
              <a:rPr lang="en-US" sz="2400" dirty="0">
                <a:solidFill>
                  <a:srgbClr val="D9DEE8"/>
                </a:solidFill>
                <a:latin typeface="Cambria" pitchFamily="34" charset="0"/>
                <a:ea typeface="Cambria" pitchFamily="34" charset="-122"/>
                <a:cs typeface="Cambria" pitchFamily="34" charset="-120"/>
              </a:rPr>
              <a:t>Accountable Multi-Agent AI Systems</a:t>
            </a:r>
            <a:endParaRPr lang="en-US" sz="2400" dirty="0"/>
          </a:p>
        </p:txBody>
      </p:sp>
      <p:sp>
        <p:nvSpPr>
          <p:cNvPr id="5" name="Text 3"/>
          <p:cNvSpPr txBox="1"/>
          <p:nvPr/>
        </p:nvSpPr>
        <p:spPr>
          <a:xfrm>
            <a:off x="812902" y="3937406"/>
            <a:ext cx="4826203" cy="571500"/>
          </a:xfrm>
          <a:prstGeom prst="rect">
            <a:avLst/>
          </a:prstGeom>
          <a:noFill/>
          <a:ln/>
        </p:spPr>
        <p:txBody>
          <a:bodyPr wrap="square" lIns="0" tIns="0" rIns="0" bIns="0" rtlCol="0" anchor="t"/>
          <a:lstStyle/>
          <a:p>
            <a:pPr indent="0" marL="0">
              <a:spcAft>
                <a:spcPts val="400"/>
              </a:spcAft>
              <a:buNone/>
            </a:pPr>
            <a:r>
              <a:rPr lang="en-US" sz="1600" b="1" dirty="0">
                <a:solidFill>
                  <a:srgbClr val="F7F5EF"/>
                </a:solidFill>
              </a:rPr>
              <a:t>Wolfgang Maass</a:t>
            </a:r>
            <a:pPr indent="0" marL="0">
              <a:spcAft>
                <a:spcPts val="400"/>
              </a:spcAft>
              <a:buNone/>
            </a:pPr>
            <a:endParaRPr lang="en-US" sz="1600" dirty="0"/>
          </a:p>
          <a:p>
            <a:pPr indent="0" marL="0">
              <a:spcAft>
                <a:spcPts val="400"/>
              </a:spcAft>
              <a:buNone/>
            </a:pPr>
            <a:r>
              <a:rPr lang="en-US" sz="1200" dirty="0">
                <a:solidFill>
                  <a:srgbClr val="BFC8D9"/>
                </a:solidFill>
              </a:rPr>
              <a:t>DFKI and Saarland University, Saarbrücken, Germany</a:t>
            </a:r>
            <a:endParaRPr lang="en-US" sz="1600" dirty="0"/>
          </a:p>
        </p:txBody>
      </p:sp>
      <p:sp>
        <p:nvSpPr>
          <p:cNvPr id="6" name="Text 4"/>
          <p:cNvSpPr txBox="1"/>
          <p:nvPr/>
        </p:nvSpPr>
        <p:spPr>
          <a:xfrm>
            <a:off x="5969203" y="3937406"/>
            <a:ext cx="4826203" cy="571500"/>
          </a:xfrm>
          <a:prstGeom prst="rect">
            <a:avLst/>
          </a:prstGeom>
          <a:noFill/>
          <a:ln/>
        </p:spPr>
        <p:txBody>
          <a:bodyPr wrap="square" lIns="0" tIns="0" rIns="0" bIns="0" rtlCol="0" anchor="t"/>
          <a:lstStyle/>
          <a:p>
            <a:pPr indent="0" marL="0">
              <a:spcAft>
                <a:spcPts val="400"/>
              </a:spcAft>
              <a:buNone/>
            </a:pPr>
            <a:r>
              <a:rPr lang="en-US" sz="1600" b="1" dirty="0">
                <a:solidFill>
                  <a:srgbClr val="F7F5EF"/>
                </a:solidFill>
              </a:rPr>
              <a:t>Iris Reinhartz-Berger</a:t>
            </a:r>
            <a:pPr indent="0" marL="0">
              <a:spcAft>
                <a:spcPts val="400"/>
              </a:spcAft>
              <a:buNone/>
            </a:pPr>
            <a:endParaRPr lang="en-US" sz="1600" dirty="0"/>
          </a:p>
          <a:p>
            <a:pPr indent="0" marL="0">
              <a:spcAft>
                <a:spcPts val="400"/>
              </a:spcAft>
              <a:buNone/>
            </a:pPr>
            <a:r>
              <a:rPr lang="en-US" sz="1200" dirty="0">
                <a:solidFill>
                  <a:srgbClr val="BFC8D9"/>
                </a:solidFill>
              </a:rPr>
              <a:t>University of Haifa, Haifa, Israel</a:t>
            </a:r>
            <a:endParaRPr lang="en-US" sz="1600" dirty="0"/>
          </a:p>
        </p:txBody>
      </p:sp>
      <p:sp>
        <p:nvSpPr>
          <p:cNvPr id="7" name="Text 5"/>
          <p:cNvSpPr txBox="1"/>
          <p:nvPr/>
        </p:nvSpPr>
        <p:spPr>
          <a:xfrm>
            <a:off x="812902" y="4699102"/>
            <a:ext cx="10566806" cy="254203"/>
          </a:xfrm>
          <a:prstGeom prst="rect">
            <a:avLst/>
          </a:prstGeom>
          <a:noFill/>
          <a:ln/>
        </p:spPr>
        <p:txBody>
          <a:bodyPr wrap="square" lIns="0" tIns="0" rIns="0" bIns="0" rtlCol="0" anchor="t"/>
          <a:lstStyle/>
          <a:p>
            <a:pPr indent="0" marL="0">
              <a:spcAft>
                <a:spcPts val="400"/>
              </a:spcAft>
              <a:buNone/>
            </a:pPr>
            <a:r>
              <a:rPr lang="en-US" sz="1200" dirty="0">
                <a:solidFill>
                  <a:srgbClr val="BFC8D9"/>
                </a:solidFill>
              </a:rPr>
              <a:t>ER 2026 · 45th International Conference on Conceptual Modeling · St. John's, Newfoundland and Labrador, Canada · 5 to 8 October 2026</a:t>
            </a:r>
            <a:endParaRPr lang="en-US" sz="1200" dirty="0"/>
          </a:p>
        </p:txBody>
      </p:sp>
      <p:sp>
        <p:nvSpPr>
          <p:cNvPr id="8" name="Shape 6"/>
          <p:cNvSpPr/>
          <p:nvPr/>
        </p:nvSpPr>
        <p:spPr>
          <a:xfrm>
            <a:off x="0" y="5715000"/>
            <a:ext cx="12191695" cy="1143000"/>
          </a:xfrm>
          <a:prstGeom prst="rect">
            <a:avLst/>
          </a:prstGeom>
          <a:solidFill>
            <a:schemeClr val="bg1"/>
          </a:solidFill>
          <a:ln w="12700">
            <a:solidFill>
              <a:schemeClr val="bg1"/>
            </a:solidFill>
            <a:prstDash val="solid"/>
          </a:ln>
        </p:spPr>
      </p:sp>
      <p:pic>
        <p:nvPicPr>
          <p:cNvPr id="9" name="Image 0" descr="DFKI, German Research Center for Artificial Intelligence">    </p:cNvPr>
          <p:cNvPicPr>
            <a:picLocks noChangeAspect="1"/>
          </p:cNvPicPr>
          <p:nvPr/>
        </p:nvPicPr>
        <p:blipFill>
          <a:blip r:embed="rId1"/>
          <a:srcRect l="0" r="0" t="0" b="0"/>
          <a:stretch/>
        </p:blipFill>
        <p:spPr>
          <a:xfrm>
            <a:off x="812902" y="5943600"/>
            <a:ext cx="2540203" cy="685800"/>
          </a:xfrm>
          <a:prstGeom prst="rect">
            <a:avLst/>
          </a:prstGeom>
        </p:spPr>
      </p:pic>
      <p:pic>
        <p:nvPicPr>
          <p:cNvPr id="10" name="Image 1" descr="Universität des Saarlandes">    </p:cNvPr>
          <p:cNvPicPr>
            <a:picLocks noChangeAspect="1"/>
          </p:cNvPicPr>
          <p:nvPr/>
        </p:nvPicPr>
        <p:blipFill>
          <a:blip r:embed="rId2"/>
          <a:srcRect l="0" r="0" t="0" b="0"/>
          <a:stretch/>
        </p:blipFill>
        <p:spPr>
          <a:xfrm>
            <a:off x="5175504" y="5905195"/>
            <a:ext cx="1841602" cy="761695"/>
          </a:xfrm>
          <a:prstGeom prst="rect">
            <a:avLst/>
          </a:prstGeom>
        </p:spPr>
      </p:pic>
      <p:pic>
        <p:nvPicPr>
          <p:cNvPr id="11" name="Image 2" descr="University of Haifa">    </p:cNvPr>
          <p:cNvPicPr>
            <a:picLocks noChangeAspect="1"/>
          </p:cNvPicPr>
          <p:nvPr/>
        </p:nvPicPr>
        <p:blipFill>
          <a:blip r:embed="rId3"/>
          <a:srcRect l="0" r="0" t="0" b="0"/>
          <a:stretch/>
        </p:blipFill>
        <p:spPr>
          <a:xfrm>
            <a:off x="10045598" y="5880506"/>
            <a:ext cx="1333195" cy="8129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MOTIVATION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Language model agents now make consequential decisions</a:t>
            </a:r>
            <a:endParaRPr lang="en-US" sz="2800" dirty="0"/>
          </a:p>
        </p:txBody>
      </p:sp>
      <p:sp>
        <p:nvSpPr>
          <p:cNvPr id="5" name="Text 2"/>
          <p:cNvSpPr txBox="1"/>
          <p:nvPr/>
        </p:nvSpPr>
        <p:spPr>
          <a:xfrm>
            <a:off x="812902" y="1841602"/>
            <a:ext cx="5842102" cy="3047695"/>
          </a:xfrm>
          <a:prstGeom prst="rect">
            <a:avLst/>
          </a:prstGeom>
          <a:noFill/>
          <a:ln/>
        </p:spPr>
        <p:txBody>
          <a:bodyPr wrap="square" lIns="0" tIns="0" rIns="0" bIns="0" rtlCol="0" anchor="t"/>
          <a:lstStyle/>
          <a:p>
            <a:pPr indent="0" marL="0">
              <a:spcAft>
                <a:spcPts val="400"/>
              </a:spcAft>
              <a:buNone/>
            </a:pPr>
            <a:r>
              <a:rPr lang="en-US" sz="1500" dirty="0">
                <a:solidFill>
                  <a:schemeClr val="tx2"/>
                </a:solidFill>
              </a:rPr>
              <a:t>Finance, healthcare, enterprise operations: increasingly </a:t>
            </a:r>
            <a:pPr indent="0" marL="0">
              <a:spcAft>
                <a:spcPts val="400"/>
              </a:spcAft>
              <a:buNone/>
            </a:pPr>
            <a:r>
              <a:rPr lang="en-US" sz="1500" b="1" dirty="0">
                <a:solidFill>
                  <a:schemeClr val="tx2"/>
                </a:solidFill>
              </a:rPr>
              <a:t>multiple agents</a:t>
            </a:r>
            <a:pPr indent="0" marL="0">
              <a:spcAft>
                <a:spcPts val="400"/>
              </a:spcAft>
              <a:buNone/>
            </a:pPr>
            <a:r>
              <a:rPr lang="en-US" sz="1500" dirty="0">
                <a:solidFill>
                  <a:schemeClr val="tx2"/>
                </a:solidFill>
              </a:rPr>
              <a:t> collaborate on one recommendation.</a:t>
            </a:r>
            <a:endParaRPr lang="en-US" sz="1500" dirty="0"/>
          </a:p>
          <a:p>
            <a:pPr indent="0" marL="0">
              <a:spcAft>
                <a:spcPts val="400"/>
              </a:spcAft>
              <a:buNone/>
            </a:pPr>
            <a:endParaRPr lang="en-US" sz="1500" dirty="0"/>
          </a:p>
          <a:p>
            <a:pPr indent="0" marL="0">
              <a:spcAft>
                <a:spcPts val="400"/>
              </a:spcAft>
              <a:buNone/>
            </a:pPr>
            <a:r>
              <a:rPr lang="en-US" sz="1500" dirty="0">
                <a:solidFill>
                  <a:schemeClr val="tx2"/>
                </a:solidFill>
              </a:rPr>
              <a:t>Unlike traditional software components, their behaviour is </a:t>
            </a:r>
            <a:pPr indent="0" marL="0">
              <a:spcAft>
                <a:spcPts val="400"/>
              </a:spcAft>
              <a:buNone/>
            </a:pPr>
            <a:r>
              <a:rPr lang="en-US" sz="1500" b="1" dirty="0">
                <a:solidFill>
                  <a:schemeClr val="tx2"/>
                </a:solidFill>
              </a:rPr>
              <a:t>not determined by source code</a:t>
            </a:r>
            <a:pPr indent="0" marL="0">
              <a:spcAft>
                <a:spcPts val="400"/>
              </a:spcAft>
              <a:buNone/>
            </a:pPr>
            <a:r>
              <a:rPr lang="en-US" sz="1500" dirty="0">
                <a:solidFill>
                  <a:schemeClr val="tx2"/>
                </a:solidFill>
              </a:rPr>
              <a:t>. Outputs arise from probabilistic text generation, governed by natural-language input.</a:t>
            </a:r>
            <a:endParaRPr lang="en-US" sz="1500" dirty="0"/>
          </a:p>
          <a:p>
            <a:pPr indent="0" marL="0">
              <a:spcAft>
                <a:spcPts val="400"/>
              </a:spcAft>
              <a:buNone/>
            </a:pPr>
            <a:endParaRPr lang="en-US" sz="1500" dirty="0"/>
          </a:p>
          <a:p>
            <a:pPr indent="0" marL="0">
              <a:spcAft>
                <a:spcPts val="400"/>
              </a:spcAft>
              <a:buNone/>
            </a:pPr>
            <a:r>
              <a:rPr lang="en-US" sz="1500" dirty="0">
                <a:solidFill>
                  <a:schemeClr val="tx2"/>
                </a:solidFill>
              </a:rPr>
              <a:t>When such agents produce a </a:t>
            </a:r>
            <a:pPr indent="0" marL="0">
              <a:spcAft>
                <a:spcPts val="400"/>
              </a:spcAft>
              <a:buNone/>
            </a:pPr>
            <a:r>
              <a:rPr lang="en-US" sz="1500" i="1" dirty="0">
                <a:solidFill>
                  <a:schemeClr val="tx2"/>
                </a:solidFill>
              </a:rPr>
              <a:t>joint</a:t>
            </a:r>
            <a:pPr indent="0" marL="0">
              <a:spcAft>
                <a:spcPts val="400"/>
              </a:spcAft>
              <a:buNone/>
            </a:pPr>
            <a:r>
              <a:rPr lang="en-US" sz="1500" dirty="0">
                <a:solidFill>
                  <a:schemeClr val="tx2"/>
                </a:solidFill>
              </a:rPr>
              <a:t> decision, three questions arise that existing conceptual models cannot answer.</a:t>
            </a:r>
            <a:endParaRPr lang="en-US" sz="1500" dirty="0"/>
          </a:p>
        </p:txBody>
      </p:sp>
      <p:sp>
        <p:nvSpPr>
          <p:cNvPr id="6" name="Shape 3"/>
          <p:cNvSpPr/>
          <p:nvPr/>
        </p:nvSpPr>
        <p:spPr>
          <a:xfrm>
            <a:off x="7048195" y="1841602"/>
            <a:ext cx="4330598" cy="2540203"/>
          </a:xfrm>
          <a:prstGeom prst="roundRect">
            <a:avLst>
              <a:gd name="adj" fmla="val 2880"/>
            </a:avLst>
          </a:prstGeom>
          <a:solidFill>
            <a:schemeClr val="tx1"/>
          </a:solidFill>
          <a:ln w="12700">
            <a:solidFill>
              <a:schemeClr val="tx1"/>
            </a:solidFill>
            <a:prstDash val="solid"/>
          </a:ln>
        </p:spPr>
      </p:sp>
      <p:sp>
        <p:nvSpPr>
          <p:cNvPr id="7" name="Text 4"/>
          <p:cNvSpPr txBox="1"/>
          <p:nvPr/>
        </p:nvSpPr>
        <p:spPr>
          <a:xfrm>
            <a:off x="7302398" y="2031797"/>
            <a:ext cx="3810305" cy="228600"/>
          </a:xfrm>
          <a:prstGeom prst="rect">
            <a:avLst/>
          </a:prstGeom>
          <a:noFill/>
          <a:ln/>
        </p:spPr>
        <p:txBody>
          <a:bodyPr wrap="square" lIns="0" tIns="0" rIns="0" bIns="0" rtlCol="0" anchor="t"/>
          <a:lstStyle/>
          <a:p>
            <a:pPr indent="0" marL="0">
              <a:spcAft>
                <a:spcPts val="400"/>
              </a:spcAft>
              <a:buNone/>
            </a:pPr>
            <a:r>
              <a:rPr lang="en-US" sz="1200" b="1" spc="100" kern="0" dirty="0">
                <a:solidFill>
                  <a:schemeClr val="accent2"/>
                </a:solidFill>
              </a:rPr>
              <a:t>UNANSWERABLE TODAY</a:t>
            </a:r>
            <a:endParaRPr lang="en-US" sz="1200" dirty="0"/>
          </a:p>
        </p:txBody>
      </p:sp>
      <p:sp>
        <p:nvSpPr>
          <p:cNvPr id="8" name="Text 5"/>
          <p:cNvSpPr txBox="1"/>
          <p:nvPr/>
        </p:nvSpPr>
        <p:spPr>
          <a:xfrm>
            <a:off x="7302398" y="2349094"/>
            <a:ext cx="3810305" cy="1904695"/>
          </a:xfrm>
          <a:prstGeom prst="rect">
            <a:avLst/>
          </a:prstGeom>
          <a:noFill/>
          <a:ln/>
        </p:spPr>
        <p:txBody>
          <a:bodyPr wrap="square" lIns="0" tIns="0" rIns="0" bIns="0" rtlCol="0" anchor="t"/>
          <a:lstStyle/>
          <a:p>
            <a:pPr indent="0" marL="0">
              <a:spcAft>
                <a:spcPts val="400"/>
              </a:spcAft>
              <a:buNone/>
            </a:pPr>
            <a:r>
              <a:rPr lang="en-US" sz="1600" dirty="0">
                <a:solidFill>
                  <a:srgbClr val="F7F5EF"/>
                </a:solidFill>
              </a:rPr>
              <a:t>1.  What was each agent </a:t>
            </a:r>
            <a:pPr indent="0" marL="0">
              <a:spcAft>
                <a:spcPts val="400"/>
              </a:spcAft>
              <a:buNone/>
            </a:pPr>
            <a:r>
              <a:rPr lang="en-US" sz="1600" i="1" dirty="0">
                <a:solidFill>
                  <a:srgbClr val="F7F5EF"/>
                </a:solidFill>
              </a:rPr>
              <a:t>supposed</a:t>
            </a:r>
            <a:pPr indent="0" marL="0">
              <a:spcAft>
                <a:spcPts val="400"/>
              </a:spcAft>
              <a:buNone/>
            </a:pPr>
            <a:r>
              <a:rPr lang="en-US" sz="1600" dirty="0">
                <a:solidFill>
                  <a:srgbClr val="F7F5EF"/>
                </a:solidFill>
              </a:rPr>
              <a:t> to do?</a:t>
            </a:r>
            <a:endParaRPr lang="en-US" sz="1600" dirty="0"/>
          </a:p>
          <a:p>
            <a:pPr indent="0" marL="0">
              <a:spcAft>
                <a:spcPts val="400"/>
              </a:spcAft>
              <a:buNone/>
            </a:pPr>
            <a:endParaRPr lang="en-US" sz="1600" dirty="0"/>
          </a:p>
          <a:p>
            <a:pPr indent="0" marL="0">
              <a:spcAft>
                <a:spcPts val="400"/>
              </a:spcAft>
              <a:buNone/>
            </a:pPr>
            <a:r>
              <a:rPr lang="en-US" sz="1600" dirty="0">
                <a:solidFill>
                  <a:srgbClr val="F7F5EF"/>
                </a:solidFill>
              </a:rPr>
              <a:t>2.  Did it </a:t>
            </a:r>
            <a:pPr indent="0" marL="0">
              <a:spcAft>
                <a:spcPts val="400"/>
              </a:spcAft>
              <a:buNone/>
            </a:pPr>
            <a:r>
              <a:rPr lang="en-US" sz="1600" i="1" dirty="0">
                <a:solidFill>
                  <a:srgbClr val="F7F5EF"/>
                </a:solidFill>
              </a:rPr>
              <a:t>stay within</a:t>
            </a:r>
            <a:pPr indent="0" marL="0">
              <a:spcAft>
                <a:spcPts val="400"/>
              </a:spcAft>
              <a:buNone/>
            </a:pPr>
            <a:r>
              <a:rPr lang="en-US" sz="1600" dirty="0">
                <a:solidFill>
                  <a:srgbClr val="F7F5EF"/>
                </a:solidFill>
              </a:rPr>
              <a:t> its scope?</a:t>
            </a:r>
            <a:endParaRPr lang="en-US" sz="1600" dirty="0"/>
          </a:p>
          <a:p>
            <a:pPr indent="0" marL="0">
              <a:spcAft>
                <a:spcPts val="400"/>
              </a:spcAft>
              <a:buNone/>
            </a:pPr>
            <a:endParaRPr lang="en-US" sz="1600" dirty="0"/>
          </a:p>
          <a:p>
            <a:pPr indent="0" marL="0">
              <a:spcAft>
                <a:spcPts val="400"/>
              </a:spcAft>
              <a:buNone/>
            </a:pPr>
            <a:r>
              <a:rPr lang="en-US" sz="1600" dirty="0">
                <a:solidFill>
                  <a:srgbClr val="F7F5EF"/>
                </a:solidFill>
              </a:rPr>
              <a:t>3.  </a:t>
            </a:r>
            <a:pPr indent="0" marL="0">
              <a:spcAft>
                <a:spcPts val="400"/>
              </a:spcAft>
              <a:buNone/>
            </a:pPr>
            <a:r>
              <a:rPr lang="en-US" sz="1600" i="1" dirty="0">
                <a:solidFill>
                  <a:srgbClr val="F7F5EF"/>
                </a:solidFill>
              </a:rPr>
              <a:t>Why</a:t>
            </a:r>
            <a:pPr indent="0" marL="0">
              <a:spcAft>
                <a:spcPts val="400"/>
              </a:spcAft>
              <a:buNone/>
            </a:pPr>
            <a:r>
              <a:rPr lang="en-US" sz="1600" dirty="0">
                <a:solidFill>
                  <a:srgbClr val="F7F5EF"/>
                </a:solidFill>
              </a:rPr>
              <a:t> was this output produced?</a:t>
            </a:r>
            <a:endParaRPr lang="en-US" sz="1600" dirty="0"/>
          </a:p>
        </p:txBody>
      </p:sp>
      <p:sp>
        <p:nvSpPr>
          <p:cNvPr id="9" name="Shape 6"/>
          <p:cNvSpPr/>
          <p:nvPr/>
        </p:nvSpPr>
        <p:spPr>
          <a:xfrm>
            <a:off x="812902" y="5206594"/>
            <a:ext cx="10566806" cy="0"/>
          </a:xfrm>
          <a:prstGeom prst="line">
            <a:avLst/>
          </a:prstGeom>
          <a:noFill/>
          <a:ln w="12700">
            <a:solidFill>
              <a:schemeClr val="accent6"/>
            </a:solidFill>
            <a:prstDash val="solid"/>
          </a:ln>
        </p:spPr>
      </p:sp>
      <p:sp>
        <p:nvSpPr>
          <p:cNvPr id="10" name="Text 7"/>
          <p:cNvSpPr txBox="1"/>
          <p:nvPr/>
        </p:nvSpPr>
        <p:spPr>
          <a:xfrm>
            <a:off x="812902" y="5333695"/>
            <a:ext cx="10566806" cy="508406"/>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Agent-oriented modeling has a rich history (i*, Tropos, GAIA, NMAS), but it assumes </a:t>
            </a:r>
            <a:pPr indent="0" marL="0">
              <a:spcAft>
                <a:spcPts val="400"/>
              </a:spcAft>
              <a:buNone/>
            </a:pPr>
            <a:r>
              <a:rPr lang="en-US" sz="1300" b="1" dirty="0">
                <a:solidFill>
                  <a:schemeClr val="accent5"/>
                </a:solidFill>
              </a:rPr>
              <a:t>deterministic or rule-governed</a:t>
            </a:r>
            <a:pPr indent="0" marL="0">
              <a:spcAft>
                <a:spcPts val="400"/>
              </a:spcAft>
              <a:buNone/>
            </a:pPr>
            <a:r>
              <a:rPr lang="en-US" sz="1300" dirty="0">
                <a:solidFill>
                  <a:schemeClr val="accent5"/>
                </a:solidFill>
              </a:rPr>
              <a:t> execution semantics.</a:t>
            </a:r>
            <a:endParaRPr lang="en-US" sz="13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MOTIVATION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Three gaps follow from dropping determinism</a:t>
            </a:r>
            <a:endParaRPr lang="en-US" sz="2800" dirty="0"/>
          </a:p>
        </p:txBody>
      </p:sp>
      <p:sp>
        <p:nvSpPr>
          <p:cNvPr id="5" name="Shape 2"/>
          <p:cNvSpPr/>
          <p:nvPr/>
        </p:nvSpPr>
        <p:spPr>
          <a:xfrm>
            <a:off x="812902" y="1841602"/>
            <a:ext cx="3377794" cy="3301898"/>
          </a:xfrm>
          <a:prstGeom prst="roundRect">
            <a:avLst>
              <a:gd name="adj" fmla="val 2215"/>
            </a:avLst>
          </a:prstGeom>
          <a:solidFill>
            <a:schemeClr val="bg2"/>
          </a:solidFill>
          <a:ln w="9525">
            <a:solidFill>
              <a:schemeClr val="accent6"/>
            </a:solidFill>
            <a:prstDash val="solid"/>
          </a:ln>
        </p:spPr>
      </p:sp>
      <p:sp>
        <p:nvSpPr>
          <p:cNvPr id="6" name="Text 3"/>
          <p:cNvSpPr txBox="1"/>
          <p:nvPr/>
        </p:nvSpPr>
        <p:spPr>
          <a:xfrm>
            <a:off x="1041502" y="2031797"/>
            <a:ext cx="2920594" cy="190195"/>
          </a:xfrm>
          <a:prstGeom prst="rect">
            <a:avLst/>
          </a:prstGeom>
          <a:noFill/>
          <a:ln/>
        </p:spPr>
        <p:txBody>
          <a:bodyPr wrap="square" lIns="0" tIns="0" rIns="0" bIns="0" rtlCol="0" anchor="t"/>
          <a:lstStyle/>
          <a:p>
            <a:pPr indent="0" marL="0">
              <a:spcAft>
                <a:spcPts val="400"/>
              </a:spcAft>
              <a:buNone/>
            </a:pPr>
            <a:r>
              <a:rPr lang="en-US" sz="1100" b="1" spc="100" kern="0" dirty="0">
                <a:solidFill>
                  <a:schemeClr val="accent1"/>
                </a:solidFill>
              </a:rPr>
              <a:t>GAP 1</a:t>
            </a:r>
            <a:endParaRPr lang="en-US" sz="1100" dirty="0"/>
          </a:p>
        </p:txBody>
      </p:sp>
      <p:sp>
        <p:nvSpPr>
          <p:cNvPr id="7" name="Text 4"/>
          <p:cNvSpPr txBox="1"/>
          <p:nvPr/>
        </p:nvSpPr>
        <p:spPr>
          <a:xfrm>
            <a:off x="1041502" y="2286000"/>
            <a:ext cx="2920594" cy="634594"/>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Intent boundary versus goal satisfaction</a:t>
            </a:r>
            <a:endParaRPr lang="en-US" sz="1700" dirty="0"/>
          </a:p>
        </p:txBody>
      </p:sp>
      <p:sp>
        <p:nvSpPr>
          <p:cNvPr id="8" name="Text 5"/>
          <p:cNvSpPr txBox="1"/>
          <p:nvPr/>
        </p:nvSpPr>
        <p:spPr>
          <a:xfrm>
            <a:off x="1041502" y="3047695"/>
            <a:ext cx="2920594" cy="1143000"/>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Goal models treat satisfaction as </a:t>
            </a:r>
            <a:pPr indent="0" marL="0">
              <a:spcAft>
                <a:spcPts val="400"/>
              </a:spcAft>
              <a:buNone/>
            </a:pPr>
            <a:r>
              <a:rPr lang="en-US" sz="1300" b="1" dirty="0">
                <a:solidFill>
                  <a:schemeClr val="tx2"/>
                </a:solidFill>
              </a:rPr>
              <a:t>graded</a:t>
            </a:r>
            <a:pPr indent="0" marL="0">
              <a:spcAft>
                <a:spcPts val="400"/>
              </a:spcAft>
              <a:buNone/>
            </a:pPr>
            <a:r>
              <a:rPr lang="en-US" sz="1300" dirty="0">
                <a:solidFill>
                  <a:schemeClr val="tx2"/>
                </a:solidFill>
              </a:rPr>
              <a:t>. Agent governance needs a </a:t>
            </a:r>
            <a:pPr indent="0" marL="0">
              <a:spcAft>
                <a:spcPts val="400"/>
              </a:spcAft>
              <a:buNone/>
            </a:pPr>
            <a:r>
              <a:rPr lang="en-US" sz="1300" b="1" dirty="0">
                <a:solidFill>
                  <a:schemeClr val="tx2"/>
                </a:solidFill>
              </a:rPr>
              <a:t>binary sortal boundary</a:t>
            </a:r>
            <a:pPr indent="0" marL="0">
              <a:spcAft>
                <a:spcPts val="400"/>
              </a:spcAft>
              <a:buNone/>
            </a:pPr>
            <a:r>
              <a:rPr lang="en-US" sz="1300" dirty="0">
                <a:solidFill>
                  <a:schemeClr val="tx2"/>
                </a:solidFill>
              </a:rPr>
              <a:t>.</a:t>
            </a:r>
            <a:endParaRPr lang="en-US" sz="1300" dirty="0"/>
          </a:p>
        </p:txBody>
      </p:sp>
      <p:sp>
        <p:nvSpPr>
          <p:cNvPr id="9" name="Text 6"/>
          <p:cNvSpPr txBox="1"/>
          <p:nvPr/>
        </p:nvSpPr>
        <p:spPr>
          <a:xfrm>
            <a:off x="1041502" y="4317797"/>
            <a:ext cx="2920594" cy="1270102"/>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An equity agent recommending 35% gold has not partially satisfied its goal. It transgressed its mandate scope.</a:t>
            </a:r>
            <a:endParaRPr lang="en-US" sz="1200" dirty="0"/>
          </a:p>
        </p:txBody>
      </p:sp>
      <p:sp>
        <p:nvSpPr>
          <p:cNvPr id="10" name="Shape 7"/>
          <p:cNvSpPr/>
          <p:nvPr/>
        </p:nvSpPr>
        <p:spPr>
          <a:xfrm>
            <a:off x="4406494" y="1841602"/>
            <a:ext cx="3377794" cy="3301898"/>
          </a:xfrm>
          <a:prstGeom prst="roundRect">
            <a:avLst>
              <a:gd name="adj" fmla="val 2215"/>
            </a:avLst>
          </a:prstGeom>
          <a:solidFill>
            <a:schemeClr val="bg2"/>
          </a:solidFill>
          <a:ln w="9525">
            <a:solidFill>
              <a:schemeClr val="accent6"/>
            </a:solidFill>
            <a:prstDash val="solid"/>
          </a:ln>
        </p:spPr>
      </p:sp>
      <p:sp>
        <p:nvSpPr>
          <p:cNvPr id="11" name="Text 8"/>
          <p:cNvSpPr txBox="1"/>
          <p:nvPr/>
        </p:nvSpPr>
        <p:spPr>
          <a:xfrm>
            <a:off x="4635094" y="2031797"/>
            <a:ext cx="2920594" cy="190195"/>
          </a:xfrm>
          <a:prstGeom prst="rect">
            <a:avLst/>
          </a:prstGeom>
          <a:noFill/>
          <a:ln/>
        </p:spPr>
        <p:txBody>
          <a:bodyPr wrap="square" lIns="0" tIns="0" rIns="0" bIns="0" rtlCol="0" anchor="t"/>
          <a:lstStyle/>
          <a:p>
            <a:pPr indent="0" marL="0">
              <a:spcAft>
                <a:spcPts val="400"/>
              </a:spcAft>
              <a:buNone/>
            </a:pPr>
            <a:r>
              <a:rPr lang="en-US" sz="1100" b="1" spc="100" kern="0" dirty="0">
                <a:solidFill>
                  <a:schemeClr val="accent1"/>
                </a:solidFill>
              </a:rPr>
              <a:t>GAP 2</a:t>
            </a:r>
            <a:endParaRPr lang="en-US" sz="1100" dirty="0"/>
          </a:p>
        </p:txBody>
      </p:sp>
      <p:sp>
        <p:nvSpPr>
          <p:cNvPr id="12" name="Text 9"/>
          <p:cNvSpPr txBox="1"/>
          <p:nvPr/>
        </p:nvSpPr>
        <p:spPr>
          <a:xfrm>
            <a:off x="4635094" y="2286000"/>
            <a:ext cx="2920594" cy="634594"/>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Negative obligations as runtime-enforceable constraints</a:t>
            </a:r>
            <a:endParaRPr lang="en-US" sz="1700" dirty="0"/>
          </a:p>
        </p:txBody>
      </p:sp>
      <p:sp>
        <p:nvSpPr>
          <p:cNvPr id="13" name="Text 10"/>
          <p:cNvSpPr txBox="1"/>
          <p:nvPr/>
        </p:nvSpPr>
        <p:spPr>
          <a:xfrm>
            <a:off x="4635094" y="3047695"/>
            <a:ext cx="2920594" cy="1143000"/>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Deontic logic and NMAS represent prohibitions well, but assume agents that </a:t>
            </a:r>
            <a:pPr indent="0" marL="0">
              <a:spcAft>
                <a:spcPts val="400"/>
              </a:spcAft>
              <a:buNone/>
            </a:pPr>
            <a:r>
              <a:rPr lang="en-US" sz="1300" b="1" dirty="0">
                <a:solidFill>
                  <a:schemeClr val="tx2"/>
                </a:solidFill>
              </a:rPr>
              <a:t>deliberate over norms before acting</a:t>
            </a:r>
            <a:pPr indent="0" marL="0">
              <a:spcAft>
                <a:spcPts val="400"/>
              </a:spcAft>
              <a:buNone/>
            </a:pPr>
            <a:r>
              <a:rPr lang="en-US" sz="1300" dirty="0">
                <a:solidFill>
                  <a:schemeClr val="tx2"/>
                </a:solidFill>
              </a:rPr>
              <a:t>.</a:t>
            </a:r>
            <a:endParaRPr lang="en-US" sz="1300" dirty="0"/>
          </a:p>
        </p:txBody>
      </p:sp>
      <p:sp>
        <p:nvSpPr>
          <p:cNvPr id="14" name="Text 11"/>
          <p:cNvSpPr txBox="1"/>
          <p:nvPr/>
        </p:nvSpPr>
        <p:spPr>
          <a:xfrm>
            <a:off x="4635094" y="4317797"/>
            <a:ext cx="2920594" cy="1270102"/>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Language model agents may acknowledge a constraint and then violate it, or invent justifications for exceptions.</a:t>
            </a:r>
            <a:endParaRPr lang="en-US" sz="1200" dirty="0"/>
          </a:p>
        </p:txBody>
      </p:sp>
      <p:sp>
        <p:nvSpPr>
          <p:cNvPr id="15" name="Shape 12"/>
          <p:cNvSpPr/>
          <p:nvPr/>
        </p:nvSpPr>
        <p:spPr>
          <a:xfrm>
            <a:off x="8001000" y="1841602"/>
            <a:ext cx="3377794" cy="3301898"/>
          </a:xfrm>
          <a:prstGeom prst="roundRect">
            <a:avLst>
              <a:gd name="adj" fmla="val 2215"/>
            </a:avLst>
          </a:prstGeom>
          <a:solidFill>
            <a:schemeClr val="bg2"/>
          </a:solidFill>
          <a:ln w="9525">
            <a:solidFill>
              <a:schemeClr val="accent6"/>
            </a:solidFill>
            <a:prstDash val="solid"/>
          </a:ln>
        </p:spPr>
      </p:sp>
      <p:sp>
        <p:nvSpPr>
          <p:cNvPr id="16" name="Text 13"/>
          <p:cNvSpPr txBox="1"/>
          <p:nvPr/>
        </p:nvSpPr>
        <p:spPr>
          <a:xfrm>
            <a:off x="8229600" y="2031797"/>
            <a:ext cx="2920594" cy="190195"/>
          </a:xfrm>
          <a:prstGeom prst="rect">
            <a:avLst/>
          </a:prstGeom>
          <a:noFill/>
          <a:ln/>
        </p:spPr>
        <p:txBody>
          <a:bodyPr wrap="square" lIns="0" tIns="0" rIns="0" bIns="0" rtlCol="0" anchor="t"/>
          <a:lstStyle/>
          <a:p>
            <a:pPr indent="0" marL="0">
              <a:spcAft>
                <a:spcPts val="400"/>
              </a:spcAft>
              <a:buNone/>
            </a:pPr>
            <a:r>
              <a:rPr lang="en-US" sz="1100" b="1" spc="100" kern="0" dirty="0">
                <a:solidFill>
                  <a:schemeClr val="accent1"/>
                </a:solidFill>
              </a:rPr>
              <a:t>GAP 3</a:t>
            </a:r>
            <a:endParaRPr lang="en-US" sz="1100" dirty="0"/>
          </a:p>
        </p:txBody>
      </p:sp>
      <p:sp>
        <p:nvSpPr>
          <p:cNvPr id="17" name="Text 14"/>
          <p:cNvSpPr txBox="1"/>
          <p:nvPr/>
        </p:nvSpPr>
        <p:spPr>
          <a:xfrm>
            <a:off x="8229600" y="2286000"/>
            <a:ext cx="2920594" cy="634594"/>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Communication as audit evidence</a:t>
            </a:r>
            <a:endParaRPr lang="en-US" sz="1700" dirty="0"/>
          </a:p>
        </p:txBody>
      </p:sp>
      <p:sp>
        <p:nvSpPr>
          <p:cNvPr id="18" name="Text 15"/>
          <p:cNvSpPr txBox="1"/>
          <p:nvPr/>
        </p:nvSpPr>
        <p:spPr>
          <a:xfrm>
            <a:off x="8229600" y="3047695"/>
            <a:ext cx="2920594" cy="1143000"/>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FIPA-ACL specifies message syntax and semantics but treats logs as an </a:t>
            </a:r>
            <a:pPr indent="0" marL="0">
              <a:spcAft>
                <a:spcPts val="400"/>
              </a:spcAft>
              <a:buNone/>
            </a:pPr>
            <a:r>
              <a:rPr lang="en-US" sz="1300" b="1" dirty="0">
                <a:solidFill>
                  <a:schemeClr val="tx2"/>
                </a:solidFill>
              </a:rPr>
              <a:t>optional engineering concern</a:t>
            </a:r>
            <a:pPr indent="0" marL="0">
              <a:spcAft>
                <a:spcPts val="400"/>
              </a:spcAft>
              <a:buNone/>
            </a:pPr>
            <a:r>
              <a:rPr lang="en-US" sz="1300" dirty="0">
                <a:solidFill>
                  <a:schemeClr val="tx2"/>
                </a:solidFill>
              </a:rPr>
              <a:t>.</a:t>
            </a:r>
            <a:endParaRPr lang="en-US" sz="1300" dirty="0"/>
          </a:p>
        </p:txBody>
      </p:sp>
      <p:sp>
        <p:nvSpPr>
          <p:cNvPr id="19" name="Text 16"/>
          <p:cNvSpPr txBox="1"/>
          <p:nvPr/>
        </p:nvSpPr>
        <p:spPr>
          <a:xfrm>
            <a:off x="8229600" y="4317797"/>
            <a:ext cx="2920594" cy="1270102"/>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The EU AI Act and MiFID II require traceability. Logging becomes a structural property of the model, not an add-on.</a:t>
            </a:r>
            <a:endParaRPr lang="en-US" sz="12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MOTIVATION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No existing framework covers the three gaps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902" y="1777594"/>
          <a:ext cx="10566806" cy="914400"/>
        </p:xfrm>
        <a:graphic>
          <a:graphicData uri="http://schemas.openxmlformats.org/drawingml/2006/table">
            <a:tbl>
              <a:tblPr/>
              <a:tblGrid>
                <a:gridCol w="4647895"/>
                <a:gridCol w="1479499"/>
                <a:gridCol w="1479499"/>
                <a:gridCol w="1479499"/>
                <a:gridCol w="1479499"/>
              </a:tblGrid>
              <a:tr h="0">
                <a:tc>
                  <a:txBody>
                    <a:bodyPr/>
                    <a:lstStyle/>
                    <a:p>
                      <a:pPr algn="l" indent="0" marL="0">
                        <a:buNone/>
                      </a:pPr>
                      <a:r>
                        <a:rPr lang="en-US" sz="1200" b="1" dirty="0">
                          <a:solidFill>
                            <a:srgbClr val="F7F5EF"/>
                          </a:solidFill>
                          <a:latin typeface="Calibri" pitchFamily="34" charset="0"/>
                          <a:ea typeface="Calibri" pitchFamily="34" charset="-122"/>
                          <a:cs typeface="Calibri" pitchFamily="34" charset="-120"/>
                        </a:rPr>
                        <a:t>Capability</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7F5EF"/>
                          </a:solidFill>
                          <a:latin typeface="Calibri" pitchFamily="34" charset="0"/>
                          <a:ea typeface="Calibri" pitchFamily="34" charset="-122"/>
                          <a:cs typeface="Calibri" pitchFamily="34" charset="-120"/>
                        </a:rPr>
                        <a:t>i*</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7F5EF"/>
                          </a:solidFill>
                          <a:latin typeface="Calibri" pitchFamily="34" charset="0"/>
                          <a:ea typeface="Calibri" pitchFamily="34" charset="-122"/>
                          <a:cs typeface="Calibri" pitchFamily="34" charset="-120"/>
                        </a:rPr>
                        <a:t>Tropos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7F5EF"/>
                          </a:solidFill>
                          <a:latin typeface="Calibri" pitchFamily="34" charset="0"/>
                          <a:ea typeface="Calibri" pitchFamily="34" charset="-122"/>
                          <a:cs typeface="Calibri" pitchFamily="34" charset="-120"/>
                        </a:rPr>
                        <a:t>GAIA</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7F5EF"/>
                          </a:solidFill>
                          <a:latin typeface="Calibri" pitchFamily="34" charset="0"/>
                          <a:ea typeface="Calibri" pitchFamily="34" charset="-122"/>
                          <a:cs typeface="Calibri" pitchFamily="34" charset="-120"/>
                        </a:rPr>
                        <a:t>NMAS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Intent scope (binary sortal boundary)</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B45F06"/>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B45F06"/>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Negative obligations (prohibitions)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B45F06"/>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b="1" dirty="0">
                          <a:solidFill>
                            <a:srgbClr val="2E7D3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Quantitative risk parameters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B45F06"/>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Runtime constraint enforcement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B45F06"/>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External Compliance Agent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Audit-native communication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Compliance history in trace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Model operativity (runtime injection)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9CA3A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bl>
          </a:graphicData>
        </a:graphic>
      </p:graphicFrame>
      <p:sp>
        <p:nvSpPr>
          <p:cNvPr id="6" name="Text 2"/>
          <p:cNvSpPr txBox="1"/>
          <p:nvPr/>
        </p:nvSpPr>
        <p:spPr>
          <a:xfrm>
            <a:off x="812902" y="4731106"/>
            <a:ext cx="10566806" cy="228600"/>
          </a:xfrm>
          <a:prstGeom prst="rect">
            <a:avLst/>
          </a:prstGeom>
          <a:noFill/>
          <a:ln/>
        </p:spPr>
        <p:txBody>
          <a:bodyPr wrap="square" lIns="0" tIns="0" rIns="0" bIns="0" rtlCol="0" anchor="t"/>
          <a:lstStyle/>
          <a:p>
            <a:pPr indent="0" marL="0">
              <a:spcAft>
                <a:spcPts val="400"/>
              </a:spcAft>
              <a:buNone/>
            </a:pPr>
            <a:r>
              <a:rPr lang="en-US" sz="1100" b="1" dirty="0">
                <a:solidFill>
                  <a:schemeClr val="accent3"/>
                </a:solidFill>
              </a:rPr>
              <a:t>yes</a:t>
            </a:r>
            <a:pPr indent="0" marL="0">
              <a:spcAft>
                <a:spcPts val="400"/>
              </a:spcAft>
              <a:buNone/>
            </a:pPr>
            <a:r>
              <a:rPr lang="en-US" sz="1100" dirty="0">
                <a:solidFill>
                  <a:schemeClr val="accent5"/>
                </a:solidFill>
              </a:rPr>
              <a:t> fully expressible   ·   </a:t>
            </a:r>
            <a:pPr indent="0" marL="0">
              <a:spcAft>
                <a:spcPts val="400"/>
              </a:spcAft>
              <a:buNone/>
            </a:pPr>
            <a:r>
              <a:rPr lang="en-US" sz="1100" b="1" dirty="0">
                <a:solidFill>
                  <a:schemeClr val="accent1"/>
                </a:solidFill>
              </a:rPr>
              <a:t>partial</a:t>
            </a:r>
            <a:pPr indent="0" marL="0">
              <a:spcAft>
                <a:spcPts val="400"/>
              </a:spcAft>
              <a:buNone/>
            </a:pPr>
            <a:r>
              <a:rPr lang="en-US" sz="1100" dirty="0">
                <a:solidFill>
                  <a:schemeClr val="accent5"/>
                </a:solidFill>
              </a:rPr>
              <a:t> with significant extensions   ·   </a:t>
            </a:r>
            <a:pPr indent="0" marL="0">
              <a:spcAft>
                <a:spcPts val="400"/>
              </a:spcAft>
              <a:buNone/>
            </a:pPr>
            <a:r>
              <a:rPr lang="en-US" sz="1100" b="1" dirty="0">
                <a:solidFill>
                  <a:schemeClr val="accent5"/>
                </a:solidFill>
              </a:rPr>
              <a:t>no</a:t>
            </a:r>
            <a:pPr indent="0" marL="0">
              <a:spcAft>
                <a:spcPts val="400"/>
              </a:spcAft>
              <a:buNone/>
            </a:pPr>
            <a:r>
              <a:rPr lang="en-US" sz="1100" dirty="0">
                <a:solidFill>
                  <a:schemeClr val="accent5"/>
                </a:solidFill>
              </a:rPr>
              <a:t> not expressible without framework revision</a:t>
            </a:r>
            <a:endParaRPr lang="en-US" sz="1100" dirty="0"/>
          </a:p>
        </p:txBody>
      </p:sp>
      <p:sp>
        <p:nvSpPr>
          <p:cNvPr id="7" name="Text 3"/>
          <p:cNvSpPr txBox="1"/>
          <p:nvPr/>
        </p:nvSpPr>
        <p:spPr>
          <a:xfrm>
            <a:off x="812902" y="5080406"/>
            <a:ext cx="10566806" cy="761695"/>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GAIA's </a:t>
            </a:r>
            <a:pPr indent="0" marL="0">
              <a:spcAft>
                <a:spcPts val="400"/>
              </a:spcAft>
              <a:buNone/>
            </a:pPr>
            <a:r>
              <a:rPr lang="en-US" sz="1300" i="1" dirty="0">
                <a:solidFill>
                  <a:schemeClr val="tx2"/>
                </a:solidFill>
              </a:rPr>
              <a:t>permissions</a:t>
            </a:r>
            <a:pPr indent="0" marL="0">
              <a:spcAft>
                <a:spcPts val="400"/>
              </a:spcAft>
              <a:buNone/>
            </a:pPr>
            <a:r>
              <a:rPr lang="en-US" sz="1300" dirty="0">
                <a:solidFill>
                  <a:schemeClr val="tx2"/>
                </a:solidFill>
              </a:rPr>
              <a:t> come closest, but they are granted at modeling time and </a:t>
            </a:r>
            <a:pPr indent="0" marL="0">
              <a:spcAft>
                <a:spcPts val="400"/>
              </a:spcAft>
              <a:buNone/>
            </a:pPr>
            <a:r>
              <a:rPr lang="en-US" sz="1300" b="1" dirty="0">
                <a:solidFill>
                  <a:schemeClr val="tx2"/>
                </a:solidFill>
              </a:rPr>
              <a:t>assumed</a:t>
            </a:r>
            <a:pPr indent="0" marL="0">
              <a:spcAft>
                <a:spcPts val="400"/>
              </a:spcAft>
              <a:buNone/>
            </a:pPr>
            <a:r>
              <a:rPr lang="en-US" sz="1300" dirty="0">
                <a:solidFill>
                  <a:schemeClr val="tx2"/>
                </a:solidFill>
              </a:rPr>
              <a:t> to hold at runtime. NMAS closes the representational gap on prohibitions, yet relies on </a:t>
            </a:r>
            <a:pPr indent="0" marL="0">
              <a:spcAft>
                <a:spcPts val="400"/>
              </a:spcAft>
              <a:buNone/>
            </a:pPr>
            <a:r>
              <a:rPr lang="en-US" sz="1300" b="1" dirty="0">
                <a:solidFill>
                  <a:schemeClr val="tx2"/>
                </a:solidFill>
              </a:rPr>
              <a:t>agent self-deliberation</a:t>
            </a:r>
            <a:pPr indent="0" marL="0">
              <a:spcAft>
                <a:spcPts val="400"/>
              </a:spcAft>
              <a:buNone/>
            </a:pPr>
            <a:r>
              <a:rPr lang="en-US" sz="1300" dirty="0">
                <a:solidFill>
                  <a:schemeClr val="tx2"/>
                </a:solidFill>
              </a:rPr>
              <a:t> for enforcement.</a:t>
            </a:r>
            <a:endParaRPr lang="en-US" sz="13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THE AI-INTENT FRAMEWORK</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One pillar per gap</a:t>
            </a:r>
            <a:endParaRPr lang="en-US" sz="2800" dirty="0"/>
          </a:p>
        </p:txBody>
      </p:sp>
      <p:sp>
        <p:nvSpPr>
          <p:cNvPr id="5" name="Shape 2"/>
          <p:cNvSpPr/>
          <p:nvPr/>
        </p:nvSpPr>
        <p:spPr>
          <a:xfrm>
            <a:off x="812902" y="1841602"/>
            <a:ext cx="3200400" cy="1904695"/>
          </a:xfrm>
          <a:prstGeom prst="roundRect">
            <a:avLst>
              <a:gd name="adj" fmla="val 3841"/>
            </a:avLst>
          </a:prstGeom>
          <a:solidFill>
            <a:schemeClr val="tx1"/>
          </a:solidFill>
          <a:ln w="12700">
            <a:solidFill>
              <a:schemeClr val="tx1"/>
            </a:solidFill>
            <a:prstDash val="solid"/>
          </a:ln>
        </p:spPr>
      </p:sp>
      <p:sp>
        <p:nvSpPr>
          <p:cNvPr id="6" name="Text 3"/>
          <p:cNvSpPr txBox="1"/>
          <p:nvPr/>
        </p:nvSpPr>
        <p:spPr>
          <a:xfrm>
            <a:off x="1015898" y="2006194"/>
            <a:ext cx="2794406" cy="317297"/>
          </a:xfrm>
          <a:prstGeom prst="rect">
            <a:avLst/>
          </a:prstGeom>
          <a:noFill/>
          <a:ln/>
        </p:spPr>
        <p:txBody>
          <a:bodyPr wrap="square" lIns="0" tIns="0" rIns="0" bIns="0" rtlCol="0" anchor="t"/>
          <a:lstStyle/>
          <a:p>
            <a:pPr indent="0" marL="0">
              <a:spcAft>
                <a:spcPts val="400"/>
              </a:spcAft>
              <a:buNone/>
            </a:pPr>
            <a:r>
              <a:rPr lang="en-US" sz="1800" b="1" dirty="0">
                <a:solidFill>
                  <a:srgbClr val="F7F5EF"/>
                </a:solidFill>
              </a:rPr>
              <a:t>Declaration</a:t>
            </a:r>
            <a:endParaRPr lang="en-US" sz="1800" dirty="0"/>
          </a:p>
        </p:txBody>
      </p:sp>
      <p:sp>
        <p:nvSpPr>
          <p:cNvPr id="7" name="Text 4"/>
          <p:cNvSpPr txBox="1"/>
          <p:nvPr/>
        </p:nvSpPr>
        <p:spPr>
          <a:xfrm>
            <a:off x="1015898" y="2361895"/>
            <a:ext cx="2794406" cy="508406"/>
          </a:xfrm>
          <a:prstGeom prst="rect">
            <a:avLst/>
          </a:prstGeom>
          <a:noFill/>
          <a:ln/>
        </p:spPr>
        <p:txBody>
          <a:bodyPr wrap="square" lIns="0" tIns="0" rIns="0" bIns="0" rtlCol="0" anchor="t"/>
          <a:lstStyle/>
          <a:p>
            <a:pPr indent="0" marL="0">
              <a:spcAft>
                <a:spcPts val="400"/>
              </a:spcAft>
              <a:buNone/>
            </a:pPr>
            <a:r>
              <a:rPr lang="en-US" sz="1200" dirty="0">
                <a:solidFill>
                  <a:srgbClr val="BFC8D9"/>
                </a:solidFill>
              </a:rPr>
              <a:t>Principal · Agent · Mandate · Proposed Action</a:t>
            </a:r>
            <a:endParaRPr lang="en-US" sz="1200" dirty="0"/>
          </a:p>
        </p:txBody>
      </p:sp>
      <p:sp>
        <p:nvSpPr>
          <p:cNvPr id="8" name="Text 5"/>
          <p:cNvSpPr txBox="1"/>
          <p:nvPr/>
        </p:nvSpPr>
        <p:spPr>
          <a:xfrm>
            <a:off x="1015898" y="2984602"/>
            <a:ext cx="2794406" cy="190195"/>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closes Gap 1</a:t>
            </a:r>
            <a:endParaRPr lang="en-US" sz="1200" dirty="0"/>
          </a:p>
        </p:txBody>
      </p:sp>
      <p:sp>
        <p:nvSpPr>
          <p:cNvPr id="9" name="Text 6"/>
          <p:cNvSpPr txBox="1"/>
          <p:nvPr/>
        </p:nvSpPr>
        <p:spPr>
          <a:xfrm>
            <a:off x="1015898" y="3206801"/>
            <a:ext cx="2794406" cy="381305"/>
          </a:xfrm>
          <a:prstGeom prst="rect">
            <a:avLst/>
          </a:prstGeom>
          <a:noFill/>
          <a:ln/>
        </p:spPr>
        <p:txBody>
          <a:bodyPr wrap="square" lIns="0" tIns="0" rIns="0" bIns="0" rtlCol="0" anchor="t"/>
          <a:lstStyle/>
          <a:p>
            <a:pPr indent="0" marL="0">
              <a:spcAft>
                <a:spcPts val="400"/>
              </a:spcAft>
              <a:buNone/>
            </a:pPr>
            <a:r>
              <a:rPr lang="en-US" sz="1200" dirty="0">
                <a:solidFill>
                  <a:srgbClr val="BFC8D9"/>
                </a:solidFill>
              </a:rPr>
              <a:t>declares the legitimate action space</a:t>
            </a:r>
            <a:endParaRPr lang="en-US" sz="1200" dirty="0"/>
          </a:p>
        </p:txBody>
      </p:sp>
      <p:sp>
        <p:nvSpPr>
          <p:cNvPr id="10" name="Shape 7"/>
          <p:cNvSpPr/>
          <p:nvPr/>
        </p:nvSpPr>
        <p:spPr>
          <a:xfrm>
            <a:off x="4076395" y="2667305"/>
            <a:ext cx="355702" cy="228600"/>
          </a:xfrm>
          <a:prstGeom prst="rightArrow">
            <a:avLst/>
          </a:prstGeom>
          <a:solidFill>
            <a:schemeClr val="accent1"/>
          </a:solidFill>
          <a:ln w="12700">
            <a:solidFill>
              <a:schemeClr val="accent1"/>
            </a:solidFill>
            <a:prstDash val="solid"/>
          </a:ln>
        </p:spPr>
      </p:sp>
      <p:sp>
        <p:nvSpPr>
          <p:cNvPr id="11" name="Shape 8"/>
          <p:cNvSpPr/>
          <p:nvPr/>
        </p:nvSpPr>
        <p:spPr>
          <a:xfrm>
            <a:off x="4496105" y="1841602"/>
            <a:ext cx="3200400" cy="1904695"/>
          </a:xfrm>
          <a:prstGeom prst="roundRect">
            <a:avLst>
              <a:gd name="adj" fmla="val 3841"/>
            </a:avLst>
          </a:prstGeom>
          <a:solidFill>
            <a:schemeClr val="tx1"/>
          </a:solidFill>
          <a:ln w="12700">
            <a:solidFill>
              <a:schemeClr val="tx1"/>
            </a:solidFill>
            <a:prstDash val="solid"/>
          </a:ln>
        </p:spPr>
      </p:sp>
      <p:sp>
        <p:nvSpPr>
          <p:cNvPr id="12" name="Text 9"/>
          <p:cNvSpPr txBox="1"/>
          <p:nvPr/>
        </p:nvSpPr>
        <p:spPr>
          <a:xfrm>
            <a:off x="4699102" y="2006194"/>
            <a:ext cx="2794406" cy="317297"/>
          </a:xfrm>
          <a:prstGeom prst="rect">
            <a:avLst/>
          </a:prstGeom>
          <a:noFill/>
          <a:ln/>
        </p:spPr>
        <p:txBody>
          <a:bodyPr wrap="square" lIns="0" tIns="0" rIns="0" bIns="0" rtlCol="0" anchor="t"/>
          <a:lstStyle/>
          <a:p>
            <a:pPr indent="0" marL="0">
              <a:spcAft>
                <a:spcPts val="400"/>
              </a:spcAft>
              <a:buNone/>
            </a:pPr>
            <a:r>
              <a:rPr lang="en-US" sz="1800" b="1" dirty="0">
                <a:solidFill>
                  <a:srgbClr val="F7F5EF"/>
                </a:solidFill>
              </a:rPr>
              <a:t>Enforcement</a:t>
            </a:r>
            <a:endParaRPr lang="en-US" sz="1800" dirty="0"/>
          </a:p>
        </p:txBody>
      </p:sp>
      <p:sp>
        <p:nvSpPr>
          <p:cNvPr id="13" name="Text 10"/>
          <p:cNvSpPr txBox="1"/>
          <p:nvPr/>
        </p:nvSpPr>
        <p:spPr>
          <a:xfrm>
            <a:off x="4699102" y="2361895"/>
            <a:ext cx="2794406" cy="508406"/>
          </a:xfrm>
          <a:prstGeom prst="rect">
            <a:avLst/>
          </a:prstGeom>
          <a:noFill/>
          <a:ln/>
        </p:spPr>
        <p:txBody>
          <a:bodyPr wrap="square" lIns="0" tIns="0" rIns="0" bIns="0" rtlCol="0" anchor="t"/>
          <a:lstStyle/>
          <a:p>
            <a:pPr indent="0" marL="0">
              <a:spcAft>
                <a:spcPts val="400"/>
              </a:spcAft>
              <a:buNone/>
            </a:pPr>
            <a:r>
              <a:rPr lang="en-US" sz="1200" dirty="0">
                <a:solidFill>
                  <a:srgbClr val="BFC8D9"/>
                </a:solidFill>
              </a:rPr>
              <a:t>Regulatory Framework · Intent Enforcement · Compliance Verdict</a:t>
            </a:r>
            <a:endParaRPr lang="en-US" sz="1200" dirty="0"/>
          </a:p>
        </p:txBody>
      </p:sp>
      <p:sp>
        <p:nvSpPr>
          <p:cNvPr id="14" name="Text 11"/>
          <p:cNvSpPr txBox="1"/>
          <p:nvPr/>
        </p:nvSpPr>
        <p:spPr>
          <a:xfrm>
            <a:off x="4699102" y="2984602"/>
            <a:ext cx="2794406" cy="190195"/>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closes Gap 2</a:t>
            </a:r>
            <a:endParaRPr lang="en-US" sz="1200" dirty="0"/>
          </a:p>
        </p:txBody>
      </p:sp>
      <p:sp>
        <p:nvSpPr>
          <p:cNvPr id="15" name="Text 12"/>
          <p:cNvSpPr txBox="1"/>
          <p:nvPr/>
        </p:nvSpPr>
        <p:spPr>
          <a:xfrm>
            <a:off x="4699102" y="3206801"/>
            <a:ext cx="2794406" cy="381305"/>
          </a:xfrm>
          <a:prstGeom prst="rect">
            <a:avLst/>
          </a:prstGeom>
          <a:noFill/>
          <a:ln/>
        </p:spPr>
        <p:txBody>
          <a:bodyPr wrap="square" lIns="0" tIns="0" rIns="0" bIns="0" rtlCol="0" anchor="t"/>
          <a:lstStyle/>
          <a:p>
            <a:pPr indent="0" marL="0">
              <a:spcAft>
                <a:spcPts val="400"/>
              </a:spcAft>
              <a:buNone/>
            </a:pPr>
            <a:r>
              <a:rPr lang="en-US" sz="1200" dirty="0">
                <a:solidFill>
                  <a:srgbClr val="BFC8D9"/>
                </a:solidFill>
              </a:rPr>
              <a:t>evaluates every action before delivery</a:t>
            </a:r>
            <a:endParaRPr lang="en-US" sz="1200" dirty="0"/>
          </a:p>
        </p:txBody>
      </p:sp>
      <p:sp>
        <p:nvSpPr>
          <p:cNvPr id="16" name="Shape 13"/>
          <p:cNvSpPr/>
          <p:nvPr/>
        </p:nvSpPr>
        <p:spPr>
          <a:xfrm>
            <a:off x="7759598" y="2667305"/>
            <a:ext cx="355702" cy="228600"/>
          </a:xfrm>
          <a:prstGeom prst="rightArrow">
            <a:avLst/>
          </a:prstGeom>
          <a:solidFill>
            <a:schemeClr val="accent1"/>
          </a:solidFill>
          <a:ln w="12700">
            <a:solidFill>
              <a:schemeClr val="accent1"/>
            </a:solidFill>
            <a:prstDash val="solid"/>
          </a:ln>
        </p:spPr>
      </p:sp>
      <p:sp>
        <p:nvSpPr>
          <p:cNvPr id="17" name="Shape 14"/>
          <p:cNvSpPr/>
          <p:nvPr/>
        </p:nvSpPr>
        <p:spPr>
          <a:xfrm>
            <a:off x="8178394" y="1841602"/>
            <a:ext cx="3200400" cy="1904695"/>
          </a:xfrm>
          <a:prstGeom prst="roundRect">
            <a:avLst>
              <a:gd name="adj" fmla="val 3841"/>
            </a:avLst>
          </a:prstGeom>
          <a:solidFill>
            <a:schemeClr val="tx1"/>
          </a:solidFill>
          <a:ln w="12700">
            <a:solidFill>
              <a:schemeClr val="tx1"/>
            </a:solidFill>
            <a:prstDash val="solid"/>
          </a:ln>
        </p:spPr>
      </p:sp>
      <p:sp>
        <p:nvSpPr>
          <p:cNvPr id="18" name="Text 15"/>
          <p:cNvSpPr txBox="1"/>
          <p:nvPr/>
        </p:nvSpPr>
        <p:spPr>
          <a:xfrm>
            <a:off x="8382305" y="2006194"/>
            <a:ext cx="2794406" cy="317297"/>
          </a:xfrm>
          <a:prstGeom prst="rect">
            <a:avLst/>
          </a:prstGeom>
          <a:noFill/>
          <a:ln/>
        </p:spPr>
        <p:txBody>
          <a:bodyPr wrap="square" lIns="0" tIns="0" rIns="0" bIns="0" rtlCol="0" anchor="t"/>
          <a:lstStyle/>
          <a:p>
            <a:pPr indent="0" marL="0">
              <a:spcAft>
                <a:spcPts val="400"/>
              </a:spcAft>
              <a:buNone/>
            </a:pPr>
            <a:r>
              <a:rPr lang="en-US" sz="1800" b="1" dirty="0">
                <a:solidFill>
                  <a:srgbClr val="F7F5EF"/>
                </a:solidFill>
              </a:rPr>
              <a:t>Auditability</a:t>
            </a:r>
            <a:endParaRPr lang="en-US" sz="1800" dirty="0"/>
          </a:p>
        </p:txBody>
      </p:sp>
      <p:sp>
        <p:nvSpPr>
          <p:cNvPr id="19" name="Text 16"/>
          <p:cNvSpPr txBox="1"/>
          <p:nvPr/>
        </p:nvSpPr>
        <p:spPr>
          <a:xfrm>
            <a:off x="8382305" y="2361895"/>
            <a:ext cx="2794406" cy="508406"/>
          </a:xfrm>
          <a:prstGeom prst="rect">
            <a:avLst/>
          </a:prstGeom>
          <a:noFill/>
          <a:ln/>
        </p:spPr>
        <p:txBody>
          <a:bodyPr wrap="square" lIns="0" tIns="0" rIns="0" bIns="0" rtlCol="0" anchor="t"/>
          <a:lstStyle/>
          <a:p>
            <a:pPr indent="0" marL="0">
              <a:spcAft>
                <a:spcPts val="400"/>
              </a:spcAft>
              <a:buNone/>
            </a:pPr>
            <a:r>
              <a:rPr lang="en-US" sz="1200" dirty="0">
                <a:solidFill>
                  <a:srgbClr val="BFC8D9"/>
                </a:solidFill>
              </a:rPr>
              <a:t>Log Entry · Accountability Trace</a:t>
            </a:r>
            <a:endParaRPr lang="en-US" sz="1200" dirty="0"/>
          </a:p>
        </p:txBody>
      </p:sp>
      <p:sp>
        <p:nvSpPr>
          <p:cNvPr id="20" name="Text 17"/>
          <p:cNvSpPr txBox="1"/>
          <p:nvPr/>
        </p:nvSpPr>
        <p:spPr>
          <a:xfrm>
            <a:off x="8382305" y="2984602"/>
            <a:ext cx="2794406" cy="190195"/>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closes Gap 3</a:t>
            </a:r>
            <a:endParaRPr lang="en-US" sz="1200" dirty="0"/>
          </a:p>
        </p:txBody>
      </p:sp>
      <p:sp>
        <p:nvSpPr>
          <p:cNvPr id="21" name="Text 18"/>
          <p:cNvSpPr txBox="1"/>
          <p:nvPr/>
        </p:nvSpPr>
        <p:spPr>
          <a:xfrm>
            <a:off x="8382305" y="3206801"/>
            <a:ext cx="2794406" cy="381305"/>
          </a:xfrm>
          <a:prstGeom prst="rect">
            <a:avLst/>
          </a:prstGeom>
          <a:noFill/>
          <a:ln/>
        </p:spPr>
        <p:txBody>
          <a:bodyPr wrap="square" lIns="0" tIns="0" rIns="0" bIns="0" rtlCol="0" anchor="t"/>
          <a:lstStyle/>
          <a:p>
            <a:pPr indent="0" marL="0">
              <a:spcAft>
                <a:spcPts val="400"/>
              </a:spcAft>
              <a:buNone/>
            </a:pPr>
            <a:r>
              <a:rPr lang="en-US" sz="1200" dirty="0">
                <a:solidFill>
                  <a:srgbClr val="BFC8D9"/>
                </a:solidFill>
              </a:rPr>
              <a:t>derives evidence from the same verdicts</a:t>
            </a:r>
            <a:endParaRPr lang="en-US" sz="1200" dirty="0"/>
          </a:p>
        </p:txBody>
      </p:sp>
      <p:sp>
        <p:nvSpPr>
          <p:cNvPr id="22" name="Shape 19"/>
          <p:cNvSpPr/>
          <p:nvPr/>
        </p:nvSpPr>
        <p:spPr>
          <a:xfrm>
            <a:off x="812902" y="4190695"/>
            <a:ext cx="10566806" cy="1587398"/>
          </a:xfrm>
          <a:prstGeom prst="roundRect">
            <a:avLst>
              <a:gd name="adj" fmla="val 4608"/>
            </a:avLst>
          </a:prstGeom>
          <a:solidFill>
            <a:schemeClr val="bg2"/>
          </a:solidFill>
          <a:ln w="9525">
            <a:solidFill>
              <a:schemeClr val="accent6"/>
            </a:solidFill>
            <a:prstDash val="solid"/>
          </a:ln>
        </p:spPr>
      </p:sp>
      <p:sp>
        <p:nvSpPr>
          <p:cNvPr id="23" name="Shape 20"/>
          <p:cNvSpPr/>
          <p:nvPr/>
        </p:nvSpPr>
        <p:spPr>
          <a:xfrm>
            <a:off x="812902" y="4190695"/>
            <a:ext cx="38405" cy="1587398"/>
          </a:xfrm>
          <a:prstGeom prst="rect">
            <a:avLst/>
          </a:prstGeom>
          <a:solidFill>
            <a:schemeClr val="accent1"/>
          </a:solidFill>
          <a:ln w="12700">
            <a:solidFill>
              <a:schemeClr val="accent1"/>
            </a:solidFill>
            <a:prstDash val="solid"/>
          </a:ln>
        </p:spPr>
      </p:sp>
      <p:sp>
        <p:nvSpPr>
          <p:cNvPr id="24" name="Text 21"/>
          <p:cNvSpPr txBox="1"/>
          <p:nvPr/>
        </p:nvSpPr>
        <p:spPr>
          <a:xfrm>
            <a:off x="1041502" y="4343400"/>
            <a:ext cx="10159898" cy="2286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What AI-Intent is, and is not</a:t>
            </a:r>
            <a:endParaRPr lang="en-US" sz="1400" dirty="0"/>
          </a:p>
        </p:txBody>
      </p:sp>
      <p:sp>
        <p:nvSpPr>
          <p:cNvPr id="25" name="Text 22"/>
          <p:cNvSpPr txBox="1"/>
          <p:nvPr/>
        </p:nvSpPr>
        <p:spPr>
          <a:xfrm>
            <a:off x="1041502" y="4623206"/>
            <a:ext cx="10159898" cy="101589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Not a new modeling language, nor a syntactic extension of one. A domain-independent </a:t>
            </a:r>
            <a:pPr indent="0" marL="0">
              <a:spcAft>
                <a:spcPts val="400"/>
              </a:spcAft>
              <a:buNone/>
            </a:pPr>
            <a:r>
              <a:rPr lang="en-US" sz="1300" b="1" dirty="0">
                <a:solidFill>
                  <a:schemeClr val="tx2"/>
                </a:solidFill>
              </a:rPr>
              <a:t>conceptual model</a:t>
            </a:r>
            <a:pPr indent="0" marL="0">
              <a:spcAft>
                <a:spcPts val="400"/>
              </a:spcAft>
              <a:buNone/>
            </a:pPr>
            <a:r>
              <a:rPr lang="en-US" sz="1300" dirty="0">
                <a:solidFill>
                  <a:schemeClr val="tx2"/>
                </a:solidFill>
              </a:rPr>
              <a:t>: governance constructs, their metamodel relationships, and well-formedness conditions, grounded in </a:t>
            </a:r>
            <a:pPr indent="0" marL="0">
              <a:spcAft>
                <a:spcPts val="400"/>
              </a:spcAft>
              <a:buNone/>
            </a:pPr>
            <a:r>
              <a:rPr lang="en-US" sz="1300" b="1" dirty="0">
                <a:solidFill>
                  <a:schemeClr val="tx2"/>
                </a:solidFill>
              </a:rPr>
              <a:t>UFO</a:t>
            </a:r>
            <a:pPr indent="0" marL="0">
              <a:spcAft>
                <a:spcPts val="400"/>
              </a:spcAft>
              <a:buNone/>
            </a:pPr>
            <a:r>
              <a:rPr lang="en-US" sz="1300" dirty="0">
                <a:solidFill>
                  <a:schemeClr val="tx2"/>
                </a:solidFill>
              </a:rPr>
              <a:t>, rendered in OntoUML, intended to </a:t>
            </a:r>
            <a:pPr indent="0" marL="0">
              <a:spcAft>
                <a:spcPts val="400"/>
              </a:spcAft>
              <a:buNone/>
            </a:pPr>
            <a:r>
              <a:rPr lang="en-US" sz="1300" i="1" dirty="0">
                <a:solidFill>
                  <a:schemeClr val="tx2"/>
                </a:solidFill>
              </a:rPr>
              <a:t>augment</a:t>
            </a:r>
            <a:pPr indent="0" marL="0">
              <a:spcAft>
                <a:spcPts val="400"/>
              </a:spcAft>
              <a:buNone/>
            </a:pPr>
            <a:r>
              <a:rPr lang="en-US" sz="1300" dirty="0">
                <a:solidFill>
                  <a:schemeClr val="tx2"/>
                </a:solidFill>
              </a:rPr>
              <a:t> existing agent-oriented languages.</a:t>
            </a:r>
            <a:endParaRPr lang="en-US" sz="13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THE AI-INTENT FRAMEWORK</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The conceptual model</a:t>
            </a:r>
            <a:endParaRPr lang="en-US" sz="2800" dirty="0"/>
          </a:p>
        </p:txBody>
      </p:sp>
      <p:sp>
        <p:nvSpPr>
          <p:cNvPr id="5" name="Shape 2"/>
          <p:cNvSpPr/>
          <p:nvPr/>
        </p:nvSpPr>
        <p:spPr>
          <a:xfrm>
            <a:off x="2540203" y="1714500"/>
            <a:ext cx="7112203" cy="4076395"/>
          </a:xfrm>
          <a:prstGeom prst="rect">
            <a:avLst/>
          </a:prstGeom>
          <a:solidFill>
            <a:schemeClr val="bg2"/>
          </a:solidFill>
          <a:ln w="9525">
            <a:solidFill>
              <a:schemeClr val="accent6"/>
            </a:solidFill>
            <a:prstDash val="solid"/>
          </a:ln>
        </p:spPr>
      </p:sp>
      <p:pic>
        <p:nvPicPr>
          <p:cNvPr id="6" name="Image 0" descr="AI-Intent conceptual model in OntoUML">    </p:cNvPr>
          <p:cNvPicPr>
            <a:picLocks noChangeAspect="1"/>
          </p:cNvPicPr>
          <p:nvPr/>
        </p:nvPicPr>
        <p:blipFill>
          <a:blip r:embed="rId1"/>
          <a:srcRect l="0" r="0" t="0" b="0"/>
          <a:stretch/>
        </p:blipFill>
        <p:spPr>
          <a:xfrm>
            <a:off x="2603297" y="1777594"/>
            <a:ext cx="6985102" cy="3949294"/>
          </a:xfrm>
          <a:prstGeom prst="rect">
            <a:avLst/>
          </a:prstGeom>
        </p:spPr>
      </p:pic>
      <p:sp>
        <p:nvSpPr>
          <p:cNvPr id="7" name="Text 3"/>
          <p:cNvSpPr txBox="1"/>
          <p:nvPr/>
        </p:nvSpPr>
        <p:spPr>
          <a:xfrm>
            <a:off x="812902" y="5905195"/>
            <a:ext cx="10566806" cy="254203"/>
          </a:xfrm>
          <a:prstGeom prst="rect">
            <a:avLst/>
          </a:prstGeom>
          <a:noFill/>
          <a:ln/>
        </p:spPr>
        <p:txBody>
          <a:bodyPr wrap="square" lIns="0" tIns="0" rIns="0" bIns="0" rtlCol="0" anchor="t"/>
          <a:lstStyle/>
          <a:p>
            <a:pPr algn="ctr" indent="0" marL="0">
              <a:spcAft>
                <a:spcPts val="400"/>
              </a:spcAft>
              <a:buNone/>
            </a:pPr>
            <a:r>
              <a:rPr lang="en-US" sz="1100" dirty="0">
                <a:solidFill>
                  <a:schemeClr val="accent5"/>
                </a:solidFill>
              </a:rPr>
              <a:t>Nine constructs across three pillars, rendered in OntoUML. The Compliance Verdict is a relator mediating enforcement and action.</a:t>
            </a:r>
            <a:endParaRPr lang="en-US" sz="11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PILLAR 1 · DECLARATION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The Mandate is the central artifact</a:t>
            </a:r>
            <a:endParaRPr lang="en-US" sz="2800" dirty="0"/>
          </a:p>
        </p:txBody>
      </p:sp>
      <p:sp>
        <p:nvSpPr>
          <p:cNvPr id="5" name="Text 2"/>
          <p:cNvSpPr txBox="1"/>
          <p:nvPr/>
        </p:nvSpPr>
        <p:spPr>
          <a:xfrm>
            <a:off x="812902" y="1714500"/>
            <a:ext cx="10566806" cy="381305"/>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 </a:t>
            </a:r>
            <a:pPr indent="0" marL="0">
              <a:spcAft>
                <a:spcPts val="400"/>
              </a:spcAft>
              <a:buNone/>
            </a:pPr>
            <a:r>
              <a:rPr lang="en-US" sz="1400" b="1" dirty="0">
                <a:solidFill>
                  <a:schemeClr val="tx2"/>
                </a:solidFill>
              </a:rPr>
              <a:t>Mandate</a:t>
            </a:r>
            <a:pPr indent="0" marL="0">
              <a:spcAft>
                <a:spcPts val="400"/>
              </a:spcAft>
              <a:buNone/>
            </a:pPr>
            <a:r>
              <a:rPr lang="en-US" sz="1400" dirty="0">
                <a:solidFill>
                  <a:schemeClr val="tx2"/>
                </a:solidFill>
              </a:rPr>
              <a:t> is a type-level specification of what an agent may address, what it must not produce, and its operational parameters.</a:t>
            </a:r>
            <a:endParaRPr lang="en-US" sz="1400" dirty="0"/>
          </a:p>
        </p:txBody>
      </p:sp>
      <p:sp>
        <p:nvSpPr>
          <p:cNvPr id="6" name="Text 3"/>
          <p:cNvSpPr txBox="1"/>
          <p:nvPr/>
        </p:nvSpPr>
        <p:spPr>
          <a:xfrm>
            <a:off x="812902" y="2286000"/>
            <a:ext cx="444398" cy="254203"/>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(i)</a:t>
            </a:r>
            <a:endParaRPr lang="en-US" sz="1300" dirty="0"/>
          </a:p>
        </p:txBody>
      </p:sp>
      <p:sp>
        <p:nvSpPr>
          <p:cNvPr id="7" name="Text 4"/>
          <p:cNvSpPr txBox="1"/>
          <p:nvPr/>
        </p:nvSpPr>
        <p:spPr>
          <a:xfrm>
            <a:off x="1270102" y="2286000"/>
            <a:ext cx="4063594" cy="57150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Decision Rights</a:t>
            </a:r>
            <a:pPr indent="0" marL="0">
              <a:spcAft>
                <a:spcPts val="400"/>
              </a:spcAft>
              <a:buNone/>
            </a:pPr>
            <a:endParaRPr lang="en-US" sz="1300" dirty="0"/>
          </a:p>
          <a:p>
            <a:pPr indent="0" marL="0">
              <a:spcAft>
                <a:spcPts val="400"/>
              </a:spcAft>
              <a:buNone/>
            </a:pPr>
            <a:r>
              <a:rPr lang="en-US" sz="1300" dirty="0">
                <a:solidFill>
                  <a:schemeClr val="tx2"/>
                </a:solidFill>
              </a:rPr>
              <a:t>decisions allowed without escalation</a:t>
            </a:r>
            <a:endParaRPr lang="en-US" sz="1300" dirty="0"/>
          </a:p>
        </p:txBody>
      </p:sp>
      <p:sp>
        <p:nvSpPr>
          <p:cNvPr id="8" name="Text 5"/>
          <p:cNvSpPr txBox="1"/>
          <p:nvPr/>
        </p:nvSpPr>
        <p:spPr>
          <a:xfrm>
            <a:off x="812902" y="2984602"/>
            <a:ext cx="444398" cy="254203"/>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(ii)</a:t>
            </a:r>
            <a:endParaRPr lang="en-US" sz="1300" dirty="0"/>
          </a:p>
        </p:txBody>
      </p:sp>
      <p:sp>
        <p:nvSpPr>
          <p:cNvPr id="9" name="Text 6"/>
          <p:cNvSpPr txBox="1"/>
          <p:nvPr/>
        </p:nvSpPr>
        <p:spPr>
          <a:xfrm>
            <a:off x="1270102" y="2984602"/>
            <a:ext cx="4063594" cy="57150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Boundaries</a:t>
            </a:r>
            <a:pPr indent="0" marL="0">
              <a:spcAft>
                <a:spcPts val="400"/>
              </a:spcAft>
              <a:buNone/>
            </a:pPr>
            <a:endParaRPr lang="en-US" sz="1300" dirty="0"/>
          </a:p>
          <a:p>
            <a:pPr indent="0" marL="0">
              <a:spcAft>
                <a:spcPts val="400"/>
              </a:spcAft>
              <a:buNone/>
            </a:pPr>
            <a:r>
              <a:rPr lang="en-US" sz="1300" dirty="0">
                <a:solidFill>
                  <a:schemeClr val="tx2"/>
                </a:solidFill>
              </a:rPr>
              <a:t>the negative obligations</a:t>
            </a:r>
            <a:endParaRPr lang="en-US" sz="1300" dirty="0"/>
          </a:p>
        </p:txBody>
      </p:sp>
      <p:sp>
        <p:nvSpPr>
          <p:cNvPr id="10" name="Text 7"/>
          <p:cNvSpPr txBox="1"/>
          <p:nvPr/>
        </p:nvSpPr>
        <p:spPr>
          <a:xfrm>
            <a:off x="812902" y="3683203"/>
            <a:ext cx="444398" cy="254203"/>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(iii)</a:t>
            </a:r>
            <a:endParaRPr lang="en-US" sz="1300" dirty="0"/>
          </a:p>
        </p:txBody>
      </p:sp>
      <p:sp>
        <p:nvSpPr>
          <p:cNvPr id="11" name="Text 8"/>
          <p:cNvSpPr txBox="1"/>
          <p:nvPr/>
        </p:nvSpPr>
        <p:spPr>
          <a:xfrm>
            <a:off x="1270102" y="3683203"/>
            <a:ext cx="4063594" cy="57150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Capabilities</a:t>
            </a:r>
            <a:pPr indent="0" marL="0">
              <a:spcAft>
                <a:spcPts val="400"/>
              </a:spcAft>
              <a:buNone/>
            </a:pPr>
            <a:endParaRPr lang="en-US" sz="1300" dirty="0"/>
          </a:p>
          <a:p>
            <a:pPr indent="0" marL="0">
              <a:spcAft>
                <a:spcPts val="400"/>
              </a:spcAft>
              <a:buNone/>
            </a:pPr>
            <a:r>
              <a:rPr lang="en-US" sz="1300" dirty="0">
                <a:solidFill>
                  <a:schemeClr val="tx2"/>
                </a:solidFill>
              </a:rPr>
              <a:t>permitted tools, data, actuators</a:t>
            </a:r>
            <a:endParaRPr lang="en-US" sz="1300" dirty="0"/>
          </a:p>
        </p:txBody>
      </p:sp>
      <p:sp>
        <p:nvSpPr>
          <p:cNvPr id="12" name="Text 9"/>
          <p:cNvSpPr txBox="1"/>
          <p:nvPr/>
        </p:nvSpPr>
        <p:spPr>
          <a:xfrm>
            <a:off x="812902" y="4381805"/>
            <a:ext cx="444398" cy="254203"/>
          </a:xfrm>
          <a:prstGeom prst="rect">
            <a:avLst/>
          </a:prstGeom>
          <a:noFill/>
          <a:ln/>
        </p:spPr>
        <p:txBody>
          <a:bodyPr wrap="square" lIns="0" tIns="0" rIns="0" bIns="0" rtlCol="0" anchor="t"/>
          <a:lstStyle/>
          <a:p>
            <a:pPr indent="0" marL="0">
              <a:spcAft>
                <a:spcPts val="400"/>
              </a:spcAft>
              <a:buNone/>
            </a:pPr>
            <a:r>
              <a:rPr lang="en-US" sz="1300" b="1" dirty="0">
                <a:solidFill>
                  <a:schemeClr val="accent1"/>
                </a:solidFill>
              </a:rPr>
              <a:t>(iv)</a:t>
            </a:r>
            <a:endParaRPr lang="en-US" sz="1300" dirty="0"/>
          </a:p>
        </p:txBody>
      </p:sp>
      <p:sp>
        <p:nvSpPr>
          <p:cNvPr id="13" name="Text 10"/>
          <p:cNvSpPr txBox="1"/>
          <p:nvPr/>
        </p:nvSpPr>
        <p:spPr>
          <a:xfrm>
            <a:off x="1270102" y="4381805"/>
            <a:ext cx="4063594" cy="57150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Policies</a:t>
            </a:r>
            <a:pPr indent="0" marL="0">
              <a:spcAft>
                <a:spcPts val="400"/>
              </a:spcAft>
              <a:buNone/>
            </a:pPr>
            <a:endParaRPr lang="en-US" sz="1300" dirty="0"/>
          </a:p>
          <a:p>
            <a:pPr indent="0" marL="0">
              <a:spcAft>
                <a:spcPts val="400"/>
              </a:spcAft>
              <a:buNone/>
            </a:pPr>
            <a:r>
              <a:rPr lang="en-US" sz="1300" dirty="0">
                <a:solidFill>
                  <a:schemeClr val="tx2"/>
                </a:solidFill>
              </a:rPr>
              <a:t>thresholds, escalation, revocation</a:t>
            </a:r>
            <a:endParaRPr lang="en-US" sz="1300" dirty="0"/>
          </a:p>
        </p:txBody>
      </p:sp>
      <p:sp>
        <p:nvSpPr>
          <p:cNvPr id="14" name="Shape 11"/>
          <p:cNvSpPr/>
          <p:nvPr/>
        </p:nvSpPr>
        <p:spPr>
          <a:xfrm>
            <a:off x="5842102" y="2222906"/>
            <a:ext cx="5537606" cy="3086100"/>
          </a:xfrm>
          <a:prstGeom prst="roundRect">
            <a:avLst>
              <a:gd name="adj" fmla="val 2370"/>
            </a:avLst>
          </a:prstGeom>
          <a:solidFill>
            <a:schemeClr val="tx1"/>
          </a:solidFill>
          <a:ln w="12700">
            <a:solidFill>
              <a:schemeClr val="tx1"/>
            </a:solidFill>
            <a:prstDash val="solid"/>
          </a:ln>
        </p:spPr>
      </p:sp>
      <p:sp>
        <p:nvSpPr>
          <p:cNvPr id="15" name="Text 12"/>
          <p:cNvSpPr txBox="1"/>
          <p:nvPr/>
        </p:nvSpPr>
        <p:spPr>
          <a:xfrm>
            <a:off x="6096305" y="2413102"/>
            <a:ext cx="5080406" cy="228600"/>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Each boundary constraint is a triple</a:t>
            </a:r>
            <a:endParaRPr lang="en-US" sz="1400" dirty="0"/>
          </a:p>
        </p:txBody>
      </p:sp>
      <p:sp>
        <p:nvSpPr>
          <p:cNvPr id="16" name="Text 13"/>
          <p:cNvSpPr txBox="1"/>
          <p:nvPr/>
        </p:nvSpPr>
        <p:spPr>
          <a:xfrm>
            <a:off x="6096305" y="2730398"/>
            <a:ext cx="5080406" cy="444398"/>
          </a:xfrm>
          <a:prstGeom prst="rect">
            <a:avLst/>
          </a:prstGeom>
          <a:noFill/>
          <a:ln/>
        </p:spPr>
        <p:txBody>
          <a:bodyPr wrap="square" lIns="0" tIns="0" rIns="0" bIns="0" rtlCol="0" anchor="t"/>
          <a:lstStyle/>
          <a:p>
            <a:pPr algn="ctr" indent="0" marL="0">
              <a:spcAft>
                <a:spcPts val="400"/>
              </a:spcAft>
              <a:buNone/>
            </a:pPr>
            <a:r>
              <a:rPr lang="en-US" sz="2400" i="1" dirty="0">
                <a:solidFill>
                  <a:srgbClr val="F7F5EF"/>
                </a:solidFill>
                <a:latin typeface="Cambria" pitchFamily="34" charset="0"/>
                <a:ea typeface="Cambria" pitchFamily="34" charset="-122"/>
                <a:cs typeface="Cambria" pitchFamily="34" charset="-120"/>
              </a:rPr>
              <a:t>cᵢ = ⟨ textᵢ, φᵢ, τᵢ ⟩</a:t>
            </a:r>
            <a:endParaRPr lang="en-US" sz="2400" dirty="0"/>
          </a:p>
        </p:txBody>
      </p:sp>
      <p:sp>
        <p:nvSpPr>
          <p:cNvPr id="17" name="Text 14"/>
          <p:cNvSpPr txBox="1"/>
          <p:nvPr/>
        </p:nvSpPr>
        <p:spPr>
          <a:xfrm>
            <a:off x="6096305" y="3301898"/>
            <a:ext cx="5080406" cy="825703"/>
          </a:xfrm>
          <a:prstGeom prst="rect">
            <a:avLst/>
          </a:prstGeom>
          <a:noFill/>
          <a:ln/>
        </p:spPr>
        <p:txBody>
          <a:bodyPr wrap="square" lIns="0" tIns="0" rIns="0" bIns="0" rtlCol="0" anchor="t"/>
          <a:lstStyle/>
          <a:p>
            <a:pPr indent="0" marL="0">
              <a:spcAft>
                <a:spcPts val="400"/>
              </a:spcAft>
              <a:buNone/>
            </a:pPr>
            <a:r>
              <a:rPr lang="en-US" sz="1200" dirty="0">
                <a:solidFill>
                  <a:srgbClr val="BFC8D9"/>
                </a:solidFill>
              </a:rPr>
              <a:t>textᵢ   natural-language statement</a:t>
            </a:r>
            <a:endParaRPr lang="en-US" sz="1200" dirty="0"/>
          </a:p>
          <a:p>
            <a:pPr indent="0" marL="0">
              <a:spcAft>
                <a:spcPts val="400"/>
              </a:spcAft>
              <a:buNone/>
            </a:pPr>
            <a:r>
              <a:rPr lang="en-US" sz="1200" dirty="0">
                <a:solidFill>
                  <a:srgbClr val="BFC8D9"/>
                </a:solidFill>
              </a:rPr>
              <a:t>φᵢ   machine-evaluable predicate over the output</a:t>
            </a:r>
            <a:endParaRPr lang="en-US" sz="1200" dirty="0"/>
          </a:p>
          <a:p>
            <a:pPr indent="0" marL="0">
              <a:spcAft>
                <a:spcPts val="400"/>
              </a:spcAft>
              <a:buNone/>
            </a:pPr>
            <a:r>
              <a:rPr lang="en-US" sz="1200" dirty="0">
                <a:solidFill>
                  <a:srgbClr val="BFC8D9"/>
                </a:solidFill>
              </a:rPr>
              <a:t>τᵢ ∈ {F, O}   prohibition or obligation</a:t>
            </a:r>
            <a:endParaRPr lang="en-US" sz="1200" dirty="0"/>
          </a:p>
        </p:txBody>
      </p:sp>
      <p:sp>
        <p:nvSpPr>
          <p:cNvPr id="18" name="Text 15"/>
          <p:cNvSpPr txBox="1"/>
          <p:nvPr/>
        </p:nvSpPr>
        <p:spPr>
          <a:xfrm>
            <a:off x="6096305" y="4317797"/>
            <a:ext cx="5080406" cy="1015898"/>
          </a:xfrm>
          <a:prstGeom prst="rect">
            <a:avLst/>
          </a:prstGeom>
          <a:noFill/>
          <a:ln/>
        </p:spPr>
        <p:txBody>
          <a:bodyPr wrap="square" lIns="0" tIns="0" rIns="0" bIns="0" rtlCol="0" anchor="t"/>
          <a:lstStyle/>
          <a:p>
            <a:pPr indent="0" marL="0">
              <a:spcAft>
                <a:spcPts val="400"/>
              </a:spcAft>
              <a:buNone/>
            </a:pPr>
            <a:r>
              <a:rPr lang="en-US" sz="1200" dirty="0">
                <a:solidFill>
                  <a:srgbClr val="F7F5EF"/>
                </a:solidFill>
              </a:rPr>
              <a:t>A prohibition is violated </a:t>
            </a:r>
            <a:pPr indent="0" marL="0">
              <a:spcAft>
                <a:spcPts val="400"/>
              </a:spcAft>
              <a:buNone/>
            </a:pPr>
            <a:r>
              <a:rPr lang="en-US" sz="1200" i="1" dirty="0">
                <a:solidFill>
                  <a:srgbClr val="F7F5EF"/>
                </a:solidFill>
              </a:rPr>
              <a:t>iff</a:t>
            </a:r>
            <a:pPr indent="0" marL="0">
              <a:spcAft>
                <a:spcPts val="400"/>
              </a:spcAft>
              <a:buNone/>
            </a:pPr>
            <a:r>
              <a:rPr lang="en-US" sz="1200" dirty="0">
                <a:solidFill>
                  <a:srgbClr val="F7F5EF"/>
                </a:solidFill>
              </a:rPr>
              <a:t> the output </a:t>
            </a:r>
            <a:pPr indent="0" marL="0">
              <a:spcAft>
                <a:spcPts val="400"/>
              </a:spcAft>
              <a:buNone/>
            </a:pPr>
            <a:r>
              <a:rPr lang="en-US" sz="1200" i="1" dirty="0">
                <a:solidFill>
                  <a:srgbClr val="F7F5EF"/>
                </a:solidFill>
              </a:rPr>
              <a:t>satisfies</a:t>
            </a:r>
            <a:pPr indent="0" marL="0">
              <a:spcAft>
                <a:spcPts val="400"/>
              </a:spcAft>
              <a:buNone/>
            </a:pPr>
            <a:r>
              <a:rPr lang="en-US" sz="1200" dirty="0">
                <a:solidFill>
                  <a:srgbClr val="F7F5EF"/>
                </a:solidFill>
              </a:rPr>
              <a:t> φᵢ. A </a:t>
            </a:r>
            <a:pPr indent="0" marL="0">
              <a:spcAft>
                <a:spcPts val="400"/>
              </a:spcAft>
              <a:buNone/>
            </a:pPr>
            <a:r>
              <a:rPr lang="en-US" sz="1200" b="1" dirty="0">
                <a:solidFill>
                  <a:srgbClr val="F7F5EF"/>
                </a:solidFill>
              </a:rPr>
              <a:t>risk parameter</a:t>
            </a:r>
            <a:pPr indent="0" marL="0">
              <a:spcAft>
                <a:spcPts val="400"/>
              </a:spcAft>
              <a:buNone/>
            </a:pPr>
            <a:r>
              <a:rPr lang="en-US" sz="1200" dirty="0">
                <a:solidFill>
                  <a:srgbClr val="F7F5EF"/>
                </a:solidFill>
              </a:rPr>
              <a:t> binds a free variable: F(allocation &gt; 0.15).</a:t>
            </a:r>
            <a:endParaRPr lang="en-US" sz="1200" dirty="0"/>
          </a:p>
        </p:txBody>
      </p:sp>
      <p:sp>
        <p:nvSpPr>
          <p:cNvPr id="19" name="Text 16"/>
          <p:cNvSpPr txBox="1"/>
          <p:nvPr/>
        </p:nvSpPr>
        <p:spPr>
          <a:xfrm>
            <a:off x="812902" y="5435194"/>
            <a:ext cx="10566806" cy="405994"/>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At runtime the Mandate is read twice: its </a:t>
            </a:r>
            <a:pPr indent="0" marL="0">
              <a:spcAft>
                <a:spcPts val="400"/>
              </a:spcAft>
              <a:buNone/>
            </a:pPr>
            <a:r>
              <a:rPr lang="en-US" sz="1200" b="1" dirty="0">
                <a:solidFill>
                  <a:schemeClr val="tx1"/>
                </a:solidFill>
              </a:rPr>
              <a:t>text</a:t>
            </a:r>
            <a:pPr indent="0" marL="0">
              <a:spcAft>
                <a:spcPts val="400"/>
              </a:spcAft>
              <a:buNone/>
            </a:pPr>
            <a:r>
              <a:rPr lang="en-US" sz="1200" dirty="0">
                <a:solidFill>
                  <a:schemeClr val="tx1"/>
                </a:solidFill>
              </a:rPr>
              <a:t> is injected into the agent's system prompt, its </a:t>
            </a:r>
            <a:pPr indent="0" marL="0">
              <a:spcAft>
                <a:spcPts val="400"/>
              </a:spcAft>
              <a:buNone/>
            </a:pPr>
            <a:r>
              <a:rPr lang="en-US" sz="1200" b="1" dirty="0">
                <a:solidFill>
                  <a:schemeClr val="tx1"/>
                </a:solidFill>
              </a:rPr>
              <a:t>risk parameters</a:t>
            </a:r>
            <a:pPr indent="0" marL="0">
              <a:spcAft>
                <a:spcPts val="400"/>
              </a:spcAft>
              <a:buNone/>
            </a:pPr>
            <a:r>
              <a:rPr lang="en-US" sz="1200" dirty="0">
                <a:solidFill>
                  <a:schemeClr val="tx1"/>
                </a:solidFill>
              </a:rPr>
              <a:t> bind the predicates the Compliance Agent evaluates. The gate never reads the text.</a:t>
            </a:r>
            <a:endParaRPr lang="en-US" sz="1200" dirty="0"/>
          </a:p>
        </p:txBody>
      </p:sp>
      <p:sp>
        <p:nvSpPr>
          <p:cNvPr id="20" name="Text 17"/>
          <p:cNvSpPr txBox="1"/>
          <p:nvPr/>
        </p:nvSpPr>
        <p:spPr>
          <a:xfrm>
            <a:off x="812902" y="5905195"/>
            <a:ext cx="10566806" cy="254203"/>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A </a:t>
            </a:r>
            <a:pPr indent="0" marL="0">
              <a:spcAft>
                <a:spcPts val="400"/>
              </a:spcAft>
              <a:buNone/>
            </a:pPr>
            <a:r>
              <a:rPr lang="en-US" sz="1200" b="1" dirty="0">
                <a:solidFill>
                  <a:schemeClr val="accent5"/>
                </a:solidFill>
              </a:rPr>
              <a:t>Proposed Action</a:t>
            </a:r>
            <a:pPr indent="0" marL="0">
              <a:spcAft>
                <a:spcPts val="400"/>
              </a:spcAft>
              <a:buNone/>
            </a:pPr>
            <a:r>
              <a:rPr lang="en-US" sz="1200" dirty="0">
                <a:solidFill>
                  <a:schemeClr val="accent5"/>
                </a:solidFill>
              </a:rPr>
              <a:t> is the candidate output </a:t>
            </a:r>
            <a:pPr indent="0" marL="0">
              <a:spcAft>
                <a:spcPts val="400"/>
              </a:spcAft>
              <a:buNone/>
            </a:pPr>
            <a:r>
              <a:rPr lang="en-US" sz="1200" i="1" dirty="0">
                <a:solidFill>
                  <a:schemeClr val="accent5"/>
                </a:solidFill>
              </a:rPr>
              <a:t>before</a:t>
            </a:r>
            <a:pPr indent="0" marL="0">
              <a:spcAft>
                <a:spcPts val="400"/>
              </a:spcAft>
              <a:buNone/>
            </a:pPr>
            <a:r>
              <a:rPr lang="en-US" sz="1200" dirty="0">
                <a:solidFill>
                  <a:schemeClr val="accent5"/>
                </a:solidFill>
              </a:rPr>
              <a:t> evaluation, the unit intercepted in Pillar 2.</a:t>
            </a:r>
            <a:endParaRPr lang="en-US" sz="12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PILLAR 2 · ENFORCEMENT</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Defined by requirements, not by an algorithm</a:t>
            </a:r>
            <a:endParaRPr lang="en-US" sz="2800" dirty="0"/>
          </a:p>
        </p:txBody>
      </p:sp>
      <p:sp>
        <p:nvSpPr>
          <p:cNvPr id="5" name="Text 2"/>
          <p:cNvSpPr txBox="1"/>
          <p:nvPr/>
        </p:nvSpPr>
        <p:spPr>
          <a:xfrm>
            <a:off x="812902" y="1714500"/>
            <a:ext cx="10566806" cy="381305"/>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Intent Enforcement</a:t>
            </a:r>
            <a:pPr indent="0" marL="0">
              <a:spcAft>
                <a:spcPts val="400"/>
              </a:spcAft>
              <a:buNone/>
            </a:pPr>
            <a:r>
              <a:rPr lang="en-US" sz="1400" dirty="0">
                <a:solidFill>
                  <a:schemeClr val="tx2"/>
                </a:solidFill>
              </a:rPr>
              <a:t>, realized at runtime as a </a:t>
            </a:r>
            <a:pPr indent="0" marL="0">
              <a:spcAft>
                <a:spcPts val="400"/>
              </a:spcAft>
              <a:buNone/>
            </a:pPr>
            <a:r>
              <a:rPr lang="en-US" sz="1400" b="1" dirty="0">
                <a:solidFill>
                  <a:schemeClr val="tx2"/>
                </a:solidFill>
              </a:rPr>
              <a:t>Compliance Agent</a:t>
            </a:r>
            <a:pPr indent="0" marL="0">
              <a:spcAft>
                <a:spcPts val="400"/>
              </a:spcAft>
              <a:buNone/>
            </a:pPr>
            <a:r>
              <a:rPr lang="en-US" sz="1400" dirty="0">
                <a:solidFill>
                  <a:schemeClr val="tx2"/>
                </a:solidFill>
              </a:rPr>
              <a:t>, is the structural gatekeeper. As a framework construct it is defined by four constitutive requirements.</a:t>
            </a:r>
            <a:endParaRPr lang="en-US" sz="1400" dirty="0"/>
          </a:p>
        </p:txBody>
      </p:sp>
      <p:sp>
        <p:nvSpPr>
          <p:cNvPr id="6" name="Shape 3"/>
          <p:cNvSpPr/>
          <p:nvPr/>
        </p:nvSpPr>
        <p:spPr>
          <a:xfrm>
            <a:off x="812902" y="2286000"/>
            <a:ext cx="5206594" cy="1434694"/>
          </a:xfrm>
          <a:prstGeom prst="roundRect">
            <a:avLst>
              <a:gd name="adj" fmla="val 5099"/>
            </a:avLst>
          </a:prstGeom>
          <a:solidFill>
            <a:schemeClr val="bg2"/>
          </a:solidFill>
          <a:ln w="9525">
            <a:solidFill>
              <a:schemeClr val="accent6"/>
            </a:solidFill>
            <a:prstDash val="solid"/>
          </a:ln>
        </p:spPr>
      </p:sp>
      <p:sp>
        <p:nvSpPr>
          <p:cNvPr id="7" name="Shape 4"/>
          <p:cNvSpPr/>
          <p:nvPr/>
        </p:nvSpPr>
        <p:spPr>
          <a:xfrm>
            <a:off x="812902" y="2286000"/>
            <a:ext cx="38405" cy="1434694"/>
          </a:xfrm>
          <a:prstGeom prst="rect">
            <a:avLst/>
          </a:prstGeom>
          <a:solidFill>
            <a:schemeClr val="tx1"/>
          </a:solidFill>
          <a:ln w="12700">
            <a:solidFill>
              <a:schemeClr val="tx1"/>
            </a:solidFill>
            <a:prstDash val="solid"/>
          </a:ln>
        </p:spPr>
      </p:sp>
      <p:sp>
        <p:nvSpPr>
          <p:cNvPr id="8" name="Text 5"/>
          <p:cNvSpPr txBox="1"/>
          <p:nvPr/>
        </p:nvSpPr>
        <p:spPr>
          <a:xfrm>
            <a:off x="1041502" y="2463394"/>
            <a:ext cx="4826203" cy="254203"/>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R1  </a:t>
            </a:r>
            <a:pPr indent="0" marL="0">
              <a:spcAft>
                <a:spcPts val="400"/>
              </a:spcAft>
              <a:buNone/>
            </a:pPr>
            <a:r>
              <a:rPr lang="en-US" sz="1400" b="1" dirty="0">
                <a:solidFill>
                  <a:schemeClr val="tx1"/>
                </a:solidFill>
              </a:rPr>
              <a:t>Non-bypassability</a:t>
            </a:r>
            <a:endParaRPr lang="en-US" sz="1400" dirty="0"/>
          </a:p>
        </p:txBody>
      </p:sp>
      <p:sp>
        <p:nvSpPr>
          <p:cNvPr id="9" name="Text 6"/>
          <p:cNvSpPr txBox="1"/>
          <p:nvPr/>
        </p:nvSpPr>
        <p:spPr>
          <a:xfrm>
            <a:off x="1041502" y="2794406"/>
            <a:ext cx="4826203" cy="825703"/>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Every cross-agent Proposed Action is mediated. There is no delivery path that circumvents evaluation.</a:t>
            </a:r>
            <a:endParaRPr lang="en-US" sz="1300" dirty="0"/>
          </a:p>
        </p:txBody>
      </p:sp>
      <p:sp>
        <p:nvSpPr>
          <p:cNvPr id="10" name="Shape 7"/>
          <p:cNvSpPr/>
          <p:nvPr/>
        </p:nvSpPr>
        <p:spPr>
          <a:xfrm>
            <a:off x="6172200" y="2286000"/>
            <a:ext cx="5206594" cy="1434694"/>
          </a:xfrm>
          <a:prstGeom prst="roundRect">
            <a:avLst>
              <a:gd name="adj" fmla="val 5099"/>
            </a:avLst>
          </a:prstGeom>
          <a:solidFill>
            <a:schemeClr val="bg2"/>
          </a:solidFill>
          <a:ln w="9525">
            <a:solidFill>
              <a:schemeClr val="accent6"/>
            </a:solidFill>
            <a:prstDash val="solid"/>
          </a:ln>
        </p:spPr>
      </p:sp>
      <p:sp>
        <p:nvSpPr>
          <p:cNvPr id="11" name="Shape 8"/>
          <p:cNvSpPr/>
          <p:nvPr/>
        </p:nvSpPr>
        <p:spPr>
          <a:xfrm>
            <a:off x="6172200" y="2286000"/>
            <a:ext cx="38405" cy="1434694"/>
          </a:xfrm>
          <a:prstGeom prst="rect">
            <a:avLst/>
          </a:prstGeom>
          <a:solidFill>
            <a:schemeClr val="tx1"/>
          </a:solidFill>
          <a:ln w="12700">
            <a:solidFill>
              <a:schemeClr val="tx1"/>
            </a:solidFill>
            <a:prstDash val="solid"/>
          </a:ln>
        </p:spPr>
      </p:sp>
      <p:sp>
        <p:nvSpPr>
          <p:cNvPr id="12" name="Text 9"/>
          <p:cNvSpPr txBox="1"/>
          <p:nvPr/>
        </p:nvSpPr>
        <p:spPr>
          <a:xfrm>
            <a:off x="6400800" y="2463394"/>
            <a:ext cx="4826203" cy="254203"/>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R2  </a:t>
            </a:r>
            <a:pPr indent="0" marL="0">
              <a:spcAft>
                <a:spcPts val="400"/>
              </a:spcAft>
              <a:buNone/>
            </a:pPr>
            <a:r>
              <a:rPr lang="en-US" sz="1400" b="1" dirty="0">
                <a:solidFill>
                  <a:schemeClr val="tx1"/>
                </a:solidFill>
              </a:rPr>
              <a:t>Independence</a:t>
            </a:r>
            <a:endParaRPr lang="en-US" sz="1400" dirty="0"/>
          </a:p>
        </p:txBody>
      </p:sp>
      <p:sp>
        <p:nvSpPr>
          <p:cNvPr id="13" name="Text 10"/>
          <p:cNvSpPr txBox="1"/>
          <p:nvPr/>
        </p:nvSpPr>
        <p:spPr>
          <a:xfrm>
            <a:off x="6400800" y="2794406"/>
            <a:ext cx="4826203" cy="825703"/>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The evaluator is distinct from the agent evaluated, so enforcement does not inherit the generator's stochasticity.</a:t>
            </a:r>
            <a:endParaRPr lang="en-US" sz="1300" dirty="0"/>
          </a:p>
        </p:txBody>
      </p:sp>
      <p:sp>
        <p:nvSpPr>
          <p:cNvPr id="14" name="Shape 11"/>
          <p:cNvSpPr/>
          <p:nvPr/>
        </p:nvSpPr>
        <p:spPr>
          <a:xfrm>
            <a:off x="812902" y="3873398"/>
            <a:ext cx="5206594" cy="1434694"/>
          </a:xfrm>
          <a:prstGeom prst="roundRect">
            <a:avLst>
              <a:gd name="adj" fmla="val 5099"/>
            </a:avLst>
          </a:prstGeom>
          <a:solidFill>
            <a:schemeClr val="bg2"/>
          </a:solidFill>
          <a:ln w="9525">
            <a:solidFill>
              <a:schemeClr val="accent6"/>
            </a:solidFill>
            <a:prstDash val="solid"/>
          </a:ln>
        </p:spPr>
      </p:sp>
      <p:sp>
        <p:nvSpPr>
          <p:cNvPr id="15" name="Shape 12"/>
          <p:cNvSpPr/>
          <p:nvPr/>
        </p:nvSpPr>
        <p:spPr>
          <a:xfrm>
            <a:off x="812902" y="3873398"/>
            <a:ext cx="38405" cy="1434694"/>
          </a:xfrm>
          <a:prstGeom prst="rect">
            <a:avLst/>
          </a:prstGeom>
          <a:solidFill>
            <a:schemeClr val="tx1"/>
          </a:solidFill>
          <a:ln w="12700">
            <a:solidFill>
              <a:schemeClr val="tx1"/>
            </a:solidFill>
            <a:prstDash val="solid"/>
          </a:ln>
        </p:spPr>
      </p:sp>
      <p:sp>
        <p:nvSpPr>
          <p:cNvPr id="16" name="Text 13"/>
          <p:cNvSpPr txBox="1"/>
          <p:nvPr/>
        </p:nvSpPr>
        <p:spPr>
          <a:xfrm>
            <a:off x="1041502" y="4051706"/>
            <a:ext cx="4826203" cy="254203"/>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R3  </a:t>
            </a:r>
            <a:pPr indent="0" marL="0">
              <a:spcAft>
                <a:spcPts val="400"/>
              </a:spcAft>
              <a:buNone/>
            </a:pPr>
            <a:r>
              <a:rPr lang="en-US" sz="1400" b="1" dirty="0">
                <a:solidFill>
                  <a:schemeClr val="tx1"/>
                </a:solidFill>
              </a:rPr>
              <a:t>Verdict decidability</a:t>
            </a:r>
            <a:endParaRPr lang="en-US" sz="1400" dirty="0"/>
          </a:p>
        </p:txBody>
      </p:sp>
      <p:sp>
        <p:nvSpPr>
          <p:cNvPr id="17" name="Text 14"/>
          <p:cNvSpPr txBox="1"/>
          <p:nvPr/>
        </p:nvSpPr>
        <p:spPr>
          <a:xfrm>
            <a:off x="1041502" y="4381805"/>
            <a:ext cx="4826203" cy="825703"/>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A determinate approve or block per constraint, naming the violated constraint when blocked.</a:t>
            </a:r>
            <a:endParaRPr lang="en-US" sz="1300" dirty="0"/>
          </a:p>
        </p:txBody>
      </p:sp>
      <p:sp>
        <p:nvSpPr>
          <p:cNvPr id="18" name="Shape 15"/>
          <p:cNvSpPr/>
          <p:nvPr/>
        </p:nvSpPr>
        <p:spPr>
          <a:xfrm>
            <a:off x="6172200" y="3873398"/>
            <a:ext cx="5206594" cy="1434694"/>
          </a:xfrm>
          <a:prstGeom prst="roundRect">
            <a:avLst>
              <a:gd name="adj" fmla="val 5099"/>
            </a:avLst>
          </a:prstGeom>
          <a:solidFill>
            <a:schemeClr val="bg2"/>
          </a:solidFill>
          <a:ln w="9525">
            <a:solidFill>
              <a:schemeClr val="accent6"/>
            </a:solidFill>
            <a:prstDash val="solid"/>
          </a:ln>
        </p:spPr>
      </p:sp>
      <p:sp>
        <p:nvSpPr>
          <p:cNvPr id="19" name="Shape 16"/>
          <p:cNvSpPr/>
          <p:nvPr/>
        </p:nvSpPr>
        <p:spPr>
          <a:xfrm>
            <a:off x="6172200" y="3873398"/>
            <a:ext cx="38405" cy="1434694"/>
          </a:xfrm>
          <a:prstGeom prst="rect">
            <a:avLst/>
          </a:prstGeom>
          <a:solidFill>
            <a:schemeClr val="tx1"/>
          </a:solidFill>
          <a:ln w="12700">
            <a:solidFill>
              <a:schemeClr val="tx1"/>
            </a:solidFill>
            <a:prstDash val="solid"/>
          </a:ln>
        </p:spPr>
      </p:sp>
      <p:sp>
        <p:nvSpPr>
          <p:cNvPr id="20" name="Text 17"/>
          <p:cNvSpPr txBox="1"/>
          <p:nvPr/>
        </p:nvSpPr>
        <p:spPr>
          <a:xfrm>
            <a:off x="6400800" y="4051706"/>
            <a:ext cx="4826203" cy="254203"/>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R4  </a:t>
            </a:r>
            <a:pPr indent="0" marL="0">
              <a:spcAft>
                <a:spcPts val="400"/>
              </a:spcAft>
              <a:buNone/>
            </a:pPr>
            <a:r>
              <a:rPr lang="en-US" sz="1400" b="1" dirty="0">
                <a:solidFill>
                  <a:schemeClr val="tx1"/>
                </a:solidFill>
              </a:rPr>
              <a:t>Terminating revision</a:t>
            </a:r>
            <a:endParaRPr lang="en-US" sz="1400" dirty="0"/>
          </a:p>
        </p:txBody>
      </p:sp>
      <p:sp>
        <p:nvSpPr>
          <p:cNvPr id="21" name="Text 18"/>
          <p:cNvSpPr txBox="1"/>
          <p:nvPr/>
        </p:nvSpPr>
        <p:spPr>
          <a:xfrm>
            <a:off x="6400800" y="4381805"/>
            <a:ext cx="4826203" cy="825703"/>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A bounded revision loop ending in delivery or a </a:t>
            </a:r>
            <a:pPr indent="0" marL="0">
              <a:spcAft>
                <a:spcPts val="400"/>
              </a:spcAft>
              <a:buNone/>
            </a:pPr>
            <a:r>
              <a:rPr lang="en-US" sz="1300" b="1" dirty="0">
                <a:solidFill>
                  <a:schemeClr val="tx2"/>
                </a:solidFill>
              </a:rPr>
              <a:t>recorded forced block</a:t>
            </a:r>
            <a:pPr indent="0" marL="0">
              <a:spcAft>
                <a:spcPts val="400"/>
              </a:spcAft>
              <a:buNone/>
            </a:pPr>
            <a:r>
              <a:rPr lang="en-US" sz="1300" dirty="0">
                <a:solidFill>
                  <a:schemeClr val="tx2"/>
                </a:solidFill>
              </a:rPr>
              <a:t>, never in an unrecorded pass.</a:t>
            </a:r>
            <a:endParaRPr lang="en-US" sz="1300" dirty="0"/>
          </a:p>
        </p:txBody>
      </p:sp>
      <p:sp>
        <p:nvSpPr>
          <p:cNvPr id="22" name="Text 19"/>
          <p:cNvSpPr txBox="1"/>
          <p:nvPr/>
        </p:nvSpPr>
        <p:spPr>
          <a:xfrm>
            <a:off x="812902" y="5651906"/>
            <a:ext cx="10566806" cy="317297"/>
          </a:xfrm>
          <a:prstGeom prst="rect">
            <a:avLst/>
          </a:prstGeom>
          <a:noFill/>
          <a:ln/>
        </p:spPr>
        <p:txBody>
          <a:bodyPr wrap="square" lIns="0" tIns="0" rIns="0" bIns="0" rtlCol="0" anchor="t"/>
          <a:lstStyle/>
          <a:p>
            <a:pPr algn="ctr" indent="0" marL="0">
              <a:spcAft>
                <a:spcPts val="400"/>
              </a:spcAft>
              <a:buNone/>
            </a:pPr>
            <a:r>
              <a:rPr lang="en-US" sz="1200" i="1" dirty="0">
                <a:solidFill>
                  <a:schemeClr val="accent5"/>
                </a:solidFill>
              </a:rPr>
              <a:t>How</a:t>
            </a:r>
            <a:pPr algn="ctr" indent="0" marL="0">
              <a:spcAft>
                <a:spcPts val="400"/>
              </a:spcAft>
              <a:buNone/>
            </a:pPr>
            <a:r>
              <a:rPr lang="en-US" sz="1200" dirty="0">
                <a:solidFill>
                  <a:schemeClr val="accent5"/>
                </a:solidFill>
              </a:rPr>
              <a:t> a deployment discharges R1 to R4, by deterministic predicates, a semantic classifier, or a hybrid, is an implementation concern.</a:t>
            </a:r>
            <a:endParaRPr lang="en-US" sz="12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PILLAR 2 · WORKED EXAMPLE</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From risk parameter to verdict</a:t>
            </a:r>
            <a:endParaRPr lang="en-US" sz="2800" dirty="0"/>
          </a:p>
        </p:txBody>
      </p:sp>
      <p:sp>
        <p:nvSpPr>
          <p:cNvPr id="5" name="Shape 2"/>
          <p:cNvSpPr/>
          <p:nvPr/>
        </p:nvSpPr>
        <p:spPr>
          <a:xfrm>
            <a:off x="812902" y="1904695"/>
            <a:ext cx="3200400" cy="1714500"/>
          </a:xfrm>
          <a:prstGeom prst="roundRect">
            <a:avLst>
              <a:gd name="adj" fmla="val 4267"/>
            </a:avLst>
          </a:prstGeom>
          <a:solidFill>
            <a:schemeClr val="tx1"/>
          </a:solidFill>
          <a:ln w="12700">
            <a:solidFill>
              <a:schemeClr val="tx1"/>
            </a:solidFill>
            <a:prstDash val="solid"/>
          </a:ln>
        </p:spPr>
      </p:sp>
      <p:sp>
        <p:nvSpPr>
          <p:cNvPr id="6" name="Text 3"/>
          <p:cNvSpPr txBox="1"/>
          <p:nvPr/>
        </p:nvSpPr>
        <p:spPr>
          <a:xfrm>
            <a:off x="1041502" y="2083003"/>
            <a:ext cx="2794406" cy="254203"/>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Mandate</a:t>
            </a:r>
            <a:endParaRPr lang="en-US" sz="1400" dirty="0"/>
          </a:p>
        </p:txBody>
      </p:sp>
      <p:sp>
        <p:nvSpPr>
          <p:cNvPr id="7" name="Text 4"/>
          <p:cNvSpPr txBox="1"/>
          <p:nvPr/>
        </p:nvSpPr>
        <p:spPr>
          <a:xfrm>
            <a:off x="1041502" y="2413102"/>
            <a:ext cx="2794406" cy="1079906"/>
          </a:xfrm>
          <a:prstGeom prst="rect">
            <a:avLst/>
          </a:prstGeom>
          <a:noFill/>
          <a:ln/>
        </p:spPr>
        <p:txBody>
          <a:bodyPr wrap="square" lIns="0" tIns="0" rIns="0" bIns="0" rtlCol="0" anchor="t"/>
          <a:lstStyle/>
          <a:p>
            <a:pPr indent="0" marL="0">
              <a:spcAft>
                <a:spcPts val="400"/>
              </a:spcAft>
              <a:buNone/>
            </a:pPr>
            <a:r>
              <a:rPr lang="en-US" sz="1300" i="1" dirty="0">
                <a:solidFill>
                  <a:srgbClr val="F7F5EF"/>
                </a:solidFill>
              </a:rPr>
              <a:t>max_allocation = 0.15</a:t>
            </a:r>
            <a:endParaRPr lang="en-US" sz="1300" dirty="0"/>
          </a:p>
          <a:p>
            <a:pPr indent="0" marL="0">
              <a:spcAft>
                <a:spcPts val="400"/>
              </a:spcAft>
              <a:buNone/>
            </a:pPr>
            <a:r>
              <a:rPr lang="en-US" sz="1300" i="1" dirty="0">
                <a:solidFill>
                  <a:srgbClr val="F7F5EF"/>
                </a:solidFill>
              </a:rPr>
              <a:t>instantiates</a:t>
            </a:r>
            <a:endParaRPr lang="en-US" sz="1300" dirty="0"/>
          </a:p>
          <a:p>
            <a:pPr indent="0" marL="0">
              <a:spcAft>
                <a:spcPts val="400"/>
              </a:spcAft>
              <a:buNone/>
            </a:pPr>
            <a:r>
              <a:rPr lang="en-US" sz="1300" i="1" dirty="0">
                <a:solidFill>
                  <a:srgbClr val="F7F5EF"/>
                </a:solidFill>
              </a:rPr>
              <a:t>φ ≡ (allocation &gt; 0.15)</a:t>
            </a:r>
            <a:endParaRPr lang="en-US" sz="1300" dirty="0"/>
          </a:p>
        </p:txBody>
      </p:sp>
      <p:sp>
        <p:nvSpPr>
          <p:cNvPr id="8" name="Shape 5"/>
          <p:cNvSpPr/>
          <p:nvPr/>
        </p:nvSpPr>
        <p:spPr>
          <a:xfrm>
            <a:off x="4076395" y="2667305"/>
            <a:ext cx="355702" cy="228600"/>
          </a:xfrm>
          <a:prstGeom prst="rightArrow">
            <a:avLst/>
          </a:prstGeom>
          <a:solidFill>
            <a:schemeClr val="accent1"/>
          </a:solidFill>
          <a:ln w="12700">
            <a:solidFill>
              <a:schemeClr val="accent1"/>
            </a:solidFill>
            <a:prstDash val="solid"/>
          </a:ln>
        </p:spPr>
      </p:sp>
      <p:sp>
        <p:nvSpPr>
          <p:cNvPr id="9" name="Shape 6"/>
          <p:cNvSpPr/>
          <p:nvPr/>
        </p:nvSpPr>
        <p:spPr>
          <a:xfrm>
            <a:off x="4496105" y="1904695"/>
            <a:ext cx="3200400" cy="1714500"/>
          </a:xfrm>
          <a:prstGeom prst="roundRect">
            <a:avLst>
              <a:gd name="adj" fmla="val 4267"/>
            </a:avLst>
          </a:prstGeom>
          <a:solidFill>
            <a:schemeClr val="bg2"/>
          </a:solidFill>
          <a:ln w="19050">
            <a:solidFill>
              <a:schemeClr val="tx1"/>
            </a:solidFill>
            <a:prstDash val="solid"/>
          </a:ln>
        </p:spPr>
      </p:sp>
      <p:sp>
        <p:nvSpPr>
          <p:cNvPr id="10" name="Text 7"/>
          <p:cNvSpPr txBox="1"/>
          <p:nvPr/>
        </p:nvSpPr>
        <p:spPr>
          <a:xfrm>
            <a:off x="4724705" y="2083003"/>
            <a:ext cx="2794406" cy="254203"/>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Proposed Action</a:t>
            </a:r>
            <a:endParaRPr lang="en-US" sz="1400" dirty="0"/>
          </a:p>
        </p:txBody>
      </p:sp>
      <p:sp>
        <p:nvSpPr>
          <p:cNvPr id="11" name="Text 8"/>
          <p:cNvSpPr txBox="1"/>
          <p:nvPr/>
        </p:nvSpPr>
        <p:spPr>
          <a:xfrm>
            <a:off x="4724705" y="2413102"/>
            <a:ext cx="2794406" cy="1079906"/>
          </a:xfrm>
          <a:prstGeom prst="rect">
            <a:avLst/>
          </a:prstGeom>
          <a:noFill/>
          <a:ln/>
        </p:spPr>
        <p:txBody>
          <a:bodyPr wrap="square" lIns="0" tIns="0" rIns="0" bIns="0" rtlCol="0" anchor="t"/>
          <a:lstStyle/>
          <a:p>
            <a:pPr indent="0" marL="0">
              <a:spcAft>
                <a:spcPts val="400"/>
              </a:spcAft>
              <a:buNone/>
            </a:pPr>
            <a:r>
              <a:rPr lang="en-US" sz="1300" i="1" dirty="0">
                <a:solidFill>
                  <a:schemeClr val="tx2"/>
                </a:solidFill>
              </a:rPr>
              <a:t>Materials Agent emits</a:t>
            </a:r>
            <a:endParaRPr lang="en-US" sz="1300" dirty="0"/>
          </a:p>
          <a:p>
            <a:pPr indent="0" marL="0">
              <a:spcAft>
                <a:spcPts val="400"/>
              </a:spcAft>
              <a:buNone/>
            </a:pPr>
            <a:r>
              <a:rPr lang="en-US" sz="1300" i="1" dirty="0">
                <a:solidFill>
                  <a:schemeClr val="tx2"/>
                </a:solidFill>
              </a:rPr>
              <a:t>allocation = 0.18</a:t>
            </a:r>
            <a:endParaRPr lang="en-US" sz="1300" dirty="0"/>
          </a:p>
        </p:txBody>
      </p:sp>
      <p:sp>
        <p:nvSpPr>
          <p:cNvPr id="12" name="Shape 9"/>
          <p:cNvSpPr/>
          <p:nvPr/>
        </p:nvSpPr>
        <p:spPr>
          <a:xfrm>
            <a:off x="7759598" y="2667305"/>
            <a:ext cx="355702" cy="228600"/>
          </a:xfrm>
          <a:prstGeom prst="rightArrow">
            <a:avLst/>
          </a:prstGeom>
          <a:solidFill>
            <a:schemeClr val="accent1"/>
          </a:solidFill>
          <a:ln w="12700">
            <a:solidFill>
              <a:schemeClr val="accent1"/>
            </a:solidFill>
            <a:prstDash val="solid"/>
          </a:ln>
        </p:spPr>
      </p:sp>
      <p:sp>
        <p:nvSpPr>
          <p:cNvPr id="13" name="Shape 10"/>
          <p:cNvSpPr/>
          <p:nvPr/>
        </p:nvSpPr>
        <p:spPr>
          <a:xfrm>
            <a:off x="8178394" y="1904695"/>
            <a:ext cx="3200400" cy="1714500"/>
          </a:xfrm>
          <a:prstGeom prst="roundRect">
            <a:avLst>
              <a:gd name="adj" fmla="val 4267"/>
            </a:avLst>
          </a:prstGeom>
          <a:solidFill>
            <a:schemeClr val="bg2"/>
          </a:solidFill>
          <a:ln w="19050">
            <a:solidFill>
              <a:schemeClr val="accent4"/>
            </a:solidFill>
            <a:prstDash val="solid"/>
          </a:ln>
        </p:spPr>
      </p:sp>
      <p:sp>
        <p:nvSpPr>
          <p:cNvPr id="14" name="Text 11"/>
          <p:cNvSpPr txBox="1"/>
          <p:nvPr/>
        </p:nvSpPr>
        <p:spPr>
          <a:xfrm>
            <a:off x="8406994" y="2083003"/>
            <a:ext cx="2794406" cy="254203"/>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Compliance Verdict</a:t>
            </a:r>
            <a:endParaRPr lang="en-US" sz="1400" dirty="0"/>
          </a:p>
        </p:txBody>
      </p:sp>
      <p:sp>
        <p:nvSpPr>
          <p:cNvPr id="15" name="Text 12"/>
          <p:cNvSpPr txBox="1"/>
          <p:nvPr/>
        </p:nvSpPr>
        <p:spPr>
          <a:xfrm>
            <a:off x="8406994" y="2413102"/>
            <a:ext cx="2794406" cy="1079906"/>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φ satisfied ⇒ </a:t>
            </a:r>
            <a:pPr indent="0" marL="0">
              <a:spcAft>
                <a:spcPts val="400"/>
              </a:spcAft>
              <a:buNone/>
            </a:pPr>
            <a:r>
              <a:rPr lang="en-US" sz="1300" b="1" dirty="0">
                <a:solidFill>
                  <a:schemeClr val="accent4"/>
                </a:solidFill>
              </a:rPr>
              <a:t>blocked</a:t>
            </a:r>
            <a:pPr indent="0" marL="0">
              <a:spcAft>
                <a:spcPts val="400"/>
              </a:spcAft>
              <a:buNone/>
            </a:pPr>
            <a:endParaRPr lang="en-US" sz="1300" dirty="0"/>
          </a:p>
          <a:p>
            <a:pPr indent="0" marL="0">
              <a:spcAft>
                <a:spcPts val="400"/>
              </a:spcAft>
              <a:buNone/>
            </a:pPr>
            <a:r>
              <a:rPr lang="en-US" sz="1300" dirty="0">
                <a:solidFill>
                  <a:schemeClr val="tx2"/>
                </a:solidFill>
              </a:rPr>
              <a:t>names the constraint,</a:t>
            </a:r>
            <a:endParaRPr lang="en-US" sz="1300" dirty="0"/>
          </a:p>
          <a:p>
            <a:pPr indent="0" marL="0">
              <a:spcAft>
                <a:spcPts val="400"/>
              </a:spcAft>
              <a:buNone/>
            </a:pPr>
            <a:r>
              <a:rPr lang="en-US" sz="1300" dirty="0">
                <a:solidFill>
                  <a:schemeClr val="tx2"/>
                </a:solidFill>
              </a:rPr>
              <a:t>returns a revision directive</a:t>
            </a:r>
            <a:endParaRPr lang="en-US" sz="1300" dirty="0"/>
          </a:p>
        </p:txBody>
      </p:sp>
      <p:sp>
        <p:nvSpPr>
          <p:cNvPr id="16" name="Shape 13"/>
          <p:cNvSpPr/>
          <p:nvPr/>
        </p:nvSpPr>
        <p:spPr>
          <a:xfrm>
            <a:off x="812902" y="4190695"/>
            <a:ext cx="10566806" cy="1587398"/>
          </a:xfrm>
          <a:prstGeom prst="roundRect">
            <a:avLst>
              <a:gd name="adj" fmla="val 4608"/>
            </a:avLst>
          </a:prstGeom>
          <a:solidFill>
            <a:schemeClr val="bg2"/>
          </a:solidFill>
          <a:ln w="9525">
            <a:solidFill>
              <a:schemeClr val="accent6"/>
            </a:solidFill>
            <a:prstDash val="solid"/>
          </a:ln>
        </p:spPr>
      </p:sp>
      <p:sp>
        <p:nvSpPr>
          <p:cNvPr id="17" name="Shape 14"/>
          <p:cNvSpPr/>
          <p:nvPr/>
        </p:nvSpPr>
        <p:spPr>
          <a:xfrm>
            <a:off x="812902" y="4190695"/>
            <a:ext cx="38405" cy="1587398"/>
          </a:xfrm>
          <a:prstGeom prst="rect">
            <a:avLst/>
          </a:prstGeom>
          <a:solidFill>
            <a:schemeClr val="accent1"/>
          </a:solidFill>
          <a:ln w="12700">
            <a:solidFill>
              <a:schemeClr val="accent1"/>
            </a:solidFill>
            <a:prstDash val="solid"/>
          </a:ln>
        </p:spPr>
      </p:sp>
      <p:sp>
        <p:nvSpPr>
          <p:cNvPr id="18" name="Text 15"/>
          <p:cNvSpPr txBox="1"/>
          <p:nvPr/>
        </p:nvSpPr>
        <p:spPr>
          <a:xfrm>
            <a:off x="1041502" y="4343400"/>
            <a:ext cx="10159898" cy="2286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Why this matters for the model</a:t>
            </a:r>
            <a:endParaRPr lang="en-US" sz="1400" dirty="0"/>
          </a:p>
        </p:txBody>
      </p:sp>
      <p:sp>
        <p:nvSpPr>
          <p:cNvPr id="19" name="Text 16"/>
          <p:cNvSpPr txBox="1"/>
          <p:nvPr/>
        </p:nvSpPr>
        <p:spPr>
          <a:xfrm>
            <a:off x="1041502" y="4623206"/>
            <a:ext cx="10159898" cy="1015898"/>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The risk parameter supplies the </a:t>
            </a:r>
            <a:pPr indent="0" marL="0">
              <a:spcAft>
                <a:spcPts val="400"/>
              </a:spcAft>
              <a:buNone/>
            </a:pPr>
            <a:r>
              <a:rPr lang="en-US" sz="1300" b="1" dirty="0">
                <a:solidFill>
                  <a:schemeClr val="tx2"/>
                </a:solidFill>
              </a:rPr>
              <a:t>threshold</a:t>
            </a:r>
            <a:pPr indent="0" marL="0">
              <a:spcAft>
                <a:spcPts val="400"/>
              </a:spcAft>
              <a:buNone/>
            </a:pPr>
            <a:r>
              <a:rPr lang="en-US" sz="1300" dirty="0">
                <a:solidFill>
                  <a:schemeClr val="tx2"/>
                </a:solidFill>
              </a:rPr>
              <a:t>; the deontic type F supplies the </a:t>
            </a:r>
            <a:pPr indent="0" marL="0">
              <a:spcAft>
                <a:spcPts val="400"/>
              </a:spcAft>
              <a:buNone/>
            </a:pPr>
            <a:r>
              <a:rPr lang="en-US" sz="1300" b="1" dirty="0">
                <a:solidFill>
                  <a:schemeClr val="tx2"/>
                </a:solidFill>
              </a:rPr>
              <a:t>polarity</a:t>
            </a:r>
            <a:pPr indent="0" marL="0">
              <a:spcAft>
                <a:spcPts val="400"/>
              </a:spcAft>
              <a:buNone/>
            </a:pPr>
            <a:r>
              <a:rPr lang="en-US" sz="1300" dirty="0">
                <a:solidFill>
                  <a:schemeClr val="tx2"/>
                </a:solidFill>
              </a:rPr>
              <a:t>. Together they make the boundary predicate </a:t>
            </a:r>
            <a:pPr indent="0" marL="0">
              <a:spcAft>
                <a:spcPts val="400"/>
              </a:spcAft>
              <a:buNone/>
            </a:pPr>
            <a:r>
              <a:rPr lang="en-US" sz="1300" b="1" dirty="0">
                <a:solidFill>
                  <a:schemeClr val="tx2"/>
                </a:solidFill>
              </a:rPr>
              <a:t>decidable at runtime</a:t>
            </a:r>
            <a:pPr indent="0" marL="0">
              <a:spcAft>
                <a:spcPts val="400"/>
              </a:spcAft>
              <a:buNone/>
            </a:pPr>
            <a:r>
              <a:rPr lang="en-US" sz="1300" dirty="0">
                <a:solidFill>
                  <a:schemeClr val="tx2"/>
                </a:solidFill>
              </a:rPr>
              <a:t>. Risk parameters are not free-standing numbers but the operands of enforcement.</a:t>
            </a:r>
            <a:endParaRPr lang="en-US" sz="13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PILLAR 3 · AUDITABILITY</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Evidence, not logging</a:t>
            </a:r>
            <a:endParaRPr lang="en-US" sz="2800" dirty="0"/>
          </a:p>
        </p:txBody>
      </p:sp>
      <p:sp>
        <p:nvSpPr>
          <p:cNvPr id="5" name="Text 2"/>
          <p:cNvSpPr txBox="1"/>
          <p:nvPr/>
        </p:nvSpPr>
        <p:spPr>
          <a:xfrm>
            <a:off x="812902" y="1714500"/>
            <a:ext cx="10566806" cy="254203"/>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The </a:t>
            </a:r>
            <a:pPr indent="0" marL="0">
              <a:spcAft>
                <a:spcPts val="400"/>
              </a:spcAft>
              <a:buNone/>
            </a:pPr>
            <a:r>
              <a:rPr lang="en-US" sz="1400" b="1" dirty="0">
                <a:solidFill>
                  <a:schemeClr val="tx2"/>
                </a:solidFill>
              </a:rPr>
              <a:t>Accountability Trace</a:t>
            </a:r>
            <a:pPr indent="0" marL="0">
              <a:spcAft>
                <a:spcPts val="400"/>
              </a:spcAft>
              <a:buNone/>
            </a:pPr>
            <a:r>
              <a:rPr lang="en-US" sz="1400" dirty="0">
                <a:solidFill>
                  <a:schemeClr val="tx2"/>
                </a:solidFill>
              </a:rPr>
              <a:t> is a UFO </a:t>
            </a:r>
            <a:pPr indent="0" marL="0">
              <a:spcAft>
                <a:spcPts val="400"/>
              </a:spcAft>
              <a:buNone/>
            </a:pPr>
            <a:r>
              <a:rPr lang="en-US" sz="1400" i="1" dirty="0">
                <a:solidFill>
                  <a:schemeClr val="tx2"/>
                </a:solidFill>
              </a:rPr>
              <a:t>situation</a:t>
            </a:r>
            <a:pPr indent="0" marL="0">
              <a:spcAft>
                <a:spcPts val="400"/>
              </a:spcAft>
              <a:buNone/>
            </a:pPr>
            <a:r>
              <a:rPr lang="en-US" sz="1400" dirty="0">
                <a:solidFill>
                  <a:schemeClr val="tx2"/>
                </a:solidFill>
              </a:rPr>
              <a:t> aggregating the Log Entries of a complete session:</a:t>
            </a:r>
            <a:endParaRPr lang="en-US" sz="1400" dirty="0"/>
          </a:p>
        </p:txBody>
      </p:sp>
      <p:sp>
        <p:nvSpPr>
          <p:cNvPr id="6" name="Shape 3"/>
          <p:cNvSpPr/>
          <p:nvPr/>
        </p:nvSpPr>
        <p:spPr>
          <a:xfrm>
            <a:off x="812902" y="2063801"/>
            <a:ext cx="10566806" cy="508406"/>
          </a:xfrm>
          <a:prstGeom prst="roundRect">
            <a:avLst>
              <a:gd name="adj" fmla="val 14389"/>
            </a:avLst>
          </a:prstGeom>
          <a:solidFill>
            <a:schemeClr val="bg2"/>
          </a:solidFill>
          <a:ln w="9525">
            <a:solidFill>
              <a:schemeClr val="accent6"/>
            </a:solidFill>
            <a:prstDash val="solid"/>
          </a:ln>
        </p:spPr>
      </p:sp>
      <p:sp>
        <p:nvSpPr>
          <p:cNvPr id="7" name="Text 4"/>
          <p:cNvSpPr txBox="1"/>
          <p:nvPr/>
        </p:nvSpPr>
        <p:spPr>
          <a:xfrm>
            <a:off x="940003" y="2126894"/>
            <a:ext cx="10312603" cy="381305"/>
          </a:xfrm>
          <a:prstGeom prst="rect">
            <a:avLst/>
          </a:prstGeom>
          <a:noFill/>
          <a:ln/>
        </p:spPr>
        <p:txBody>
          <a:bodyPr wrap="square" lIns="0" tIns="0" rIns="0" bIns="0" rtlCol="0" anchor="ctr"/>
          <a:lstStyle/>
          <a:p>
            <a:pPr algn="ctr" indent="0" marL="0">
              <a:spcAft>
                <a:spcPts val="400"/>
              </a:spcAft>
              <a:buNone/>
            </a:pPr>
            <a:r>
              <a:rPr lang="en-US" sz="1800" i="1" dirty="0">
                <a:solidFill>
                  <a:schemeClr val="tx1"/>
                </a:solidFill>
                <a:latin typeface="Cambria" pitchFamily="34" charset="0"/>
                <a:ea typeface="Cambria" pitchFamily="34" charset="-122"/>
                <a:cs typeface="Cambria" pitchFamily="34" charset="-120"/>
              </a:rPr>
              <a:t>T(s) = ⟨ l₁, …, lₙ ⟩     closed under each lᵢ's references to its Proposed Action and Mandate</a:t>
            </a:r>
            <a:endParaRPr lang="en-US" sz="1800" dirty="0"/>
          </a:p>
        </p:txBody>
      </p:sp>
      <p:sp>
        <p:nvSpPr>
          <p:cNvPr id="8" name="Shape 5"/>
          <p:cNvSpPr/>
          <p:nvPr/>
        </p:nvSpPr>
        <p:spPr>
          <a:xfrm>
            <a:off x="812902" y="2794406"/>
            <a:ext cx="5181905" cy="2540203"/>
          </a:xfrm>
          <a:prstGeom prst="roundRect">
            <a:avLst>
              <a:gd name="adj" fmla="val 2880"/>
            </a:avLst>
          </a:prstGeom>
          <a:solidFill>
            <a:schemeClr val="tx1"/>
          </a:solidFill>
          <a:ln w="12700">
            <a:solidFill>
              <a:schemeClr val="tx1"/>
            </a:solidFill>
            <a:prstDash val="solid"/>
          </a:ln>
        </p:spPr>
      </p:sp>
      <p:sp>
        <p:nvSpPr>
          <p:cNvPr id="9" name="Text 6"/>
          <p:cNvSpPr txBox="1"/>
          <p:nvPr/>
        </p:nvSpPr>
        <p:spPr>
          <a:xfrm>
            <a:off x="1041502" y="2971800"/>
            <a:ext cx="4762195" cy="228600"/>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Two well-formedness conditions</a:t>
            </a:r>
            <a:endParaRPr lang="en-US" sz="1400" dirty="0"/>
          </a:p>
        </p:txBody>
      </p:sp>
      <p:sp>
        <p:nvSpPr>
          <p:cNvPr id="10" name="Text 7"/>
          <p:cNvSpPr txBox="1"/>
          <p:nvPr/>
        </p:nvSpPr>
        <p:spPr>
          <a:xfrm>
            <a:off x="1041502" y="3276295"/>
            <a:ext cx="4762195" cy="1904695"/>
          </a:xfrm>
          <a:prstGeom prst="rect">
            <a:avLst/>
          </a:prstGeom>
          <a:noFill/>
          <a:ln/>
        </p:spPr>
        <p:txBody>
          <a:bodyPr wrap="square" lIns="0" tIns="0" rIns="0" bIns="0" rtlCol="0" anchor="t"/>
          <a:lstStyle/>
          <a:p>
            <a:pPr indent="0" marL="0">
              <a:spcAft>
                <a:spcPts val="400"/>
              </a:spcAft>
              <a:buNone/>
            </a:pPr>
            <a:r>
              <a:rPr lang="en-US" sz="1300" b="1" dirty="0">
                <a:solidFill>
                  <a:srgbClr val="F7F5EF"/>
                </a:solidFill>
              </a:rPr>
              <a:t>WFC-1</a:t>
            </a:r>
            <a:pPr indent="0" marL="0">
              <a:spcAft>
                <a:spcPts val="400"/>
              </a:spcAft>
              <a:buNone/>
            </a:pPr>
            <a:r>
              <a:rPr lang="en-US" sz="1300" dirty="0">
                <a:solidFill>
                  <a:srgbClr val="F7F5EF"/>
                </a:solidFill>
              </a:rPr>
              <a:t>  Every Compliance Verdict is recorded in exactly one Log Entry. No evaluation is unlogged.</a:t>
            </a:r>
            <a:endParaRPr lang="en-US" sz="1300" dirty="0"/>
          </a:p>
          <a:p>
            <a:pPr indent="0" marL="0">
              <a:spcAft>
                <a:spcPts val="400"/>
              </a:spcAft>
              <a:buNone/>
            </a:pPr>
            <a:endParaRPr lang="en-US" sz="1300" dirty="0"/>
          </a:p>
          <a:p>
            <a:pPr indent="0" marL="0">
              <a:spcAft>
                <a:spcPts val="400"/>
              </a:spcAft>
              <a:buNone/>
            </a:pPr>
            <a:r>
              <a:rPr lang="en-US" sz="1300" b="1" dirty="0">
                <a:solidFill>
                  <a:srgbClr val="F7F5EF"/>
                </a:solidFill>
              </a:rPr>
              <a:t>WFC-2</a:t>
            </a:r>
            <a:pPr indent="0" marL="0">
              <a:spcAft>
                <a:spcPts val="400"/>
              </a:spcAft>
              <a:buNone/>
            </a:pPr>
            <a:r>
              <a:rPr lang="en-US" sz="1300" dirty="0">
                <a:solidFill>
                  <a:srgbClr val="F7F5EF"/>
                </a:solidFill>
              </a:rPr>
              <a:t>  A completed session's Trace has a Log Entry for every cross-agent Proposed Action. No action unaccounted for.</a:t>
            </a:r>
            <a:endParaRPr lang="en-US" sz="1300" dirty="0"/>
          </a:p>
        </p:txBody>
      </p:sp>
      <p:sp>
        <p:nvSpPr>
          <p:cNvPr id="11" name="Shape 8"/>
          <p:cNvSpPr/>
          <p:nvPr/>
        </p:nvSpPr>
        <p:spPr>
          <a:xfrm>
            <a:off x="6197803" y="2794406"/>
            <a:ext cx="5181905" cy="2540203"/>
          </a:xfrm>
          <a:prstGeom prst="roundRect">
            <a:avLst>
              <a:gd name="adj" fmla="val 2880"/>
            </a:avLst>
          </a:prstGeom>
          <a:solidFill>
            <a:schemeClr val="bg2"/>
          </a:solidFill>
          <a:ln w="9525">
            <a:solidFill>
              <a:schemeClr val="accent6"/>
            </a:solidFill>
            <a:prstDash val="solid"/>
          </a:ln>
        </p:spPr>
      </p:sp>
      <p:sp>
        <p:nvSpPr>
          <p:cNvPr id="12" name="Text 9"/>
          <p:cNvSpPr txBox="1"/>
          <p:nvPr/>
        </p:nvSpPr>
        <p:spPr>
          <a:xfrm>
            <a:off x="6426403" y="2971800"/>
            <a:ext cx="4762195" cy="2286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Why this is structural</a:t>
            </a:r>
            <a:endParaRPr lang="en-US" sz="1400" dirty="0"/>
          </a:p>
        </p:txBody>
      </p:sp>
      <p:sp>
        <p:nvSpPr>
          <p:cNvPr id="13" name="Text 10"/>
          <p:cNvSpPr txBox="1"/>
          <p:nvPr/>
        </p:nvSpPr>
        <p:spPr>
          <a:xfrm>
            <a:off x="6426403" y="3276295"/>
            <a:ext cx="4762195" cy="1904695"/>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A conventional audit log may be absent, partial or edited after the fact without violating any model constraint.</a:t>
            </a:r>
            <a:endParaRPr lang="en-US" sz="1300" dirty="0"/>
          </a:p>
          <a:p>
            <a:pPr indent="0" marL="0">
              <a:spcAft>
                <a:spcPts val="400"/>
              </a:spcAft>
              <a:buNone/>
            </a:pPr>
            <a:endParaRPr lang="en-US" sz="1300" dirty="0"/>
          </a:p>
          <a:p>
            <a:pPr indent="0" marL="0">
              <a:spcAft>
                <a:spcPts val="400"/>
              </a:spcAft>
              <a:buNone/>
            </a:pPr>
            <a:r>
              <a:rPr lang="en-US" sz="1300" dirty="0">
                <a:solidFill>
                  <a:schemeClr val="tx2"/>
                </a:solidFill>
              </a:rPr>
              <a:t>Here a session missing a Log Entry is </a:t>
            </a:r>
            <a:pPr indent="0" marL="0">
              <a:spcAft>
                <a:spcPts val="400"/>
              </a:spcAft>
              <a:buNone/>
            </a:pPr>
            <a:r>
              <a:rPr lang="en-US" sz="1300" b="1" dirty="0">
                <a:solidFill>
                  <a:schemeClr val="tx2"/>
                </a:solidFill>
              </a:rPr>
              <a:t>ill-formed by definition</a:t>
            </a:r>
            <a:pPr indent="0" marL="0">
              <a:spcAft>
                <a:spcPts val="400"/>
              </a:spcAft>
              <a:buNone/>
            </a:pPr>
            <a:r>
              <a:rPr lang="en-US" sz="1300" dirty="0">
                <a:solidFill>
                  <a:schemeClr val="tx2"/>
                </a:solidFill>
              </a:rPr>
              <a:t>. Because the Trace derives from the </a:t>
            </a:r>
            <a:pPr indent="0" marL="0">
              <a:spcAft>
                <a:spcPts val="400"/>
              </a:spcAft>
              <a:buNone/>
            </a:pPr>
            <a:r>
              <a:rPr lang="en-US" sz="1300" i="1" dirty="0">
                <a:solidFill>
                  <a:schemeClr val="tx2"/>
                </a:solidFill>
              </a:rPr>
              <a:t>same</a:t>
            </a:r>
            <a:pPr indent="0" marL="0">
              <a:spcAft>
                <a:spcPts val="400"/>
              </a:spcAft>
              <a:buNone/>
            </a:pPr>
            <a:r>
              <a:rPr lang="en-US" sz="1300" dirty="0">
                <a:solidFill>
                  <a:schemeClr val="tx2"/>
                </a:solidFill>
              </a:rPr>
              <a:t> verdicts that gate delivery, the record </a:t>
            </a:r>
            <a:pPr indent="0" marL="0">
              <a:spcAft>
                <a:spcPts val="400"/>
              </a:spcAft>
              <a:buNone/>
            </a:pPr>
            <a:r>
              <a:rPr lang="en-US" sz="1300" b="1" dirty="0">
                <a:solidFill>
                  <a:schemeClr val="tx2"/>
                </a:solidFill>
              </a:rPr>
              <a:t>cannot diverge</a:t>
            </a:r>
            <a:pPr indent="0" marL="0">
              <a:spcAft>
                <a:spcPts val="400"/>
              </a:spcAft>
              <a:buNone/>
            </a:pPr>
            <a:r>
              <a:rPr lang="en-US" sz="1300" dirty="0">
                <a:solidFill>
                  <a:schemeClr val="tx2"/>
                </a:solidFill>
              </a:rPr>
              <a:t> from what was enforced.</a:t>
            </a:r>
            <a:endParaRPr lang="en-US" sz="1300" dirty="0"/>
          </a:p>
        </p:txBody>
      </p:sp>
      <p:sp>
        <p:nvSpPr>
          <p:cNvPr id="14" name="Text 11"/>
          <p:cNvSpPr txBox="1"/>
          <p:nvPr/>
        </p:nvSpPr>
        <p:spPr>
          <a:xfrm>
            <a:off x="812902" y="5587898"/>
            <a:ext cx="10566806" cy="317297"/>
          </a:xfrm>
          <a:prstGeom prst="rect">
            <a:avLst/>
          </a:prstGeom>
          <a:noFill/>
          <a:ln/>
        </p:spPr>
        <p:txBody>
          <a:bodyPr wrap="square" lIns="0" tIns="0" rIns="0" bIns="0" rtlCol="0" anchor="t"/>
          <a:lstStyle/>
          <a:p>
            <a:pPr algn="ctr" indent="0" marL="0">
              <a:spcAft>
                <a:spcPts val="400"/>
              </a:spcAft>
              <a:buNone/>
            </a:pPr>
            <a:r>
              <a:rPr lang="en-US" sz="1400" b="1" dirty="0">
                <a:solidFill>
                  <a:schemeClr val="tx1"/>
                </a:solidFill>
              </a:rPr>
              <a:t>Auditability is a </a:t>
            </a:r>
            <a:pPr algn="ctr" indent="0" marL="0">
              <a:spcAft>
                <a:spcPts val="400"/>
              </a:spcAft>
              <a:buNone/>
            </a:pPr>
            <a:r>
              <a:rPr lang="en-US" sz="1400" b="1" i="1" dirty="0">
                <a:solidFill>
                  <a:schemeClr val="tx1"/>
                </a:solidFill>
              </a:rPr>
              <a:t>consequence</a:t>
            </a:r>
            <a:pPr algn="ctr" indent="0" marL="0">
              <a:spcAft>
                <a:spcPts val="400"/>
              </a:spcAft>
              <a:buNone/>
            </a:pPr>
            <a:r>
              <a:rPr lang="en-US" sz="1400" b="1" dirty="0">
                <a:solidFill>
                  <a:schemeClr val="tx1"/>
                </a:solidFill>
              </a:rPr>
              <a:t> of the enforcement structure, not a component bolted alongside it.</a:t>
            </a:r>
            <a:endParaRPr lang="en-US" sz="14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THE AI-INTENT FRAMEWORK</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Ontological grounding in UFO</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902" y="1746504"/>
          <a:ext cx="10566806" cy="914400"/>
        </p:xfrm>
        <a:graphic>
          <a:graphicData uri="http://schemas.openxmlformats.org/drawingml/2006/table">
            <a:tbl>
              <a:tblPr/>
              <a:tblGrid>
                <a:gridCol w="1688897"/>
                <a:gridCol w="2540203"/>
                <a:gridCol w="5067605"/>
                <a:gridCol w="1270102"/>
              </a:tblGrid>
              <a:tr h="0">
                <a:tc>
                  <a:txBody>
                    <a:bodyPr/>
                    <a:lstStyle/>
                    <a:p>
                      <a:pPr algn="l" indent="0" marL="0">
                        <a:buNone/>
                      </a:pPr>
                      <a:r>
                        <a:rPr lang="en-US" sz="1200" b="1" dirty="0">
                          <a:solidFill>
                            <a:srgbClr val="F7F5EF"/>
                          </a:solidFill>
                          <a:latin typeface="Calibri" pitchFamily="34" charset="0"/>
                          <a:ea typeface="Calibri" pitchFamily="34" charset="-122"/>
                          <a:cs typeface="Calibri" pitchFamily="34" charset="-120"/>
                        </a:rPr>
                        <a:t>Pillar</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l" indent="0" marL="0">
                        <a:buNone/>
                      </a:pPr>
                      <a:r>
                        <a:rPr lang="en-US" sz="1200" b="1" dirty="0">
                          <a:solidFill>
                            <a:srgbClr val="F7F5EF"/>
                          </a:solidFill>
                          <a:latin typeface="Calibri" pitchFamily="34" charset="0"/>
                          <a:ea typeface="Calibri" pitchFamily="34" charset="-122"/>
                          <a:cs typeface="Calibri" pitchFamily="34" charset="-120"/>
                        </a:rPr>
                        <a:t>Construct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l" indent="0" marL="0">
                        <a:buNone/>
                      </a:pPr>
                      <a:r>
                        <a:rPr lang="en-US" sz="1200" b="1" dirty="0">
                          <a:solidFill>
                            <a:srgbClr val="F7F5EF"/>
                          </a:solidFill>
                          <a:latin typeface="Calibri" pitchFamily="34" charset="0"/>
                          <a:ea typeface="Calibri" pitchFamily="34" charset="-122"/>
                          <a:cs typeface="Calibri" pitchFamily="34" charset="-120"/>
                        </a:rPr>
                        <a:t>UFO category, OntoUML stereotype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7F5E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Declaration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Principal</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Intentional object, «kind»</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design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Agent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Intentional object with dispositions, «kind»</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b="1" dirty="0">
                          <a:solidFill>
                            <a:srgbClr val="2E7D32"/>
                          </a:solidFill>
                          <a:latin typeface="Calibri" pitchFamily="34" charset="0"/>
                          <a:ea typeface="Calibri" pitchFamily="34" charset="-122"/>
                          <a:cs typeface="Calibri" pitchFamily="34" charset="-120"/>
                        </a:rPr>
                        <a:t>derived</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Mandate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Normative description, «description»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design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Proposed Action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Event, non-repeatable, «event»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b="1" dirty="0">
                          <a:solidFill>
                            <a:srgbClr val="2E7D32"/>
                          </a:solidFill>
                          <a:latin typeface="Calibri" pitchFamily="34" charset="0"/>
                          <a:ea typeface="Calibri" pitchFamily="34" charset="-122"/>
                          <a:cs typeface="Calibri" pitchFamily="34" charset="-120"/>
                        </a:rPr>
                        <a:t>derived</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Enforcement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Regulatory Framework</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External normative description, «description»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design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r h="0">
                <a:tc>
                  <a:txBody>
                    <a:bodyPr/>
                    <a:lstStyle/>
                    <a:p>
                      <a:pPr indent="0" marL="0">
                        <a:buNone/>
                      </a:pP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Intent Enforcement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Role played by the Compliance Agent, «role»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design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r h="0">
                <a:tc>
                  <a:txBody>
                    <a:bodyPr/>
                    <a:lstStyle/>
                    <a:p>
                      <a:pPr indent="0" marL="0">
                        <a:buNone/>
                      </a:pP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Compliance Verdict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Relator mediating enforcement and action, «relator»</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design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Auditability</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Log Entry</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Persistent record of a compliance event, «kind»</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6B7280"/>
                          </a:solidFill>
                          <a:latin typeface="Calibri" pitchFamily="34" charset="0"/>
                          <a:ea typeface="Calibri" pitchFamily="34" charset="-122"/>
                          <a:cs typeface="Calibri" pitchFamily="34" charset="-120"/>
                        </a:rPr>
                        <a:t>design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Accountability Trace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Situation aggregating a session's Log Entries, «situation»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b="1" dirty="0">
                          <a:solidFill>
                            <a:srgbClr val="2E7D32"/>
                          </a:solidFill>
                          <a:latin typeface="Calibri" pitchFamily="34" charset="0"/>
                          <a:ea typeface="Calibri" pitchFamily="34" charset="-122"/>
                          <a:cs typeface="Calibri" pitchFamily="34" charset="-120"/>
                        </a:rPr>
                        <a:t>derived</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bl>
          </a:graphicData>
        </a:graphic>
      </p:graphicFrame>
      <p:sp>
        <p:nvSpPr>
          <p:cNvPr id="6" name="Text 2"/>
          <p:cNvSpPr txBox="1"/>
          <p:nvPr/>
        </p:nvSpPr>
        <p:spPr>
          <a:xfrm>
            <a:off x="812902" y="5206594"/>
            <a:ext cx="10566806" cy="228600"/>
          </a:xfrm>
          <a:prstGeom prst="rect">
            <a:avLst/>
          </a:prstGeom>
          <a:noFill/>
          <a:ln/>
        </p:spPr>
        <p:txBody>
          <a:bodyPr wrap="square" lIns="0" tIns="0" rIns="0" bIns="0" rtlCol="0" anchor="t"/>
          <a:lstStyle/>
          <a:p>
            <a:pPr indent="0" marL="0">
              <a:spcAft>
                <a:spcPts val="400"/>
              </a:spcAft>
              <a:buNone/>
            </a:pPr>
            <a:r>
              <a:rPr lang="en-US" sz="1100" b="1" dirty="0">
                <a:solidFill>
                  <a:schemeClr val="accent3"/>
                </a:solidFill>
              </a:rPr>
              <a:t>derived</a:t>
            </a:r>
            <a:pPr indent="0" marL="0">
              <a:spcAft>
                <a:spcPts val="400"/>
              </a:spcAft>
              <a:buNone/>
            </a:pPr>
            <a:r>
              <a:rPr lang="en-US" sz="1100" dirty="0">
                <a:solidFill>
                  <a:schemeClr val="accent5"/>
                </a:solidFill>
              </a:rPr>
              <a:t> UFO-derived, inherits formal entailments   ·   </a:t>
            </a:r>
            <a:pPr indent="0" marL="0">
              <a:spcAft>
                <a:spcPts val="400"/>
              </a:spcAft>
              <a:buNone/>
            </a:pPr>
            <a:r>
              <a:rPr lang="en-US" sz="1100" b="1" dirty="0">
                <a:solidFill>
                  <a:schemeClr val="accent5"/>
                </a:solidFill>
              </a:rPr>
              <a:t>design</a:t>
            </a:r>
            <a:pPr indent="0" marL="0">
              <a:spcAft>
                <a:spcPts val="400"/>
              </a:spcAft>
              <a:buNone/>
            </a:pPr>
            <a:r>
              <a:rPr lang="en-US" sz="1100" dirty="0">
                <a:solidFill>
                  <a:schemeClr val="accent5"/>
                </a:solidFill>
              </a:rPr>
              <a:t> design choice layered on top</a:t>
            </a:r>
            <a:endParaRPr lang="en-US" sz="1100" dirty="0"/>
          </a:p>
        </p:txBody>
      </p:sp>
      <p:sp>
        <p:nvSpPr>
          <p:cNvPr id="7" name="Text 3"/>
          <p:cNvSpPr txBox="1"/>
          <p:nvPr/>
        </p:nvSpPr>
        <p:spPr>
          <a:xfrm>
            <a:off x="812902" y="5524805"/>
            <a:ext cx="10566806" cy="317297"/>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UFO is used for </a:t>
            </a:r>
            <a:pPr indent="0" marL="0">
              <a:spcAft>
                <a:spcPts val="400"/>
              </a:spcAft>
              <a:buNone/>
            </a:pPr>
            <a:r>
              <a:rPr lang="en-US" sz="1300" b="1" dirty="0">
                <a:solidFill>
                  <a:schemeClr val="tx2"/>
                </a:solidFill>
              </a:rPr>
              <a:t>ontological categorization</a:t>
            </a:r>
            <a:pPr indent="0" marL="0">
              <a:spcAft>
                <a:spcPts val="400"/>
              </a:spcAft>
              <a:buNone/>
            </a:pPr>
            <a:r>
              <a:rPr lang="en-US" sz="1300" dirty="0">
                <a:solidFill>
                  <a:schemeClr val="tx2"/>
                </a:solidFill>
              </a:rPr>
              <a:t> and its entailments. </a:t>
            </a:r>
            <a:pPr indent="0" marL="0">
              <a:spcAft>
                <a:spcPts val="400"/>
              </a:spcAft>
              <a:buNone/>
            </a:pPr>
            <a:r>
              <a:rPr lang="en-US" sz="1300" b="1" dirty="0">
                <a:solidFill>
                  <a:schemeClr val="tx2"/>
                </a:solidFill>
              </a:rPr>
              <a:t>No UFO reasoner is required at runtime.</a:t>
            </a:r>
            <a:endParaRPr lang="en-US" sz="13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EVALUATION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Reference implementation under MiFID II</a:t>
            </a:r>
            <a:endParaRPr lang="en-US" sz="2800" dirty="0"/>
          </a:p>
        </p:txBody>
      </p:sp>
      <p:sp>
        <p:nvSpPr>
          <p:cNvPr id="5" name="Shape 2"/>
          <p:cNvSpPr/>
          <p:nvPr/>
        </p:nvSpPr>
        <p:spPr>
          <a:xfrm>
            <a:off x="2400300" y="1904695"/>
            <a:ext cx="1651406" cy="558698"/>
          </a:xfrm>
          <a:prstGeom prst="roundRect">
            <a:avLst>
              <a:gd name="adj" fmla="val 13093"/>
            </a:avLst>
          </a:prstGeom>
          <a:solidFill>
            <a:schemeClr val="tx1"/>
          </a:solidFill>
          <a:ln w="12700">
            <a:solidFill>
              <a:schemeClr val="tx1"/>
            </a:solidFill>
            <a:prstDash val="solid"/>
          </a:ln>
        </p:spPr>
      </p:sp>
      <p:sp>
        <p:nvSpPr>
          <p:cNvPr id="6" name="Text 3"/>
          <p:cNvSpPr txBox="1"/>
          <p:nvPr/>
        </p:nvSpPr>
        <p:spPr>
          <a:xfrm>
            <a:off x="2400300" y="1904695"/>
            <a:ext cx="1651406" cy="558698"/>
          </a:xfrm>
          <a:prstGeom prst="rect">
            <a:avLst/>
          </a:prstGeom>
          <a:noFill/>
          <a:ln/>
        </p:spPr>
        <p:txBody>
          <a:bodyPr wrap="square" lIns="0" tIns="0" rIns="0" bIns="0" rtlCol="0" anchor="ctr"/>
          <a:lstStyle/>
          <a:p>
            <a:pPr algn="ctr" indent="0" marL="0">
              <a:spcAft>
                <a:spcPts val="400"/>
              </a:spcAft>
              <a:buNone/>
            </a:pPr>
            <a:r>
              <a:rPr lang="en-US" sz="1300" b="1" dirty="0">
                <a:solidFill>
                  <a:srgbClr val="F7F5EF"/>
                </a:solidFill>
              </a:rPr>
              <a:t>Central Orchestrator</a:t>
            </a:r>
            <a:endParaRPr lang="en-US" sz="1300" dirty="0"/>
          </a:p>
        </p:txBody>
      </p:sp>
      <p:sp>
        <p:nvSpPr>
          <p:cNvPr id="7" name="Shape 4"/>
          <p:cNvSpPr/>
          <p:nvPr/>
        </p:nvSpPr>
        <p:spPr>
          <a:xfrm>
            <a:off x="1511503" y="3174797"/>
            <a:ext cx="3429000" cy="558698"/>
          </a:xfrm>
          <a:prstGeom prst="roundRect">
            <a:avLst>
              <a:gd name="adj" fmla="val 13093"/>
            </a:avLst>
          </a:prstGeom>
          <a:solidFill>
            <a:schemeClr val="bg2"/>
          </a:solidFill>
          <a:ln w="25400">
            <a:solidFill>
              <a:schemeClr val="accent1"/>
            </a:solidFill>
            <a:prstDash val="solid"/>
          </a:ln>
        </p:spPr>
      </p:sp>
      <p:sp>
        <p:nvSpPr>
          <p:cNvPr id="8" name="Text 5"/>
          <p:cNvSpPr txBox="1"/>
          <p:nvPr/>
        </p:nvSpPr>
        <p:spPr>
          <a:xfrm>
            <a:off x="1511503" y="3174797"/>
            <a:ext cx="3429000" cy="558698"/>
          </a:xfrm>
          <a:prstGeom prst="rect">
            <a:avLst/>
          </a:prstGeom>
          <a:noFill/>
          <a:ln/>
        </p:spPr>
        <p:txBody>
          <a:bodyPr wrap="square" lIns="0" tIns="0" rIns="0" bIns="0" rtlCol="0" anchor="ctr"/>
          <a:lstStyle/>
          <a:p>
            <a:pPr algn="ctr" indent="0" marL="0">
              <a:spcAft>
                <a:spcPts val="400"/>
              </a:spcAft>
              <a:buNone/>
            </a:pPr>
            <a:r>
              <a:rPr lang="en-US" sz="1300" b="1" dirty="0">
                <a:solidFill>
                  <a:schemeClr val="accent1"/>
                </a:solidFill>
              </a:rPr>
              <a:t>Compliance Agent</a:t>
            </a:r>
            <a:endParaRPr lang="en-US" sz="1300" dirty="0"/>
          </a:p>
        </p:txBody>
      </p:sp>
      <p:sp>
        <p:nvSpPr>
          <p:cNvPr id="9" name="Shape 6"/>
          <p:cNvSpPr/>
          <p:nvPr/>
        </p:nvSpPr>
        <p:spPr>
          <a:xfrm>
            <a:off x="940003" y="4520794"/>
            <a:ext cx="1397203" cy="558698"/>
          </a:xfrm>
          <a:prstGeom prst="roundRect">
            <a:avLst>
              <a:gd name="adj" fmla="val 13093"/>
            </a:avLst>
          </a:prstGeom>
          <a:solidFill>
            <a:schemeClr val="tx1"/>
          </a:solidFill>
          <a:ln w="12700">
            <a:solidFill>
              <a:schemeClr val="tx1"/>
            </a:solidFill>
            <a:prstDash val="solid"/>
          </a:ln>
        </p:spPr>
      </p:sp>
      <p:sp>
        <p:nvSpPr>
          <p:cNvPr id="10" name="Text 7"/>
          <p:cNvSpPr txBox="1"/>
          <p:nvPr/>
        </p:nvSpPr>
        <p:spPr>
          <a:xfrm>
            <a:off x="940003" y="4520794"/>
            <a:ext cx="1397203" cy="558698"/>
          </a:xfrm>
          <a:prstGeom prst="rect">
            <a:avLst/>
          </a:prstGeom>
          <a:noFill/>
          <a:ln/>
        </p:spPr>
        <p:txBody>
          <a:bodyPr wrap="square" lIns="0" tIns="0" rIns="0" bIns="0" rtlCol="0" anchor="ctr"/>
          <a:lstStyle/>
          <a:p>
            <a:pPr algn="ctr" indent="0" marL="0">
              <a:spcAft>
                <a:spcPts val="400"/>
              </a:spcAft>
              <a:buNone/>
            </a:pPr>
            <a:r>
              <a:rPr lang="en-US" sz="1300" b="1" dirty="0">
                <a:solidFill>
                  <a:srgbClr val="F7F5EF"/>
                </a:solidFill>
              </a:rPr>
              <a:t>Stocks</a:t>
            </a:r>
            <a:endParaRPr lang="en-US" sz="1300" dirty="0"/>
          </a:p>
        </p:txBody>
      </p:sp>
      <p:sp>
        <p:nvSpPr>
          <p:cNvPr id="11" name="Shape 8"/>
          <p:cNvSpPr/>
          <p:nvPr/>
        </p:nvSpPr>
        <p:spPr>
          <a:xfrm>
            <a:off x="2527402" y="4520794"/>
            <a:ext cx="1397203" cy="558698"/>
          </a:xfrm>
          <a:prstGeom prst="roundRect">
            <a:avLst>
              <a:gd name="adj" fmla="val 13093"/>
            </a:avLst>
          </a:prstGeom>
          <a:solidFill>
            <a:schemeClr val="tx1"/>
          </a:solidFill>
          <a:ln w="12700">
            <a:solidFill>
              <a:schemeClr val="tx1"/>
            </a:solidFill>
            <a:prstDash val="solid"/>
          </a:ln>
        </p:spPr>
      </p:sp>
      <p:sp>
        <p:nvSpPr>
          <p:cNvPr id="12" name="Text 9"/>
          <p:cNvSpPr txBox="1"/>
          <p:nvPr/>
        </p:nvSpPr>
        <p:spPr>
          <a:xfrm>
            <a:off x="2527402" y="4520794"/>
            <a:ext cx="1397203" cy="558698"/>
          </a:xfrm>
          <a:prstGeom prst="rect">
            <a:avLst/>
          </a:prstGeom>
          <a:noFill/>
          <a:ln/>
        </p:spPr>
        <p:txBody>
          <a:bodyPr wrap="square" lIns="0" tIns="0" rIns="0" bIns="0" rtlCol="0" anchor="ctr"/>
          <a:lstStyle/>
          <a:p>
            <a:pPr algn="ctr" indent="0" marL="0">
              <a:spcAft>
                <a:spcPts val="400"/>
              </a:spcAft>
              <a:buNone/>
            </a:pPr>
            <a:r>
              <a:rPr lang="en-US" sz="1300" b="1" dirty="0">
                <a:solidFill>
                  <a:srgbClr val="F7F5EF"/>
                </a:solidFill>
              </a:rPr>
              <a:t>Bonds</a:t>
            </a:r>
            <a:endParaRPr lang="en-US" sz="1300" dirty="0"/>
          </a:p>
        </p:txBody>
      </p:sp>
      <p:sp>
        <p:nvSpPr>
          <p:cNvPr id="13" name="Shape 10"/>
          <p:cNvSpPr/>
          <p:nvPr/>
        </p:nvSpPr>
        <p:spPr>
          <a:xfrm>
            <a:off x="4114800" y="4520794"/>
            <a:ext cx="1397203" cy="558698"/>
          </a:xfrm>
          <a:prstGeom prst="roundRect">
            <a:avLst>
              <a:gd name="adj" fmla="val 13093"/>
            </a:avLst>
          </a:prstGeom>
          <a:solidFill>
            <a:schemeClr val="tx1"/>
          </a:solidFill>
          <a:ln w="12700">
            <a:solidFill>
              <a:schemeClr val="tx1"/>
            </a:solidFill>
            <a:prstDash val="solid"/>
          </a:ln>
        </p:spPr>
      </p:sp>
      <p:sp>
        <p:nvSpPr>
          <p:cNvPr id="14" name="Text 11"/>
          <p:cNvSpPr txBox="1"/>
          <p:nvPr/>
        </p:nvSpPr>
        <p:spPr>
          <a:xfrm>
            <a:off x="4114800" y="4520794"/>
            <a:ext cx="1397203" cy="558698"/>
          </a:xfrm>
          <a:prstGeom prst="rect">
            <a:avLst/>
          </a:prstGeom>
          <a:noFill/>
          <a:ln/>
        </p:spPr>
        <p:txBody>
          <a:bodyPr wrap="square" lIns="0" tIns="0" rIns="0" bIns="0" rtlCol="0" anchor="ctr"/>
          <a:lstStyle/>
          <a:p>
            <a:pPr algn="ctr" indent="0" marL="0">
              <a:spcAft>
                <a:spcPts val="400"/>
              </a:spcAft>
              <a:buNone/>
            </a:pPr>
            <a:r>
              <a:rPr lang="en-US" sz="1300" b="1" dirty="0">
                <a:solidFill>
                  <a:srgbClr val="F7F5EF"/>
                </a:solidFill>
              </a:rPr>
              <a:t>Materials</a:t>
            </a:r>
            <a:endParaRPr lang="en-US" sz="1300" dirty="0"/>
          </a:p>
        </p:txBody>
      </p:sp>
      <p:sp>
        <p:nvSpPr>
          <p:cNvPr id="15" name="Shape 12"/>
          <p:cNvSpPr/>
          <p:nvPr/>
        </p:nvSpPr>
        <p:spPr>
          <a:xfrm>
            <a:off x="3226003" y="2463394"/>
            <a:ext cx="0" cy="711403"/>
          </a:xfrm>
          <a:prstGeom prst="line">
            <a:avLst/>
          </a:prstGeom>
          <a:noFill/>
          <a:ln w="25400">
            <a:solidFill>
              <a:schemeClr val="tx1"/>
            </a:solidFill>
            <a:prstDash val="solid"/>
            <a:headEnd type="triangle"/>
            <a:tailEnd type="triangle"/>
          </a:ln>
        </p:spPr>
      </p:sp>
      <p:sp>
        <p:nvSpPr>
          <p:cNvPr id="16" name="Shape 13"/>
          <p:cNvSpPr/>
          <p:nvPr/>
        </p:nvSpPr>
        <p:spPr>
          <a:xfrm flipH="1">
            <a:off x="1638605" y="3733495"/>
            <a:ext cx="1587398" cy="787298"/>
          </a:xfrm>
          <a:prstGeom prst="line">
            <a:avLst/>
          </a:prstGeom>
          <a:noFill/>
          <a:ln w="25400">
            <a:solidFill>
              <a:schemeClr val="tx1"/>
            </a:solidFill>
            <a:prstDash val="solid"/>
            <a:headEnd type="triangle"/>
            <a:tailEnd type="triangle"/>
          </a:ln>
        </p:spPr>
      </p:sp>
      <p:sp>
        <p:nvSpPr>
          <p:cNvPr id="17" name="Shape 14"/>
          <p:cNvSpPr/>
          <p:nvPr/>
        </p:nvSpPr>
        <p:spPr>
          <a:xfrm>
            <a:off x="3226003" y="3733495"/>
            <a:ext cx="0" cy="787298"/>
          </a:xfrm>
          <a:prstGeom prst="line">
            <a:avLst/>
          </a:prstGeom>
          <a:noFill/>
          <a:ln w="25400">
            <a:solidFill>
              <a:schemeClr val="tx1"/>
            </a:solidFill>
            <a:prstDash val="solid"/>
            <a:headEnd type="triangle"/>
            <a:tailEnd type="triangle"/>
          </a:ln>
        </p:spPr>
      </p:sp>
      <p:sp>
        <p:nvSpPr>
          <p:cNvPr id="18" name="Shape 15"/>
          <p:cNvSpPr/>
          <p:nvPr/>
        </p:nvSpPr>
        <p:spPr>
          <a:xfrm>
            <a:off x="3226003" y="3733495"/>
            <a:ext cx="1587398" cy="787298"/>
          </a:xfrm>
          <a:prstGeom prst="line">
            <a:avLst/>
          </a:prstGeom>
          <a:noFill/>
          <a:ln w="25400">
            <a:solidFill>
              <a:schemeClr val="tx1"/>
            </a:solidFill>
            <a:prstDash val="solid"/>
            <a:headEnd type="triangle"/>
            <a:tailEnd type="triangle"/>
          </a:ln>
        </p:spPr>
      </p:sp>
      <p:sp>
        <p:nvSpPr>
          <p:cNvPr id="19" name="Text 16"/>
          <p:cNvSpPr txBox="1"/>
          <p:nvPr/>
        </p:nvSpPr>
        <p:spPr>
          <a:xfrm>
            <a:off x="812902" y="5206594"/>
            <a:ext cx="4826203" cy="254203"/>
          </a:xfrm>
          <a:prstGeom prst="rect">
            <a:avLst/>
          </a:prstGeom>
          <a:noFill/>
          <a:ln/>
        </p:spPr>
        <p:txBody>
          <a:bodyPr wrap="square" lIns="0" tIns="0" rIns="0" bIns="0" rtlCol="0" anchor="t"/>
          <a:lstStyle/>
          <a:p>
            <a:pPr algn="ctr" indent="0" marL="0">
              <a:spcAft>
                <a:spcPts val="400"/>
              </a:spcAft>
              <a:buNone/>
            </a:pPr>
            <a:r>
              <a:rPr lang="en-US" sz="1100" dirty="0">
                <a:solidFill>
                  <a:schemeClr val="accent5"/>
                </a:solidFill>
              </a:rPr>
              <a:t>No sub-agent is reachable except through the Compliance Agent (R1).</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96305" y="1904695"/>
          <a:ext cx="5283403" cy="914400"/>
        </p:xfrm>
        <a:graphic>
          <a:graphicData uri="http://schemas.openxmlformats.org/drawingml/2006/table">
            <a:tbl>
              <a:tblPr/>
              <a:tblGrid>
                <a:gridCol w="1371600"/>
                <a:gridCol w="634594"/>
                <a:gridCol w="634594"/>
                <a:gridCol w="2641702"/>
              </a:tblGrid>
              <a:tr h="0">
                <a:tc>
                  <a:txBody>
                    <a:bodyPr/>
                    <a:lstStyle/>
                    <a:p>
                      <a:pPr algn="l" indent="0" marL="0">
                        <a:buNone/>
                      </a:pPr>
                      <a:r>
                        <a:rPr lang="en-US" sz="1200" b="1" dirty="0">
                          <a:solidFill>
                            <a:srgbClr val="F7F5EF"/>
                          </a:solidFill>
                          <a:latin typeface="Calibri" pitchFamily="34" charset="0"/>
                          <a:ea typeface="Calibri" pitchFamily="34" charset="-122"/>
                          <a:cs typeface="Calibri" pitchFamily="34" charset="-120"/>
                        </a:rPr>
                        <a:t>Agent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7F5EF"/>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7F5EF"/>
                          </a:solidFill>
                          <a:latin typeface="Calibri" pitchFamily="34" charset="0"/>
                          <a:ea typeface="Calibri" pitchFamily="34" charset="-122"/>
                          <a:cs typeface="Calibri" pitchFamily="34" charset="-120"/>
                        </a:rPr>
                        <a:t>|R|</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l" indent="0" marL="0">
                        <a:buNone/>
                      </a:pPr>
                      <a:r>
                        <a:rPr lang="en-US" sz="1200" b="1" dirty="0">
                          <a:solidFill>
                            <a:srgbClr val="F7F5EF"/>
                          </a:solidFill>
                          <a:latin typeface="Calibri" pitchFamily="34" charset="0"/>
                          <a:ea typeface="Calibri" pitchFamily="34" charset="-122"/>
                          <a:cs typeface="Calibri" pitchFamily="34" charset="-120"/>
                        </a:rPr>
                        <a:t>Example constraint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Central</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F(class &gt; 40%)</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Stocks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F(position &gt; 10%)</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Bonds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F(duration &gt; 10 yr)</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Materials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F(allocation &gt; 15%)</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bl>
          </a:graphicData>
        </a:graphic>
      </p:graphicFrame>
      <p:sp>
        <p:nvSpPr>
          <p:cNvPr id="21" name="Text 17"/>
          <p:cNvSpPr txBox="1"/>
          <p:nvPr/>
        </p:nvSpPr>
        <p:spPr>
          <a:xfrm>
            <a:off x="6096305" y="3810305"/>
            <a:ext cx="5283403" cy="1651406"/>
          </a:xfrm>
          <a:prstGeom prst="rect">
            <a:avLst/>
          </a:prstGeom>
          <a:noFill/>
          <a:ln/>
        </p:spPr>
        <p:txBody>
          <a:bodyPr wrap="square" lIns="0" tIns="0" rIns="0" bIns="0" rtlCol="0" anchor="t"/>
          <a:lstStyle/>
          <a:p>
            <a:pPr indent="0" marL="0">
              <a:spcAft>
                <a:spcPts val="400"/>
              </a:spcAft>
              <a:buNone/>
            </a:pPr>
            <a:r>
              <a:rPr lang="en-US" sz="1300" b="1" dirty="0">
                <a:solidFill>
                  <a:schemeClr val="tx2"/>
                </a:solidFill>
              </a:rPr>
              <a:t>Why this domain?</a:t>
            </a:r>
            <a:pPr indent="0" marL="0">
              <a:spcAft>
                <a:spcPts val="400"/>
              </a:spcAft>
              <a:buNone/>
            </a:pPr>
            <a:r>
              <a:rPr lang="en-US" sz="1300" dirty="0">
                <a:solidFill>
                  <a:schemeClr val="tx2"/>
                </a:solidFill>
              </a:rPr>
              <a:t> MiFID II supplies </a:t>
            </a:r>
            <a:pPr indent="0" marL="0">
              <a:spcAft>
                <a:spcPts val="400"/>
              </a:spcAft>
              <a:buNone/>
            </a:pPr>
            <a:r>
              <a:rPr lang="en-US" sz="1300" i="1" dirty="0">
                <a:solidFill>
                  <a:schemeClr val="tx2"/>
                </a:solidFill>
              </a:rPr>
              <a:t>externally given</a:t>
            </a:r>
            <a:pPr indent="0" marL="0">
              <a:spcAft>
                <a:spcPts val="400"/>
              </a:spcAft>
              <a:buNone/>
            </a:pPr>
            <a:r>
              <a:rPr lang="en-US" sz="1300" dirty="0">
                <a:solidFill>
                  <a:schemeClr val="tx2"/>
                </a:solidFill>
              </a:rPr>
              <a:t> constraints, imposed by regulation, not authored by us.</a:t>
            </a:r>
            <a:endParaRPr lang="en-US" sz="1300" dirty="0"/>
          </a:p>
          <a:p>
            <a:pPr indent="0" marL="0">
              <a:spcAft>
                <a:spcPts val="400"/>
              </a:spcAft>
              <a:buNone/>
            </a:pPr>
            <a:endParaRPr lang="en-US" sz="1300" dirty="0"/>
          </a:p>
          <a:p>
            <a:pPr indent="0" marL="0">
              <a:spcAft>
                <a:spcPts val="400"/>
              </a:spcAft>
              <a:buNone/>
            </a:pPr>
            <a:r>
              <a:rPr lang="en-US" sz="1300" b="1" dirty="0">
                <a:solidFill>
                  <a:schemeClr val="tx2"/>
                </a:solidFill>
              </a:rPr>
              <a:t>Stack:</a:t>
            </a:r>
            <a:pPr indent="0" marL="0">
              <a:spcAft>
                <a:spcPts val="400"/>
              </a:spcAft>
              <a:buNone/>
            </a:pPr>
            <a:r>
              <a:rPr lang="en-US" sz="1300" dirty="0">
                <a:solidFill>
                  <a:schemeClr val="tx2"/>
                </a:solidFill>
              </a:rPr>
              <a:t> Python 3.11+, Pydantic v2, SQLite, Streamlit, Llama 3.1 8B served locally via Ollama.</a:t>
            </a:r>
            <a:endParaRPr lang="en-US" sz="13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EVALUATION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The constructs, made operable</a:t>
            </a:r>
            <a:endParaRPr lang="en-US" sz="2800" dirty="0"/>
          </a:p>
        </p:txBody>
      </p:sp>
      <p:sp>
        <p:nvSpPr>
          <p:cNvPr id="5" name="Shape 2"/>
          <p:cNvSpPr/>
          <p:nvPr/>
        </p:nvSpPr>
        <p:spPr>
          <a:xfrm>
            <a:off x="2413102" y="1663294"/>
            <a:ext cx="7366406" cy="3720694"/>
          </a:xfrm>
          <a:prstGeom prst="rect">
            <a:avLst/>
          </a:prstGeom>
          <a:solidFill>
            <a:schemeClr val="bg2"/>
          </a:solidFill>
          <a:ln w="9525">
            <a:solidFill>
              <a:schemeClr val="accent6"/>
            </a:solidFill>
            <a:prstDash val="solid"/>
          </a:ln>
        </p:spPr>
      </p:sp>
      <p:pic>
        <p:nvPicPr>
          <p:cNvPr id="6" name="Image 0" descr="Dashboard of the reference implementation">    </p:cNvPr>
          <p:cNvPicPr>
            <a:picLocks noChangeAspect="1"/>
          </p:cNvPicPr>
          <p:nvPr/>
        </p:nvPicPr>
        <p:blipFill>
          <a:blip r:embed="rId1"/>
          <a:srcRect l="0" r="0" t="0" b="0"/>
          <a:stretch/>
        </p:blipFill>
        <p:spPr>
          <a:xfrm>
            <a:off x="2476195" y="1727302"/>
            <a:ext cx="7239305" cy="3594506"/>
          </a:xfrm>
          <a:prstGeom prst="rect">
            <a:avLst/>
          </a:prstGeom>
        </p:spPr>
      </p:pic>
      <p:sp>
        <p:nvSpPr>
          <p:cNvPr id="7" name="Text 3"/>
          <p:cNvSpPr txBox="1"/>
          <p:nvPr/>
        </p:nvSpPr>
        <p:spPr>
          <a:xfrm>
            <a:off x="812902" y="5524805"/>
            <a:ext cx="3377794" cy="57150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Agent Network.</a:t>
            </a:r>
            <a:pPr indent="0" marL="0">
              <a:spcAft>
                <a:spcPts val="400"/>
              </a:spcAft>
              <a:buNone/>
            </a:pPr>
            <a:r>
              <a:rPr lang="en-US" sz="1100" dirty="0">
                <a:solidFill>
                  <a:schemeClr val="tx2"/>
                </a:solidFill>
              </a:rPr>
              <a:t> The Compliance Agent sits on every Orchestrator to sub-agent edge (R1).</a:t>
            </a:r>
            <a:endParaRPr lang="en-US" sz="1100" dirty="0"/>
          </a:p>
        </p:txBody>
      </p:sp>
      <p:sp>
        <p:nvSpPr>
          <p:cNvPr id="8" name="Text 4"/>
          <p:cNvSpPr txBox="1"/>
          <p:nvPr/>
        </p:nvSpPr>
        <p:spPr>
          <a:xfrm>
            <a:off x="4406494" y="5524805"/>
            <a:ext cx="3377794" cy="57150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Intent Lifecycle.</a:t>
            </a:r>
            <a:pPr indent="0" marL="0">
              <a:spcAft>
                <a:spcPts val="400"/>
              </a:spcAft>
              <a:buNone/>
            </a:pPr>
            <a:r>
              <a:rPr lang="en-US" sz="1100" dirty="0">
                <a:solidFill>
                  <a:schemeClr val="tx2"/>
                </a:solidFill>
              </a:rPr>
              <a:t> Query, Routing, Delegation, Synthesis, Response, with a checkpoint between stages.</a:t>
            </a:r>
            <a:endParaRPr lang="en-US" sz="1100" dirty="0"/>
          </a:p>
        </p:txBody>
      </p:sp>
      <p:sp>
        <p:nvSpPr>
          <p:cNvPr id="9" name="Text 5"/>
          <p:cNvSpPr txBox="1"/>
          <p:nvPr/>
        </p:nvSpPr>
        <p:spPr>
          <a:xfrm>
            <a:off x="8001000" y="5524805"/>
            <a:ext cx="3377794" cy="57150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Constraint Audit.</a:t>
            </a:r>
            <a:pPr indent="0" marL="0">
              <a:spcAft>
                <a:spcPts val="400"/>
              </a:spcAft>
              <a:buNone/>
            </a:pPr>
            <a:r>
              <a:rPr lang="en-US" sz="1100" dirty="0">
                <a:solidFill>
                  <a:schemeClr val="tx2"/>
                </a:solidFill>
              </a:rPr>
              <a:t> Per-agent Mandate: intent scope, each constraint with its status, the risk parameters.</a:t>
            </a:r>
            <a:endParaRPr lang="en-US" sz="11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EVALUATION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What the gate actually produces</a:t>
            </a:r>
            <a:endParaRPr lang="en-US" sz="2800" dirty="0"/>
          </a:p>
        </p:txBody>
      </p:sp>
      <p:sp>
        <p:nvSpPr>
          <p:cNvPr id="5" name="Shape 2"/>
          <p:cNvSpPr/>
          <p:nvPr/>
        </p:nvSpPr>
        <p:spPr>
          <a:xfrm>
            <a:off x="812902" y="1777594"/>
            <a:ext cx="3631997" cy="3937406"/>
          </a:xfrm>
          <a:prstGeom prst="rect">
            <a:avLst/>
          </a:prstGeom>
          <a:solidFill>
            <a:schemeClr val="bg2"/>
          </a:solidFill>
          <a:ln w="9525">
            <a:solidFill>
              <a:schemeClr val="accent6"/>
            </a:solidFill>
            <a:prstDash val="solid"/>
          </a:ln>
        </p:spPr>
      </p:sp>
      <p:pic>
        <p:nvPicPr>
          <p:cNvPr id="6" name="Image 0" descr="Constraint Audit panel for the Stocks Agent">    </p:cNvPr>
          <p:cNvPicPr>
            <a:picLocks noChangeAspect="1"/>
          </p:cNvPicPr>
          <p:nvPr/>
        </p:nvPicPr>
        <p:blipFill>
          <a:blip r:embed="rId1"/>
          <a:srcRect l="0" r="0" t="0" b="0"/>
          <a:stretch/>
        </p:blipFill>
        <p:spPr>
          <a:xfrm>
            <a:off x="875995" y="1841602"/>
            <a:ext cx="3504895" cy="3810305"/>
          </a:xfrm>
          <a:prstGeom prst="rect">
            <a:avLst/>
          </a:prstGeom>
        </p:spPr>
      </p:pic>
      <p:sp>
        <p:nvSpPr>
          <p:cNvPr id="7" name="Text 3"/>
          <p:cNvSpPr txBox="1"/>
          <p:nvPr/>
        </p:nvSpPr>
        <p:spPr>
          <a:xfrm>
            <a:off x="4800600" y="1841602"/>
            <a:ext cx="6578194" cy="190195"/>
          </a:xfrm>
          <a:prstGeom prst="rect">
            <a:avLst/>
          </a:prstGeom>
          <a:noFill/>
          <a:ln/>
        </p:spPr>
        <p:txBody>
          <a:bodyPr wrap="square" lIns="0" tIns="0" rIns="0" bIns="0" rtlCol="0" anchor="t"/>
          <a:lstStyle/>
          <a:p>
            <a:pPr indent="0" marL="0">
              <a:spcAft>
                <a:spcPts val="400"/>
              </a:spcAft>
              <a:buNone/>
            </a:pPr>
            <a:r>
              <a:rPr lang="en-US" sz="1100" b="1" spc="100" kern="0" dirty="0">
                <a:solidFill>
                  <a:schemeClr val="accent5"/>
                </a:solidFill>
              </a:rPr>
              <a:t>CONSTRAINT AUDIT FOR THE STOCKS AGENT, ONE SESSION</a:t>
            </a:r>
            <a:endParaRPr lang="en-US" sz="1100" dirty="0"/>
          </a:p>
        </p:txBody>
      </p:sp>
      <p:sp>
        <p:nvSpPr>
          <p:cNvPr id="8" name="Text 4"/>
          <p:cNvSpPr txBox="1"/>
          <p:nvPr/>
        </p:nvSpPr>
        <p:spPr>
          <a:xfrm>
            <a:off x="4800600" y="2158898"/>
            <a:ext cx="6578194" cy="2794406"/>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All five boundary constraints of the Stocks Mandate are evaluated and reported </a:t>
            </a:r>
            <a:pPr indent="0" marL="0">
              <a:spcAft>
                <a:spcPts val="400"/>
              </a:spcAft>
              <a:buNone/>
            </a:pPr>
            <a:r>
              <a:rPr lang="en-US" sz="1400" b="1" dirty="0">
                <a:solidFill>
                  <a:schemeClr val="tx2"/>
                </a:solidFill>
              </a:rPr>
              <a:t>individually</a:t>
            </a:r>
            <a:pPr indent="0" marL="0">
              <a:spcAft>
                <a:spcPts val="400"/>
              </a:spcAft>
              <a:buNone/>
            </a:pPr>
            <a:r>
              <a:rPr lang="en-US" sz="1400" dirty="0">
                <a:solidFill>
                  <a:schemeClr val="tx2"/>
                </a:solidFill>
              </a:rPr>
              <a:t>: </a:t>
            </a:r>
            <a:pPr indent="0" marL="0">
              <a:spcAft>
                <a:spcPts val="400"/>
              </a:spcAft>
              <a:buNone/>
            </a:pPr>
            <a:r>
              <a:rPr lang="en-US" sz="1400" b="1" dirty="0">
                <a:solidFill>
                  <a:schemeClr val="accent3"/>
                </a:solidFill>
              </a:rPr>
              <a:t>satisfied</a:t>
            </a:r>
            <a:pPr indent="0" marL="0">
              <a:spcAft>
                <a:spcPts val="400"/>
              </a:spcAft>
              <a:buNone/>
            </a:pPr>
            <a:r>
              <a:rPr lang="en-US" sz="1400" dirty="0">
                <a:solidFill>
                  <a:schemeClr val="tx2"/>
                </a:solidFill>
              </a:rPr>
              <a:t> or </a:t>
            </a:r>
            <a:pPr indent="0" marL="0">
              <a:spcAft>
                <a:spcPts val="400"/>
              </a:spcAft>
              <a:buNone/>
            </a:pPr>
            <a:r>
              <a:rPr lang="en-US" sz="1400" b="1" dirty="0">
                <a:solidFill>
                  <a:schemeClr val="accent1"/>
                </a:solidFill>
              </a:rPr>
              <a:t>flagged by the agent as a concern</a:t>
            </a:r>
            <a:pPr indent="0" marL="0">
              <a:spcAft>
                <a:spcPts val="400"/>
              </a:spcAft>
              <a:buNone/>
            </a:pPr>
            <a:r>
              <a:rPr lang="en-US" sz="1400" dirty="0">
                <a:solidFill>
                  <a:schemeClr val="tx2"/>
                </a:solidFill>
              </a:rPr>
              <a:t>.</a:t>
            </a:r>
            <a:endParaRPr lang="en-US" sz="1400" dirty="0"/>
          </a:p>
          <a:p>
            <a:pPr indent="0" marL="0">
              <a:spcAft>
                <a:spcPts val="400"/>
              </a:spcAft>
              <a:buNone/>
            </a:pPr>
            <a:endParaRPr lang="en-US" sz="1400" dirty="0"/>
          </a:p>
          <a:p>
            <a:pPr indent="0" marL="0">
              <a:spcAft>
                <a:spcPts val="400"/>
              </a:spcAft>
              <a:buNone/>
            </a:pPr>
            <a:r>
              <a:rPr lang="en-US" sz="1400" dirty="0">
                <a:solidFill>
                  <a:schemeClr val="tx2"/>
                </a:solidFill>
              </a:rPr>
              <a:t>This is the Compliance Verdict made visible: not a pass or fail score, but a per-constraint record naming what was checked.</a:t>
            </a:r>
            <a:endParaRPr lang="en-US" sz="1400" dirty="0"/>
          </a:p>
          <a:p>
            <a:pPr indent="0" marL="0">
              <a:spcAft>
                <a:spcPts val="400"/>
              </a:spcAft>
              <a:buNone/>
            </a:pPr>
            <a:endParaRPr lang="en-US" sz="1400" dirty="0"/>
          </a:p>
          <a:p>
            <a:pPr indent="0" marL="0">
              <a:spcAft>
                <a:spcPts val="400"/>
              </a:spcAft>
              <a:buNone/>
            </a:pPr>
            <a:r>
              <a:rPr lang="en-US" sz="1400" dirty="0">
                <a:solidFill>
                  <a:schemeClr val="tx2"/>
                </a:solidFill>
              </a:rPr>
              <a:t>That record is exactly what Log Entries carry and what the Accountability Trace aggregates. </a:t>
            </a:r>
            <a:pPr indent="0" marL="0">
              <a:spcAft>
                <a:spcPts val="400"/>
              </a:spcAft>
              <a:buNone/>
            </a:pPr>
            <a:r>
              <a:rPr lang="en-US" sz="1400" b="1" dirty="0">
                <a:solidFill>
                  <a:schemeClr val="tx2"/>
                </a:solidFill>
              </a:rPr>
              <a:t>WFC-1</a:t>
            </a:r>
            <a:pPr indent="0" marL="0">
              <a:spcAft>
                <a:spcPts val="400"/>
              </a:spcAft>
              <a:buNone/>
            </a:pPr>
            <a:r>
              <a:rPr lang="en-US" sz="1400" dirty="0">
                <a:solidFill>
                  <a:schemeClr val="tx2"/>
                </a:solidFill>
              </a:rPr>
              <a:t> and </a:t>
            </a:r>
            <a:pPr indent="0" marL="0">
              <a:spcAft>
                <a:spcPts val="400"/>
              </a:spcAft>
              <a:buNone/>
            </a:pPr>
            <a:r>
              <a:rPr lang="en-US" sz="1400" b="1" dirty="0">
                <a:solidFill>
                  <a:schemeClr val="tx2"/>
                </a:solidFill>
              </a:rPr>
              <a:t>WFC-2</a:t>
            </a:r>
            <a:pPr indent="0" marL="0">
              <a:spcAft>
                <a:spcPts val="400"/>
              </a:spcAft>
              <a:buNone/>
            </a:pPr>
            <a:r>
              <a:rPr lang="en-US" sz="1400" dirty="0">
                <a:solidFill>
                  <a:schemeClr val="tx2"/>
                </a:solidFill>
              </a:rPr>
              <a:t> are satisfied by construction, not by a reporting step.</a:t>
            </a:r>
            <a:endParaRPr lang="en-US" sz="1400" dirty="0"/>
          </a:p>
        </p:txBody>
      </p:sp>
      <p:sp>
        <p:nvSpPr>
          <p:cNvPr id="9" name="Text 5"/>
          <p:cNvSpPr txBox="1"/>
          <p:nvPr/>
        </p:nvSpPr>
        <p:spPr>
          <a:xfrm>
            <a:off x="4800600" y="5080406"/>
            <a:ext cx="6578194" cy="508406"/>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Here the Stocks agent was approved on its first attempt. The session's one revision happened elsewhere, next slide.</a:t>
            </a:r>
            <a:endParaRPr lang="en-US" sz="12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EVALUATION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Communication as evidence</a:t>
            </a:r>
            <a:endParaRPr lang="en-US" sz="2800" dirty="0"/>
          </a:p>
        </p:txBody>
      </p:sp>
      <p:sp>
        <p:nvSpPr>
          <p:cNvPr id="5" name="Shape 2"/>
          <p:cNvSpPr/>
          <p:nvPr/>
        </p:nvSpPr>
        <p:spPr>
          <a:xfrm>
            <a:off x="812902" y="1714500"/>
            <a:ext cx="5143500" cy="4063594"/>
          </a:xfrm>
          <a:prstGeom prst="rect">
            <a:avLst/>
          </a:prstGeom>
          <a:solidFill>
            <a:schemeClr val="bg2"/>
          </a:solidFill>
          <a:ln w="9525">
            <a:solidFill>
              <a:schemeClr val="accent6"/>
            </a:solidFill>
            <a:prstDash val="solid"/>
          </a:ln>
        </p:spPr>
      </p:sp>
      <p:pic>
        <p:nvPicPr>
          <p:cNvPr id="6" name="Image 0" descr="MCP message log of one session">    </p:cNvPr>
          <p:cNvPicPr>
            <a:picLocks noChangeAspect="1"/>
          </p:cNvPicPr>
          <p:nvPr/>
        </p:nvPicPr>
        <p:blipFill>
          <a:blip r:embed="rId1"/>
          <a:srcRect l="0" r="0" t="0" b="0"/>
          <a:stretch/>
        </p:blipFill>
        <p:spPr>
          <a:xfrm>
            <a:off x="875995" y="1777594"/>
            <a:ext cx="5016398" cy="3937406"/>
          </a:xfrm>
          <a:prstGeom prst="rect">
            <a:avLst/>
          </a:prstGeom>
        </p:spPr>
      </p:pic>
      <p:sp>
        <p:nvSpPr>
          <p:cNvPr id="7" name="Text 3"/>
          <p:cNvSpPr txBox="1"/>
          <p:nvPr/>
        </p:nvSpPr>
        <p:spPr>
          <a:xfrm>
            <a:off x="6312103" y="1777594"/>
            <a:ext cx="5067605" cy="190195"/>
          </a:xfrm>
          <a:prstGeom prst="rect">
            <a:avLst/>
          </a:prstGeom>
          <a:noFill/>
          <a:ln/>
        </p:spPr>
        <p:txBody>
          <a:bodyPr wrap="square" lIns="0" tIns="0" rIns="0" bIns="0" rtlCol="0" anchor="t"/>
          <a:lstStyle/>
          <a:p>
            <a:pPr indent="0" marL="0">
              <a:spcAft>
                <a:spcPts val="400"/>
              </a:spcAft>
              <a:buNone/>
            </a:pPr>
            <a:r>
              <a:rPr lang="en-US" sz="1100" b="1" spc="100" kern="0" dirty="0">
                <a:solidFill>
                  <a:schemeClr val="accent5"/>
                </a:solidFill>
              </a:rPr>
              <a:t>THE SAME SESSION, AS THE MCP MESSAGE LOG</a:t>
            </a:r>
            <a:endParaRPr lang="en-US" sz="1100" dirty="0"/>
          </a:p>
        </p:txBody>
      </p:sp>
      <p:sp>
        <p:nvSpPr>
          <p:cNvPr id="8" name="Text 4"/>
          <p:cNvSpPr txBox="1"/>
          <p:nvPr/>
        </p:nvSpPr>
        <p:spPr>
          <a:xfrm>
            <a:off x="6312103" y="2095805"/>
            <a:ext cx="5067605" cy="1904695"/>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Every inter-agent action is a </a:t>
            </a:r>
            <a:pPr indent="0" marL="0">
              <a:spcAft>
                <a:spcPts val="400"/>
              </a:spcAft>
              <a:buNone/>
            </a:pPr>
            <a:r>
              <a:rPr lang="en-US" sz="1400" b="1" dirty="0">
                <a:solidFill>
                  <a:schemeClr val="tx2"/>
                </a:solidFill>
              </a:rPr>
              <a:t>time-indexed, non-repeatable event</a:t>
            </a:r>
            <a:pPr indent="0" marL="0">
              <a:spcAft>
                <a:spcPts val="400"/>
              </a:spcAft>
              <a:buNone/>
            </a:pPr>
            <a:r>
              <a:rPr lang="en-US" sz="1400" dirty="0">
                <a:solidFill>
                  <a:schemeClr val="tx2"/>
                </a:solidFill>
              </a:rPr>
              <a:t>, the UFO categorization that licenses its use as evidence.</a:t>
            </a:r>
            <a:endParaRPr lang="en-US" sz="1400" dirty="0"/>
          </a:p>
          <a:p>
            <a:pPr indent="0" marL="0">
              <a:spcAft>
                <a:spcPts val="400"/>
              </a:spcAft>
              <a:buNone/>
            </a:pPr>
            <a:endParaRPr lang="en-US" sz="1400" dirty="0"/>
          </a:p>
          <a:p>
            <a:pPr indent="0" marL="0">
              <a:spcAft>
                <a:spcPts val="400"/>
              </a:spcAft>
              <a:buNone/>
            </a:pPr>
            <a:r>
              <a:rPr lang="en-US" sz="1400" dirty="0">
                <a:solidFill>
                  <a:schemeClr val="tx2"/>
                </a:solidFill>
              </a:rPr>
              <a:t>The whole session is reconstructible from this log alone: routing, each delegation and result, the compliance event, the synthesis, and the response to the user.</a:t>
            </a:r>
            <a:endParaRPr lang="en-US" sz="1400" dirty="0"/>
          </a:p>
        </p:txBody>
      </p:sp>
      <p:sp>
        <p:nvSpPr>
          <p:cNvPr id="9" name="Text 5"/>
          <p:cNvSpPr txBox="1"/>
          <p:nvPr/>
        </p:nvSpPr>
        <p:spPr>
          <a:xfrm>
            <a:off x="6312103" y="4127602"/>
            <a:ext cx="5067605" cy="761695"/>
          </a:xfrm>
          <a:prstGeom prst="rect">
            <a:avLst/>
          </a:prstGeom>
          <a:noFill/>
          <a:ln/>
        </p:spPr>
        <p:txBody>
          <a:bodyPr wrap="square" lIns="0" tIns="0" rIns="0" bIns="0" rtlCol="0" anchor="t"/>
          <a:lstStyle/>
          <a:p>
            <a:pPr indent="0" marL="0">
              <a:spcAft>
                <a:spcPts val="400"/>
              </a:spcAft>
              <a:buNone/>
            </a:pPr>
            <a:r>
              <a:rPr lang="en-US" sz="1300" b="1" dirty="0">
                <a:solidFill>
                  <a:schemeClr val="accent4"/>
                </a:solidFill>
              </a:rPr>
              <a:t>compliance.revision.materials [VIOLATION]</a:t>
            </a:r>
            <a:pPr indent="0" marL="0">
              <a:spcAft>
                <a:spcPts val="400"/>
              </a:spcAft>
              <a:buNone/>
            </a:pPr>
            <a:r>
              <a:rPr lang="en-US" sz="1300" dirty="0">
                <a:solidFill>
                  <a:schemeClr val="accent4"/>
                </a:solidFill>
              </a:rPr>
              <a:t> at 16:44:10 is the gate firing, and it is </a:t>
            </a:r>
            <a:pPr indent="0" marL="0">
              <a:spcAft>
                <a:spcPts val="400"/>
              </a:spcAft>
              <a:buNone/>
            </a:pPr>
            <a:r>
              <a:rPr lang="en-US" sz="1300" i="1" dirty="0">
                <a:solidFill>
                  <a:schemeClr val="accent4"/>
                </a:solidFill>
              </a:rPr>
              <a:t>in the record</a:t>
            </a:r>
            <a:pPr indent="0" marL="0">
              <a:spcAft>
                <a:spcPts val="400"/>
              </a:spcAft>
              <a:buNone/>
            </a:pPr>
            <a:r>
              <a:rPr lang="en-US" sz="1300" dirty="0">
                <a:solidFill>
                  <a:schemeClr val="accent4"/>
                </a:solidFill>
              </a:rPr>
              <a:t>, not inferred from it.</a:t>
            </a:r>
            <a:endParaRPr lang="en-US" sz="1300" dirty="0"/>
          </a:p>
        </p:txBody>
      </p:sp>
      <p:sp>
        <p:nvSpPr>
          <p:cNvPr id="10" name="Text 6"/>
          <p:cNvSpPr txBox="1"/>
          <p:nvPr/>
        </p:nvSpPr>
        <p:spPr>
          <a:xfrm>
            <a:off x="6312103" y="5016398"/>
            <a:ext cx="5067605" cy="634594"/>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Scenario S3, audit reconstruction: no existing agent-oriented framework provides an equivalent artifact as a structural model component.</a:t>
            </a:r>
            <a:endParaRPr lang="en-US" sz="12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EVALUATION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The revision loop, R4, in one session</a:t>
            </a:r>
            <a:endParaRPr lang="en-US" sz="2800" dirty="0"/>
          </a:p>
        </p:txBody>
      </p:sp>
      <p:sp>
        <p:nvSpPr>
          <p:cNvPr id="5" name="Shape 2"/>
          <p:cNvSpPr/>
          <p:nvPr/>
        </p:nvSpPr>
        <p:spPr>
          <a:xfrm>
            <a:off x="812902" y="1714500"/>
            <a:ext cx="10566806" cy="3149194"/>
          </a:xfrm>
          <a:prstGeom prst="rect">
            <a:avLst/>
          </a:prstGeom>
          <a:solidFill>
            <a:schemeClr val="bg2"/>
          </a:solidFill>
          <a:ln w="9525">
            <a:solidFill>
              <a:schemeClr val="accent6"/>
            </a:solidFill>
            <a:prstDash val="solid"/>
          </a:ln>
        </p:spPr>
      </p:sp>
      <p:pic>
        <p:nvPicPr>
          <p:cNvPr id="6" name="Image 0" descr="Revision loop: blocked first answer, delivered revision">    </p:cNvPr>
          <p:cNvPicPr>
            <a:picLocks noChangeAspect="1"/>
          </p:cNvPicPr>
          <p:nvPr/>
        </p:nvPicPr>
        <p:blipFill>
          <a:blip r:embed="rId1"/>
          <a:srcRect l="0" r="0" t="0" b="0"/>
          <a:stretch/>
        </p:blipFill>
        <p:spPr>
          <a:xfrm>
            <a:off x="875995" y="1777594"/>
            <a:ext cx="10439705" cy="3023006"/>
          </a:xfrm>
          <a:prstGeom prst="rect">
            <a:avLst/>
          </a:prstGeom>
        </p:spPr>
      </p:pic>
      <p:sp>
        <p:nvSpPr>
          <p:cNvPr id="7" name="Text 3"/>
          <p:cNvSpPr txBox="1"/>
          <p:nvPr/>
        </p:nvSpPr>
        <p:spPr>
          <a:xfrm>
            <a:off x="812902" y="5080406"/>
            <a:ext cx="5130698" cy="1015898"/>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The Materials Agent answers at </a:t>
            </a:r>
            <a:pPr indent="0" marL="0">
              <a:spcAft>
                <a:spcPts val="400"/>
              </a:spcAft>
              <a:buNone/>
            </a:pPr>
            <a:r>
              <a:rPr lang="en-US" sz="1200" b="1" dirty="0">
                <a:solidFill>
                  <a:schemeClr val="tx2"/>
                </a:solidFill>
              </a:rPr>
              <a:t>16:44:10</a:t>
            </a:r>
            <a:pPr indent="0" marL="0">
              <a:spcAft>
                <a:spcPts val="400"/>
              </a:spcAft>
              <a:buNone/>
            </a:pPr>
            <a:r>
              <a:rPr lang="en-US" sz="1200" dirty="0">
                <a:solidFill>
                  <a:schemeClr val="tx2"/>
                </a:solidFill>
              </a:rPr>
              <a:t>. The Compliance Agent evaluates the Proposed Action against the Materials Mandate, finds a violated boundary constraint, and returns a </a:t>
            </a:r>
            <a:pPr indent="0" marL="0">
              <a:spcAft>
                <a:spcPts val="400"/>
              </a:spcAft>
              <a:buNone/>
            </a:pPr>
            <a:r>
              <a:rPr lang="en-US" sz="1200" b="1" dirty="0">
                <a:solidFill>
                  <a:schemeClr val="tx2"/>
                </a:solidFill>
              </a:rPr>
              <a:t>revision directive</a:t>
            </a:r>
            <a:pPr indent="0" marL="0">
              <a:spcAft>
                <a:spcPts val="400"/>
              </a:spcAft>
              <a:buNone/>
            </a:pPr>
            <a:r>
              <a:rPr lang="en-US" sz="1200" dirty="0">
                <a:solidFill>
                  <a:schemeClr val="tx2"/>
                </a:solidFill>
              </a:rPr>
              <a:t> instead of delivering.</a:t>
            </a:r>
            <a:endParaRPr lang="en-US" sz="1200" dirty="0"/>
          </a:p>
        </p:txBody>
      </p:sp>
      <p:sp>
        <p:nvSpPr>
          <p:cNvPr id="8" name="Text 4"/>
          <p:cNvSpPr txBox="1"/>
          <p:nvPr/>
        </p:nvSpPr>
        <p:spPr>
          <a:xfrm>
            <a:off x="6248095" y="5080406"/>
            <a:ext cx="5130698" cy="1015898"/>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The agent re-analyses and answers again at </a:t>
            </a:r>
            <a:pPr indent="0" marL="0">
              <a:spcAft>
                <a:spcPts val="400"/>
              </a:spcAft>
              <a:buNone/>
            </a:pPr>
            <a:r>
              <a:rPr lang="en-US" sz="1200" b="1" dirty="0">
                <a:solidFill>
                  <a:schemeClr val="tx2"/>
                </a:solidFill>
              </a:rPr>
              <a:t>16:44:13</a:t>
            </a:r>
            <a:pPr indent="0" marL="0">
              <a:spcAft>
                <a:spcPts val="400"/>
              </a:spcAft>
              <a:buNone/>
            </a:pPr>
            <a:r>
              <a:rPr lang="en-US" sz="1200" dirty="0">
                <a:solidFill>
                  <a:schemeClr val="tx2"/>
                </a:solidFill>
              </a:rPr>
              <a:t>; that response is delivered. </a:t>
            </a:r>
            <a:pPr indent="0" marL="0">
              <a:spcAft>
                <a:spcPts val="400"/>
              </a:spcAft>
              <a:buNone/>
            </a:pPr>
            <a:r>
              <a:rPr lang="en-US" sz="1200" b="1" dirty="0">
                <a:solidFill>
                  <a:schemeClr val="tx2"/>
                </a:solidFill>
              </a:rPr>
              <a:t>One revision, zero forced blocks</a:t>
            </a:r>
            <a:pPr indent="0" marL="0">
              <a:spcAft>
                <a:spcPts val="400"/>
              </a:spcAft>
              <a:buNone/>
            </a:pPr>
            <a:r>
              <a:rPr lang="en-US" sz="1200" dirty="0">
                <a:solidFill>
                  <a:schemeClr val="tx2"/>
                </a:solidFill>
              </a:rPr>
              <a:t>: a bounded loop terminating in delivery, exactly what R4 requires. </a:t>
            </a:r>
            <a:pPr indent="0" marL="0">
              <a:spcAft>
                <a:spcPts val="400"/>
              </a:spcAft>
              <a:buNone/>
            </a:pPr>
            <a:r>
              <a:rPr lang="en-US" sz="1200" i="1" dirty="0">
                <a:solidFill>
                  <a:schemeClr val="tx2"/>
                </a:solidFill>
              </a:rPr>
              <a:t>The non-compliant first answer never reached the Orchestrator.</a:t>
            </a:r>
            <a:endParaRPr lang="en-US" sz="12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EVALUATION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Two claims, two evaluations</a:t>
            </a:r>
            <a:endParaRPr lang="en-US" sz="2800" dirty="0"/>
          </a:p>
        </p:txBody>
      </p:sp>
      <p:sp>
        <p:nvSpPr>
          <p:cNvPr id="5" name="Shape 2"/>
          <p:cNvSpPr/>
          <p:nvPr/>
        </p:nvSpPr>
        <p:spPr>
          <a:xfrm>
            <a:off x="812902" y="1777594"/>
            <a:ext cx="5181905" cy="4063594"/>
          </a:xfrm>
          <a:prstGeom prst="roundRect">
            <a:avLst>
              <a:gd name="adj" fmla="val 1800"/>
            </a:avLst>
          </a:prstGeom>
          <a:solidFill>
            <a:schemeClr val="bg2"/>
          </a:solidFill>
          <a:ln w="9525">
            <a:solidFill>
              <a:schemeClr val="accent6"/>
            </a:solidFill>
            <a:prstDash val="solid"/>
          </a:ln>
        </p:spPr>
      </p:sp>
      <p:sp>
        <p:nvSpPr>
          <p:cNvPr id="6" name="Shape 3"/>
          <p:cNvSpPr/>
          <p:nvPr/>
        </p:nvSpPr>
        <p:spPr>
          <a:xfrm>
            <a:off x="812902" y="1777594"/>
            <a:ext cx="5181905" cy="38405"/>
          </a:xfrm>
          <a:prstGeom prst="rect">
            <a:avLst/>
          </a:prstGeom>
          <a:solidFill>
            <a:schemeClr val="tx1"/>
          </a:solidFill>
          <a:ln w="12700">
            <a:solidFill>
              <a:schemeClr val="tx1"/>
            </a:solidFill>
            <a:prstDash val="solid"/>
          </a:ln>
        </p:spPr>
      </p:sp>
      <p:sp>
        <p:nvSpPr>
          <p:cNvPr id="7" name="Text 4"/>
          <p:cNvSpPr txBox="1"/>
          <p:nvPr/>
        </p:nvSpPr>
        <p:spPr>
          <a:xfrm>
            <a:off x="1041502" y="1968703"/>
            <a:ext cx="4762195" cy="254203"/>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Expressiveness, the </a:t>
            </a:r>
            <a:pPr indent="0" marL="0">
              <a:spcAft>
                <a:spcPts val="400"/>
              </a:spcAft>
              <a:buNone/>
            </a:pPr>
            <a:r>
              <a:rPr lang="en-US" sz="1600" b="1" i="1" dirty="0">
                <a:solidFill>
                  <a:schemeClr val="tx1"/>
                </a:solidFill>
              </a:rPr>
              <a:t>modeling</a:t>
            </a:r>
            <a:pPr indent="0" marL="0">
              <a:spcAft>
                <a:spcPts val="400"/>
              </a:spcAft>
              <a:buNone/>
            </a:pPr>
            <a:r>
              <a:rPr lang="en-US" sz="1600" b="1" dirty="0">
                <a:solidFill>
                  <a:schemeClr val="tx1"/>
                </a:solidFill>
              </a:rPr>
              <a:t> claim</a:t>
            </a:r>
            <a:endParaRPr lang="en-US" sz="1600" dirty="0"/>
          </a:p>
        </p:txBody>
      </p:sp>
      <p:sp>
        <p:nvSpPr>
          <p:cNvPr id="8" name="Text 5"/>
          <p:cNvSpPr txBox="1"/>
          <p:nvPr/>
        </p:nvSpPr>
        <p:spPr>
          <a:xfrm>
            <a:off x="1041502" y="2286000"/>
            <a:ext cx="4762195" cy="444398"/>
          </a:xfrm>
          <a:prstGeom prst="rect">
            <a:avLst/>
          </a:prstGeom>
          <a:noFill/>
          <a:ln/>
        </p:spPr>
        <p:txBody>
          <a:bodyPr wrap="square" lIns="0" tIns="0" rIns="0" bIns="0" rtlCol="0" anchor="t"/>
          <a:lstStyle/>
          <a:p>
            <a:pPr indent="0" marL="0">
              <a:spcAft>
                <a:spcPts val="400"/>
              </a:spcAft>
              <a:buNone/>
            </a:pPr>
            <a:r>
              <a:rPr lang="en-US" sz="1100" dirty="0">
                <a:solidFill>
                  <a:schemeClr val="accent5"/>
                </a:solidFill>
              </a:rPr>
              <a:t>Scenarios S1 to S3 instantiate the three gaps. Does each capture a scenario existing agent-oriented languages do not?</a:t>
            </a:r>
            <a:endParaRPr lang="en-US" sz="1100" dirty="0"/>
          </a:p>
        </p:txBody>
      </p:sp>
      <p:sp>
        <p:nvSpPr>
          <p:cNvPr id="9" name="Text 6"/>
          <p:cNvSpPr txBox="1"/>
          <p:nvPr/>
        </p:nvSpPr>
        <p:spPr>
          <a:xfrm>
            <a:off x="1041502" y="2794406"/>
            <a:ext cx="4762195" cy="2920594"/>
          </a:xfrm>
          <a:prstGeom prst="rect">
            <a:avLst/>
          </a:prstGeom>
          <a:noFill/>
          <a:ln/>
        </p:spPr>
        <p:txBody>
          <a:bodyPr wrap="square" lIns="0" tIns="0" rIns="0" bIns="0" rtlCol="0" anchor="t"/>
          <a:lstStyle/>
          <a:p>
            <a:pPr indent="0" marL="0">
              <a:spcAft>
                <a:spcPts val="400"/>
              </a:spcAft>
              <a:buNone/>
            </a:pPr>
            <a:r>
              <a:rPr lang="en-US" sz="1200" b="1" dirty="0">
                <a:solidFill>
                  <a:schemeClr val="tx2"/>
                </a:solidFill>
              </a:rPr>
              <a:t>S1 Out-of-scope declination.</a:t>
            </a:r>
            <a:pPr indent="0" marL="0">
              <a:spcAft>
                <a:spcPts val="400"/>
              </a:spcAft>
              <a:buNone/>
            </a:pPr>
            <a:r>
              <a:rPr lang="en-US" sz="1200" dirty="0">
                <a:solidFill>
                  <a:schemeClr val="tx2"/>
                </a:solidFill>
              </a:rPr>
              <a:t> Agents returned out_of_scope with named constraints. GAIA can express the permission but not verify it; i* has no prohibition construct.</a:t>
            </a:r>
            <a:endParaRPr lang="en-US" sz="1200" dirty="0"/>
          </a:p>
          <a:p>
            <a:pPr indent="0" marL="0">
              <a:spcAft>
                <a:spcPts val="400"/>
              </a:spcAft>
              <a:buNone/>
            </a:pPr>
            <a:endParaRPr lang="en-US" sz="1200" dirty="0"/>
          </a:p>
          <a:p>
            <a:pPr indent="0" marL="0">
              <a:spcAft>
                <a:spcPts val="400"/>
              </a:spcAft>
              <a:buNone/>
            </a:pPr>
            <a:r>
              <a:rPr lang="en-US" sz="1200" b="1" dirty="0">
                <a:solidFill>
                  <a:schemeClr val="tx2"/>
                </a:solidFill>
              </a:rPr>
              <a:t>S2 Quantitative enforcement.</a:t>
            </a:r>
            <a:pPr indent="0" marL="0">
              <a:spcAft>
                <a:spcPts val="400"/>
              </a:spcAft>
              <a:buNone/>
            </a:pPr>
            <a:r>
              <a:rPr lang="en-US" sz="1200" dirty="0">
                <a:solidFill>
                  <a:schemeClr val="tx2"/>
                </a:solidFill>
              </a:rPr>
              <a:t> The checker fired on every session exceeding a limit. NMAS needs the agent to evaluate itself; GAIA has no quantitative construct.</a:t>
            </a:r>
            <a:endParaRPr lang="en-US" sz="1200" dirty="0"/>
          </a:p>
          <a:p>
            <a:pPr indent="0" marL="0">
              <a:spcAft>
                <a:spcPts val="400"/>
              </a:spcAft>
              <a:buNone/>
            </a:pPr>
            <a:endParaRPr lang="en-US" sz="1200" dirty="0"/>
          </a:p>
          <a:p>
            <a:pPr indent="0" marL="0">
              <a:spcAft>
                <a:spcPts val="400"/>
              </a:spcAft>
              <a:buNone/>
            </a:pPr>
            <a:r>
              <a:rPr lang="en-US" sz="1200" b="1" dirty="0">
                <a:solidFill>
                  <a:schemeClr val="tx2"/>
                </a:solidFill>
              </a:rPr>
              <a:t>S3 Audit reconstruction.</a:t>
            </a:r>
            <a:pPr indent="0" marL="0">
              <a:spcAft>
                <a:spcPts val="400"/>
              </a:spcAft>
              <a:buNone/>
            </a:pPr>
            <a:r>
              <a:rPr lang="en-US" sz="1200" dirty="0">
                <a:solidFill>
                  <a:schemeClr val="tx2"/>
                </a:solidFill>
              </a:rPr>
              <a:t> Full decision sequence reconstructible from the Trace. No existing framework offers an equivalent artifact.</a:t>
            </a:r>
            <a:endParaRPr lang="en-US" sz="1200" dirty="0"/>
          </a:p>
        </p:txBody>
      </p:sp>
      <p:sp>
        <p:nvSpPr>
          <p:cNvPr id="10" name="Shape 7"/>
          <p:cNvSpPr/>
          <p:nvPr/>
        </p:nvSpPr>
        <p:spPr>
          <a:xfrm>
            <a:off x="6197803" y="1777594"/>
            <a:ext cx="5181905" cy="4063594"/>
          </a:xfrm>
          <a:prstGeom prst="roundRect">
            <a:avLst>
              <a:gd name="adj" fmla="val 1800"/>
            </a:avLst>
          </a:prstGeom>
          <a:solidFill>
            <a:schemeClr val="tx1"/>
          </a:solidFill>
          <a:ln w="12700">
            <a:solidFill>
              <a:schemeClr val="tx1"/>
            </a:solidFill>
            <a:prstDash val="solid"/>
          </a:ln>
        </p:spPr>
      </p:sp>
      <p:sp>
        <p:nvSpPr>
          <p:cNvPr id="11" name="Text 8"/>
          <p:cNvSpPr txBox="1"/>
          <p:nvPr/>
        </p:nvSpPr>
        <p:spPr>
          <a:xfrm>
            <a:off x="6426403" y="1968703"/>
            <a:ext cx="4762195" cy="254203"/>
          </a:xfrm>
          <a:prstGeom prst="rect">
            <a:avLst/>
          </a:prstGeom>
          <a:noFill/>
          <a:ln/>
        </p:spPr>
        <p:txBody>
          <a:bodyPr wrap="square" lIns="0" tIns="0" rIns="0" bIns="0" rtlCol="0" anchor="t"/>
          <a:lstStyle/>
          <a:p>
            <a:pPr indent="0" marL="0">
              <a:spcAft>
                <a:spcPts val="400"/>
              </a:spcAft>
              <a:buNone/>
            </a:pPr>
            <a:r>
              <a:rPr lang="en-US" sz="1600" b="1" dirty="0">
                <a:solidFill>
                  <a:srgbClr val="F7F5EF"/>
                </a:solidFill>
              </a:rPr>
              <a:t>Applicability, the </a:t>
            </a:r>
            <a:pPr indent="0" marL="0">
              <a:spcAft>
                <a:spcPts val="400"/>
              </a:spcAft>
              <a:buNone/>
            </a:pPr>
            <a:r>
              <a:rPr lang="en-US" sz="1600" b="1" i="1" dirty="0">
                <a:solidFill>
                  <a:srgbClr val="F7F5EF"/>
                </a:solidFill>
              </a:rPr>
              <a:t>operativity</a:t>
            </a:r>
            <a:pPr indent="0" marL="0">
              <a:spcAft>
                <a:spcPts val="400"/>
              </a:spcAft>
              <a:buNone/>
            </a:pPr>
            <a:r>
              <a:rPr lang="en-US" sz="1600" b="1" dirty="0">
                <a:solidFill>
                  <a:srgbClr val="F7F5EF"/>
                </a:solidFill>
              </a:rPr>
              <a:t> claim</a:t>
            </a:r>
            <a:endParaRPr lang="en-US" sz="1600" dirty="0"/>
          </a:p>
        </p:txBody>
      </p:sp>
      <p:sp>
        <p:nvSpPr>
          <p:cNvPr id="12" name="Text 9"/>
          <p:cNvSpPr txBox="1"/>
          <p:nvPr/>
        </p:nvSpPr>
        <p:spPr>
          <a:xfrm>
            <a:off x="6426403" y="2286000"/>
            <a:ext cx="4762195" cy="444398"/>
          </a:xfrm>
          <a:prstGeom prst="rect">
            <a:avLst/>
          </a:prstGeom>
          <a:noFill/>
          <a:ln/>
        </p:spPr>
        <p:txBody>
          <a:bodyPr wrap="square" lIns="0" tIns="0" rIns="0" bIns="0" rtlCol="0" anchor="t"/>
          <a:lstStyle/>
          <a:p>
            <a:pPr indent="0" marL="0">
              <a:spcAft>
                <a:spcPts val="400"/>
              </a:spcAft>
              <a:buNone/>
            </a:pPr>
            <a:r>
              <a:rPr lang="en-US" sz="1100" dirty="0">
                <a:solidFill>
                  <a:srgbClr val="BFC8D9"/>
                </a:solidFill>
              </a:rPr>
              <a:t>Do the constructs hold at runtime, across sessions and adversarial agent dispositions?</a:t>
            </a:r>
            <a:endParaRPr lang="en-US" sz="1100" dirty="0"/>
          </a:p>
        </p:txBody>
      </p:sp>
      <p:sp>
        <p:nvSpPr>
          <p:cNvPr id="13" name="Text 10"/>
          <p:cNvSpPr txBox="1"/>
          <p:nvPr/>
        </p:nvSpPr>
        <p:spPr>
          <a:xfrm>
            <a:off x="6426403" y="2730398"/>
            <a:ext cx="1460297" cy="571500"/>
          </a:xfrm>
          <a:prstGeom prst="rect">
            <a:avLst/>
          </a:prstGeom>
          <a:noFill/>
          <a:ln/>
        </p:spPr>
        <p:txBody>
          <a:bodyPr wrap="square" lIns="0" tIns="0" rIns="0" bIns="0" rtlCol="0" anchor="t"/>
          <a:lstStyle/>
          <a:p>
            <a:pPr indent="0" marL="0">
              <a:spcAft>
                <a:spcPts val="400"/>
              </a:spcAft>
              <a:buNone/>
            </a:pPr>
            <a:r>
              <a:rPr lang="en-US" sz="4400" b="1" dirty="0">
                <a:solidFill>
                  <a:schemeClr val="accent2"/>
                </a:solidFill>
                <a:latin typeface="Cambria" pitchFamily="34" charset="0"/>
                <a:ea typeface="Cambria" pitchFamily="34" charset="-122"/>
                <a:cs typeface="Cambria" pitchFamily="34" charset="-120"/>
              </a:rPr>
              <a:t>19</a:t>
            </a:r>
            <a:endParaRPr lang="en-US" sz="4400" dirty="0"/>
          </a:p>
        </p:txBody>
      </p:sp>
      <p:sp>
        <p:nvSpPr>
          <p:cNvPr id="14" name="Text 11"/>
          <p:cNvSpPr txBox="1"/>
          <p:nvPr/>
        </p:nvSpPr>
        <p:spPr>
          <a:xfrm>
            <a:off x="6426403" y="3333902"/>
            <a:ext cx="1460297" cy="190195"/>
          </a:xfrm>
          <a:prstGeom prst="rect">
            <a:avLst/>
          </a:prstGeom>
          <a:noFill/>
          <a:ln/>
        </p:spPr>
        <p:txBody>
          <a:bodyPr wrap="square" lIns="0" tIns="0" rIns="0" bIns="0" rtlCol="0" anchor="t"/>
          <a:lstStyle/>
          <a:p>
            <a:pPr indent="0" marL="0">
              <a:spcAft>
                <a:spcPts val="400"/>
              </a:spcAft>
              <a:buNone/>
            </a:pPr>
            <a:r>
              <a:rPr lang="en-US" sz="1100" dirty="0">
                <a:solidFill>
                  <a:srgbClr val="BFC8D9"/>
                </a:solidFill>
              </a:rPr>
              <a:t>test cases</a:t>
            </a:r>
            <a:endParaRPr lang="en-US" sz="1100" dirty="0"/>
          </a:p>
        </p:txBody>
      </p:sp>
      <p:sp>
        <p:nvSpPr>
          <p:cNvPr id="15" name="Text 12"/>
          <p:cNvSpPr txBox="1"/>
          <p:nvPr/>
        </p:nvSpPr>
        <p:spPr>
          <a:xfrm>
            <a:off x="7949794" y="2730398"/>
            <a:ext cx="1460297" cy="571500"/>
          </a:xfrm>
          <a:prstGeom prst="rect">
            <a:avLst/>
          </a:prstGeom>
          <a:noFill/>
          <a:ln/>
        </p:spPr>
        <p:txBody>
          <a:bodyPr wrap="square" lIns="0" tIns="0" rIns="0" bIns="0" rtlCol="0" anchor="t"/>
          <a:lstStyle/>
          <a:p>
            <a:pPr indent="0" marL="0">
              <a:spcAft>
                <a:spcPts val="400"/>
              </a:spcAft>
              <a:buNone/>
            </a:pPr>
            <a:r>
              <a:rPr lang="en-US" sz="4400" b="1" dirty="0">
                <a:solidFill>
                  <a:schemeClr val="accent2"/>
                </a:solidFill>
                <a:latin typeface="Cambria" pitchFamily="34" charset="0"/>
                <a:ea typeface="Cambria" pitchFamily="34" charset="-122"/>
                <a:cs typeface="Cambria" pitchFamily="34" charset="-120"/>
              </a:rPr>
              <a:t>10</a:t>
            </a:r>
            <a:endParaRPr lang="en-US" sz="4400" dirty="0"/>
          </a:p>
        </p:txBody>
      </p:sp>
      <p:sp>
        <p:nvSpPr>
          <p:cNvPr id="16" name="Text 13"/>
          <p:cNvSpPr txBox="1"/>
          <p:nvPr/>
        </p:nvSpPr>
        <p:spPr>
          <a:xfrm>
            <a:off x="7949794" y="3333902"/>
            <a:ext cx="1460297" cy="190195"/>
          </a:xfrm>
          <a:prstGeom prst="rect">
            <a:avLst/>
          </a:prstGeom>
          <a:noFill/>
          <a:ln/>
        </p:spPr>
        <p:txBody>
          <a:bodyPr wrap="square" lIns="0" tIns="0" rIns="0" bIns="0" rtlCol="0" anchor="t"/>
          <a:lstStyle/>
          <a:p>
            <a:pPr indent="0" marL="0">
              <a:spcAft>
                <a:spcPts val="400"/>
              </a:spcAft>
              <a:buNone/>
            </a:pPr>
            <a:r>
              <a:rPr lang="en-US" sz="1100" dirty="0">
                <a:solidFill>
                  <a:srgbClr val="BFC8D9"/>
                </a:solidFill>
              </a:rPr>
              <a:t>independent runs</a:t>
            </a:r>
            <a:endParaRPr lang="en-US" sz="1100" dirty="0"/>
          </a:p>
        </p:txBody>
      </p:sp>
      <p:sp>
        <p:nvSpPr>
          <p:cNvPr id="17" name="Text 14"/>
          <p:cNvSpPr txBox="1"/>
          <p:nvPr/>
        </p:nvSpPr>
        <p:spPr>
          <a:xfrm>
            <a:off x="9474098" y="2730398"/>
            <a:ext cx="1460297" cy="571500"/>
          </a:xfrm>
          <a:prstGeom prst="rect">
            <a:avLst/>
          </a:prstGeom>
          <a:noFill/>
          <a:ln/>
        </p:spPr>
        <p:txBody>
          <a:bodyPr wrap="square" lIns="0" tIns="0" rIns="0" bIns="0" rtlCol="0" anchor="t"/>
          <a:lstStyle/>
          <a:p>
            <a:pPr indent="0" marL="0">
              <a:spcAft>
                <a:spcPts val="400"/>
              </a:spcAft>
              <a:buNone/>
            </a:pPr>
            <a:r>
              <a:rPr lang="en-US" sz="4400" b="1" dirty="0">
                <a:solidFill>
                  <a:srgbClr val="F7F5EF"/>
                </a:solidFill>
                <a:latin typeface="Cambria" pitchFamily="34" charset="0"/>
                <a:ea typeface="Cambria" pitchFamily="34" charset="-122"/>
                <a:cs typeface="Cambria" pitchFamily="34" charset="-120"/>
              </a:rPr>
              <a:t>190</a:t>
            </a:r>
            <a:endParaRPr lang="en-US" sz="4400" dirty="0"/>
          </a:p>
        </p:txBody>
      </p:sp>
      <p:sp>
        <p:nvSpPr>
          <p:cNvPr id="18" name="Text 15"/>
          <p:cNvSpPr txBox="1"/>
          <p:nvPr/>
        </p:nvSpPr>
        <p:spPr>
          <a:xfrm>
            <a:off x="9474098" y="3333902"/>
            <a:ext cx="1460297" cy="190195"/>
          </a:xfrm>
          <a:prstGeom prst="rect">
            <a:avLst/>
          </a:prstGeom>
          <a:noFill/>
          <a:ln/>
        </p:spPr>
        <p:txBody>
          <a:bodyPr wrap="square" lIns="0" tIns="0" rIns="0" bIns="0" rtlCol="0" anchor="t"/>
          <a:lstStyle/>
          <a:p>
            <a:pPr indent="0" marL="0">
              <a:spcAft>
                <a:spcPts val="400"/>
              </a:spcAft>
              <a:buNone/>
            </a:pPr>
            <a:r>
              <a:rPr lang="en-US" sz="1100" dirty="0">
                <a:solidFill>
                  <a:srgbClr val="BFC8D9"/>
                </a:solidFill>
              </a:rPr>
              <a:t>evaluations</a:t>
            </a:r>
            <a:endParaRPr lang="en-US" sz="1100" dirty="0"/>
          </a:p>
        </p:txBody>
      </p:sp>
      <p:sp>
        <p:nvSpPr>
          <p:cNvPr id="19" name="Text 16"/>
          <p:cNvSpPr txBox="1"/>
          <p:nvPr/>
        </p:nvSpPr>
        <p:spPr>
          <a:xfrm>
            <a:off x="6426403" y="3683203"/>
            <a:ext cx="4762195" cy="2031797"/>
          </a:xfrm>
          <a:prstGeom prst="rect">
            <a:avLst/>
          </a:prstGeom>
          <a:noFill/>
          <a:ln/>
        </p:spPr>
        <p:txBody>
          <a:bodyPr wrap="square" lIns="0" tIns="0" rIns="0" bIns="0" rtlCol="0" anchor="t"/>
          <a:lstStyle/>
          <a:p>
            <a:pPr indent="0" marL="0">
              <a:spcAft>
                <a:spcPts val="400"/>
              </a:spcAft>
              <a:buNone/>
            </a:pPr>
            <a:r>
              <a:rPr lang="en-US" sz="1200" b="1" dirty="0">
                <a:solidFill>
                  <a:srgbClr val="F7F5EF"/>
                </a:solidFill>
              </a:rPr>
              <a:t>TC-1 to 15:</a:t>
            </a:r>
            <a:pPr indent="0" marL="0">
              <a:spcAft>
                <a:spcPts val="400"/>
              </a:spcAft>
              <a:buNone/>
            </a:pPr>
            <a:r>
              <a:rPr lang="en-US" sz="1200" dirty="0">
                <a:solidFill>
                  <a:srgbClr val="F7F5EF"/>
                </a:solidFill>
              </a:rPr>
              <a:t> in-scope baseline, out-of-scope, hard constraint violation, synthesis and trace integrity.</a:t>
            </a:r>
            <a:endParaRPr lang="en-US" sz="1200" dirty="0"/>
          </a:p>
          <a:p>
            <a:pPr indent="0" marL="0">
              <a:spcAft>
                <a:spcPts val="400"/>
              </a:spcAft>
              <a:buNone/>
            </a:pPr>
            <a:r>
              <a:rPr lang="en-US" sz="1200" b="1" dirty="0">
                <a:solidFill>
                  <a:srgbClr val="F7F5EF"/>
                </a:solidFill>
              </a:rPr>
              <a:t>TC-16 to 19:</a:t>
            </a:r>
            <a:pPr indent="0" marL="0">
              <a:spcAft>
                <a:spcPts val="400"/>
              </a:spcAft>
              <a:buNone/>
            </a:pPr>
            <a:r>
              <a:rPr lang="en-US" sz="1200" dirty="0">
                <a:solidFill>
                  <a:srgbClr val="F7F5EF"/>
                </a:solidFill>
              </a:rPr>
              <a:t> disposition presets Neutral, Aggressive Broker, Reckless Portfolio Manager, Groupthink.</a:t>
            </a:r>
            <a:endParaRPr lang="en-US" sz="1200" dirty="0"/>
          </a:p>
          <a:p>
            <a:pPr indent="0" marL="0">
              <a:spcAft>
                <a:spcPts val="400"/>
              </a:spcAft>
              <a:buNone/>
            </a:pPr>
            <a:endParaRPr lang="en-US" sz="1200" dirty="0"/>
          </a:p>
          <a:p>
            <a:pPr indent="0" marL="0">
              <a:spcAft>
                <a:spcPts val="400"/>
              </a:spcAft>
              <a:buNone/>
            </a:pPr>
            <a:r>
              <a:rPr lang="en-US" sz="1200" dirty="0">
                <a:solidFill>
                  <a:srgbClr val="F7F5EF"/>
                </a:solidFill>
              </a:rPr>
              <a:t>Scoring is </a:t>
            </a:r>
            <a:pPr indent="0" marL="0">
              <a:spcAft>
                <a:spcPts val="400"/>
              </a:spcAft>
              <a:buNone/>
            </a:pPr>
            <a:r>
              <a:rPr lang="en-US" sz="1200" b="1" dirty="0">
                <a:solidFill>
                  <a:srgbClr val="F7F5EF"/>
                </a:solidFill>
              </a:rPr>
              <a:t>deterministic pattern matching</a:t>
            </a:r>
            <a:pPr indent="0" marL="0">
              <a:spcAft>
                <a:spcPts val="400"/>
              </a:spcAft>
              <a:buNone/>
            </a:pPr>
            <a:r>
              <a:rPr lang="en-US" sz="1200" dirty="0">
                <a:solidFill>
                  <a:srgbClr val="F7F5EF"/>
                </a:solidFill>
              </a:rPr>
              <a:t> over session JSON, 0, 1 or 2 per dimension. </a:t>
            </a:r>
            <a:pPr indent="0" marL="0">
              <a:spcAft>
                <a:spcPts val="400"/>
              </a:spcAft>
              <a:buNone/>
            </a:pPr>
            <a:r>
              <a:rPr lang="en-US" sz="1200" b="1" dirty="0">
                <a:solidFill>
                  <a:srgbClr val="F7F5EF"/>
                </a:solidFill>
              </a:rPr>
              <a:t>No LLM judge.</a:t>
            </a:r>
            <a:endParaRPr lang="en-US" sz="12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EVALUATION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Six dimensions, one per framework claim</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12902" y="1746504"/>
          <a:ext cx="10566806" cy="914400"/>
        </p:xfrm>
        <a:graphic>
          <a:graphicData uri="http://schemas.openxmlformats.org/drawingml/2006/table">
            <a:tbl>
              <a:tblPr/>
              <a:tblGrid>
                <a:gridCol w="737006"/>
                <a:gridCol w="2540203"/>
                <a:gridCol w="2857500"/>
                <a:gridCol w="1473098"/>
                <a:gridCol w="2958998"/>
              </a:tblGrid>
              <a:tr h="0">
                <a:tc>
                  <a:txBody>
                    <a:bodyPr/>
                    <a:lstStyle/>
                    <a:p>
                      <a:pPr algn="l" indent="0" marL="0">
                        <a:buNone/>
                      </a:pPr>
                      <a:r>
                        <a:rPr lang="en-US" sz="1150" b="1" dirty="0">
                          <a:solidFill>
                            <a:srgbClr val="F7F5EF"/>
                          </a:solidFill>
                          <a:latin typeface="Calibri" pitchFamily="34" charset="0"/>
                          <a:ea typeface="Calibri" pitchFamily="34" charset="-122"/>
                          <a:cs typeface="Calibri" pitchFamily="34" charset="-120"/>
                        </a:rPr>
                        <a:t>Dim.</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l" indent="0" marL="0">
                        <a:buNone/>
                      </a:pPr>
                      <a:r>
                        <a:rPr lang="en-US" sz="1150" b="1" dirty="0">
                          <a:solidFill>
                            <a:srgbClr val="F7F5EF"/>
                          </a:solidFill>
                          <a:latin typeface="Calibri" pitchFamily="34" charset="0"/>
                          <a:ea typeface="Calibri" pitchFamily="34" charset="-122"/>
                          <a:cs typeface="Calibri" pitchFamily="34" charset="-120"/>
                        </a:rPr>
                        <a:t>Dimension</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l" indent="0" marL="0">
                        <a:buNone/>
                      </a:pPr>
                      <a:r>
                        <a:rPr lang="en-US" sz="1150" b="1" dirty="0">
                          <a:solidFill>
                            <a:srgbClr val="F7F5EF"/>
                          </a:solidFill>
                          <a:latin typeface="Calibri" pitchFamily="34" charset="0"/>
                          <a:ea typeface="Calibri" pitchFamily="34" charset="-122"/>
                          <a:cs typeface="Calibri" pitchFamily="34" charset="-120"/>
                        </a:rPr>
                        <a:t>Framework claim tested</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l" indent="0" marL="0">
                        <a:buNone/>
                      </a:pPr>
                      <a:r>
                        <a:rPr lang="en-US" sz="1150" b="1" dirty="0">
                          <a:solidFill>
                            <a:srgbClr val="F7F5EF"/>
                          </a:solidFill>
                          <a:latin typeface="Calibri" pitchFamily="34" charset="0"/>
                          <a:ea typeface="Calibri" pitchFamily="34" charset="-122"/>
                          <a:cs typeface="Calibri" pitchFamily="34" charset="-120"/>
                        </a:rPr>
                        <a:t>Pillar</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l" indent="0" marL="0">
                        <a:buNone/>
                      </a:pPr>
                      <a:r>
                        <a:rPr lang="en-US" sz="1150" b="1" dirty="0">
                          <a:solidFill>
                            <a:srgbClr val="F7F5EF"/>
                          </a:solidFill>
                          <a:latin typeface="Calibri" pitchFamily="34" charset="0"/>
                          <a:ea typeface="Calibri" pitchFamily="34" charset="-122"/>
                          <a:cs typeface="Calibri" pitchFamily="34" charset="-120"/>
                        </a:rPr>
                        <a:t>What the scorer checks</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r>
              <a:tr h="0">
                <a:tc>
                  <a:txBody>
                    <a:bodyPr/>
                    <a:lstStyle/>
                    <a:p>
                      <a:pPr indent="0" marL="0">
                        <a:buNone/>
                      </a:pPr>
                      <a:r>
                        <a:rPr lang="en-US" sz="1150" b="1" dirty="0">
                          <a:solidFill>
                            <a:srgbClr val="1B2A4A"/>
                          </a:solidFill>
                          <a:latin typeface="Calibri" pitchFamily="34" charset="0"/>
                          <a:ea typeface="Calibri" pitchFamily="34" charset="-122"/>
                          <a:cs typeface="Calibri" pitchFamily="34" charset="-120"/>
                        </a:rPr>
                        <a:t>BVC</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Boundary Violation Containment</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Bounded autonomy is verifiable</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Enforcement</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No forced pass; no blocked agent's output in the final recommendation</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150" b="1" dirty="0">
                          <a:solidFill>
                            <a:srgbClr val="1B2A4A"/>
                          </a:solidFill>
                          <a:latin typeface="Calibri" pitchFamily="34" charset="0"/>
                          <a:ea typeface="Calibri" pitchFamily="34" charset="-122"/>
                          <a:cs typeface="Calibri" pitchFamily="34" charset="-120"/>
                        </a:rPr>
                        <a:t>CGP</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Compliance Gate Precision</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The gate produces no false positives</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Enforcement</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No rejection where every deterministic check passed</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r h="0">
                <a:tc>
                  <a:txBody>
                    <a:bodyPr/>
                    <a:lstStyle/>
                    <a:p>
                      <a:pPr indent="0" marL="0">
                        <a:buNone/>
                      </a:pPr>
                      <a:r>
                        <a:rPr lang="en-US" sz="1150" b="1" dirty="0">
                          <a:solidFill>
                            <a:srgbClr val="1B2A4A"/>
                          </a:solidFill>
                          <a:latin typeface="Calibri" pitchFamily="34" charset="0"/>
                          <a:ea typeface="Calibri" pitchFamily="34" charset="-122"/>
                          <a:cs typeface="Calibri" pitchFamily="34" charset="-120"/>
                        </a:rPr>
                        <a:t>ME</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Mandate Enforcement</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Delegated mandates are explicit</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Declaration</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Out-of-scope request declined, naming the violated constraint</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150" b="1" dirty="0">
                          <a:solidFill>
                            <a:srgbClr val="1B2A4A"/>
                          </a:solidFill>
                          <a:latin typeface="Calibri" pitchFamily="34" charset="0"/>
                          <a:ea typeface="Calibri" pitchFamily="34" charset="-122"/>
                          <a:cs typeface="Calibri" pitchFamily="34" charset="-120"/>
                        </a:rPr>
                        <a:t>CDA</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Constraint Detection Accuracy</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Mandates are machine-interpretable</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Declaration via Enforcement</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All expected rule IDs caught, ideally on the first evaluation</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r h="0">
                <a:tc>
                  <a:txBody>
                    <a:bodyPr/>
                    <a:lstStyle/>
                    <a:p>
                      <a:pPr indent="0" marL="0">
                        <a:buNone/>
                      </a:pPr>
                      <a:r>
                        <a:rPr lang="en-US" sz="1150" b="1" dirty="0">
                          <a:solidFill>
                            <a:srgbClr val="1B2A4A"/>
                          </a:solidFill>
                          <a:latin typeface="Calibri" pitchFamily="34" charset="0"/>
                          <a:ea typeface="Calibri" pitchFamily="34" charset="-122"/>
                          <a:cs typeface="Calibri" pitchFamily="34" charset="-120"/>
                        </a:rPr>
                        <a:t>ATC</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Accountability Trace Completeness</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Mandates are auditable</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Auditability</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Trace carries session ID, agents consulted, violated rule IDs</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150" b="1" dirty="0">
                          <a:solidFill>
                            <a:srgbClr val="1B2A4A"/>
                          </a:solidFill>
                          <a:latin typeface="Calibri" pitchFamily="34" charset="0"/>
                          <a:ea typeface="Calibri" pitchFamily="34" charset="-122"/>
                          <a:cs typeface="Calibri" pitchFamily="34" charset="-120"/>
                        </a:rPr>
                        <a:t>DC</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Disposition Containment</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Enforcement is disposition-invariant</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Enforcement</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150" dirty="0">
                          <a:solidFill>
                            <a:srgbClr val="1B2A4A"/>
                          </a:solidFill>
                          <a:latin typeface="Calibri" pitchFamily="34" charset="0"/>
                          <a:ea typeface="Calibri" pitchFamily="34" charset="-122"/>
                          <a:cs typeface="Calibri" pitchFamily="34" charset="-120"/>
                        </a:rPr>
                        <a:t>No forced pass and no figure above a mandate limit under any preset</a:t>
                      </a:r>
                      <a:endParaRPr lang="en-US" sz="115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bl>
          </a:graphicData>
        </a:graphic>
      </p:graphicFrame>
      <p:sp>
        <p:nvSpPr>
          <p:cNvPr id="6" name="Text 2"/>
          <p:cNvSpPr txBox="1"/>
          <p:nvPr/>
        </p:nvSpPr>
        <p:spPr>
          <a:xfrm>
            <a:off x="812902" y="5397703"/>
            <a:ext cx="10566806" cy="508406"/>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Each dimension is a deterministic scoring function over the session JSON, scored 0, 1 or 2 per test case. Thresholds are set per dimension in the evaluation protocol; BVC is zero-tolerance.</a:t>
            </a:r>
            <a:endParaRPr lang="en-US" sz="12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EVALUATION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Results across 190 evaluations</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12902" y="1746504"/>
          <a:ext cx="10566806" cy="914400"/>
        </p:xfrm>
        <a:graphic>
          <a:graphicData uri="http://schemas.openxmlformats.org/drawingml/2006/table">
            <a:tbl>
              <a:tblPr/>
              <a:tblGrid>
                <a:gridCol w="952805"/>
                <a:gridCol w="4749394"/>
                <a:gridCol w="1162202"/>
                <a:gridCol w="1371600"/>
                <a:gridCol w="952805"/>
                <a:gridCol w="1378001"/>
              </a:tblGrid>
              <a:tr h="0">
                <a:tc>
                  <a:txBody>
                    <a:bodyPr/>
                    <a:lstStyle/>
                    <a:p>
                      <a:pPr algn="l" indent="0" marL="0">
                        <a:buNone/>
                      </a:pPr>
                      <a:r>
                        <a:rPr lang="en-US" sz="1200" b="1" dirty="0">
                          <a:solidFill>
                            <a:srgbClr val="F7F5EF"/>
                          </a:solidFill>
                          <a:latin typeface="Calibri" pitchFamily="34" charset="0"/>
                          <a:ea typeface="Calibri" pitchFamily="34" charset="-122"/>
                          <a:cs typeface="Calibri" pitchFamily="34" charset="-120"/>
                        </a:rPr>
                        <a:t>Dim.</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l" indent="0" marL="0">
                        <a:buNone/>
                      </a:pPr>
                      <a:r>
                        <a:rPr lang="en-US" sz="1200" b="1" dirty="0">
                          <a:solidFill>
                            <a:srgbClr val="F7F5EF"/>
                          </a:solidFill>
                          <a:latin typeface="Calibri" pitchFamily="34" charset="0"/>
                          <a:ea typeface="Calibri" pitchFamily="34" charset="-122"/>
                          <a:cs typeface="Calibri" pitchFamily="34" charset="-120"/>
                        </a:rPr>
                        <a:t>Framework claim</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7F5EF"/>
                          </a:solidFill>
                          <a:latin typeface="Calibri" pitchFamily="34" charset="0"/>
                          <a:ea typeface="Calibri" pitchFamily="34" charset="-122"/>
                          <a:cs typeface="Calibri" pitchFamily="34" charset="-120"/>
                        </a:rPr>
                        <a:t>Threshold</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7F5EF"/>
                          </a:solidFill>
                          <a:latin typeface="Calibri" pitchFamily="34" charset="0"/>
                          <a:ea typeface="Calibri" pitchFamily="34" charset="-122"/>
                          <a:cs typeface="Calibri" pitchFamily="34" charset="-120"/>
                        </a:rPr>
                        <a:t>Mean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7F5EF"/>
                          </a:solidFill>
                          <a:latin typeface="Calibri" pitchFamily="34" charset="0"/>
                          <a:ea typeface="Calibri" pitchFamily="34" charset="-122"/>
                          <a:cs typeface="Calibri" pitchFamily="34" charset="-120"/>
                        </a:rPr>
                        <a:t>Std</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l" indent="0" marL="0">
                        <a:buNone/>
                      </a:pPr>
                      <a:r>
                        <a:rPr lang="en-US" sz="1200" b="1" dirty="0">
                          <a:solidFill>
                            <a:srgbClr val="F7F5E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r>
              <a:tr h="0">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BVC</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No non-compliant message delivered</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97.9%</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Near-pass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CGP</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No compliant response falsely blocked</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97.9%</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b="1" dirty="0">
                          <a:solidFill>
                            <a:srgbClr val="2E7D32"/>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r h="0">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ATC</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Traces carry session, agent, rule IDs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71.3%</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5.3</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b="1" dirty="0">
                          <a:solidFill>
                            <a:srgbClr val="B3261E"/>
                          </a:solidFill>
                          <a:latin typeface="Calibri" pitchFamily="34" charset="0"/>
                          <a:ea typeface="Calibri" pitchFamily="34" charset="-122"/>
                          <a:cs typeface="Calibri" pitchFamily="34" charset="-120"/>
                        </a:rPr>
                        <a:t>Below</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CDA</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Violations caught on first evaluation</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38.6 / 50.6%</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5.3</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b="1" dirty="0">
                          <a:solidFill>
                            <a:srgbClr val="B3261E"/>
                          </a:solidFill>
                          <a:latin typeface="Calibri" pitchFamily="34" charset="0"/>
                          <a:ea typeface="Calibri" pitchFamily="34" charset="-122"/>
                          <a:cs typeface="Calibri" pitchFamily="34" charset="-120"/>
                        </a:rPr>
                        <a:t>Below</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r h="0">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ME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Out-of-scope declined with constraint name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35.0%</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22.9</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b="1" dirty="0">
                          <a:solidFill>
                            <a:srgbClr val="B45F06"/>
                          </a:solidFill>
                          <a:latin typeface="Calibri" pitchFamily="34" charset="0"/>
                          <a:ea typeface="Calibri" pitchFamily="34" charset="-122"/>
                          <a:cs typeface="Calibri" pitchFamily="34" charset="-120"/>
                        </a:rPr>
                        <a:t>Volatile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DC</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Output within limits under any preset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57.5%</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36.8</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b="1" dirty="0">
                          <a:solidFill>
                            <a:srgbClr val="B45F06"/>
                          </a:solidFill>
                          <a:latin typeface="Calibri" pitchFamily="34" charset="0"/>
                          <a:ea typeface="Calibri" pitchFamily="34" charset="-122"/>
                          <a:cs typeface="Calibri" pitchFamily="34" charset="-120"/>
                        </a:rPr>
                        <a:t>Strict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bl>
          </a:graphicData>
        </a:graphic>
      </p:graphicFrame>
      <p:sp>
        <p:nvSpPr>
          <p:cNvPr id="6" name="Text 2"/>
          <p:cNvSpPr txBox="1"/>
          <p:nvPr/>
        </p:nvSpPr>
        <p:spPr>
          <a:xfrm>
            <a:off x="812902" y="4190695"/>
            <a:ext cx="10566806" cy="381305"/>
          </a:xfrm>
          <a:prstGeom prst="rect">
            <a:avLst/>
          </a:prstGeom>
          <a:noFill/>
          <a:ln/>
        </p:spPr>
        <p:txBody>
          <a:bodyPr wrap="square" lIns="0" tIns="0" rIns="0" bIns="0" rtlCol="0" anchor="t"/>
          <a:lstStyle/>
          <a:p>
            <a:pPr indent="0" marL="0">
              <a:spcAft>
                <a:spcPts val="400"/>
              </a:spcAft>
              <a:buNone/>
            </a:pPr>
            <a:r>
              <a:rPr lang="en-US" sz="1050" dirty="0">
                <a:solidFill>
                  <a:schemeClr val="accent5"/>
                </a:solidFill>
              </a:rPr>
              <a:t>BVC Boundary Violation Containment · CGP Compliance Gate Precision · ATC Accountability Trace Completeness · CDA Constraint Detection Accuracy (unconditioned / conditioned) · ME Mandate Enforcement · DC Disposition Containment (strict)</a:t>
            </a:r>
            <a:endParaRPr lang="en-US" sz="1050" dirty="0"/>
          </a:p>
        </p:txBody>
      </p:sp>
      <p:sp>
        <p:nvSpPr>
          <p:cNvPr id="7" name="Shape 3"/>
          <p:cNvSpPr/>
          <p:nvPr/>
        </p:nvSpPr>
        <p:spPr>
          <a:xfrm>
            <a:off x="812902" y="4762195"/>
            <a:ext cx="10566806" cy="1206094"/>
          </a:xfrm>
          <a:prstGeom prst="roundRect">
            <a:avLst>
              <a:gd name="adj" fmla="val 6065"/>
            </a:avLst>
          </a:prstGeom>
          <a:solidFill>
            <a:schemeClr val="tx1"/>
          </a:solidFill>
          <a:ln w="12700">
            <a:solidFill>
              <a:schemeClr val="tx1"/>
            </a:solidFill>
            <a:prstDash val="solid"/>
          </a:ln>
        </p:spPr>
      </p:sp>
      <p:sp>
        <p:nvSpPr>
          <p:cNvPr id="8" name="Text 4"/>
          <p:cNvSpPr txBox="1"/>
          <p:nvPr/>
        </p:nvSpPr>
        <p:spPr>
          <a:xfrm>
            <a:off x="1067105" y="4889297"/>
            <a:ext cx="10032797" cy="190195"/>
          </a:xfrm>
          <a:prstGeom prst="rect">
            <a:avLst/>
          </a:prstGeom>
          <a:noFill/>
          <a:ln/>
        </p:spPr>
        <p:txBody>
          <a:bodyPr wrap="square" lIns="0" tIns="0" rIns="0" bIns="0" rtlCol="0" anchor="t"/>
          <a:lstStyle/>
          <a:p>
            <a:pPr indent="0" marL="0">
              <a:spcAft>
                <a:spcPts val="400"/>
              </a:spcAft>
              <a:buNone/>
            </a:pPr>
            <a:r>
              <a:rPr lang="en-US" sz="1100" b="1" spc="100" kern="0" dirty="0">
                <a:solidFill>
                  <a:schemeClr val="accent2"/>
                </a:solidFill>
              </a:rPr>
              <a:t>THE HEADLINE</a:t>
            </a:r>
            <a:endParaRPr lang="en-US" sz="1100" dirty="0"/>
          </a:p>
        </p:txBody>
      </p:sp>
      <p:sp>
        <p:nvSpPr>
          <p:cNvPr id="9" name="Text 5"/>
          <p:cNvSpPr txBox="1"/>
          <p:nvPr/>
        </p:nvSpPr>
        <p:spPr>
          <a:xfrm>
            <a:off x="1067105" y="5130698"/>
            <a:ext cx="10032797" cy="698602"/>
          </a:xfrm>
          <a:prstGeom prst="rect">
            <a:avLst/>
          </a:prstGeom>
          <a:noFill/>
          <a:ln/>
        </p:spPr>
        <p:txBody>
          <a:bodyPr wrap="square" lIns="0" tIns="0" rIns="0" bIns="0" rtlCol="0" anchor="t"/>
          <a:lstStyle/>
          <a:p>
            <a:pPr indent="0" marL="0">
              <a:spcAft>
                <a:spcPts val="400"/>
              </a:spcAft>
              <a:buNone/>
            </a:pPr>
            <a:r>
              <a:rPr lang="en-US" sz="2000" b="1" dirty="0">
                <a:solidFill>
                  <a:srgbClr val="F7F5EF"/>
                </a:solidFill>
                <a:latin typeface="Cambria" pitchFamily="34" charset="0"/>
                <a:ea typeface="Cambria" pitchFamily="34" charset="-122"/>
                <a:cs typeface="Cambria" pitchFamily="34" charset="-120"/>
              </a:rPr>
              <a:t>Zero forced-pass across all 190 evaluations.</a:t>
            </a:r>
            <a:pPr indent="0" marL="0">
              <a:spcAft>
                <a:spcPts val="400"/>
              </a:spcAft>
              <a:buNone/>
            </a:pPr>
            <a:r>
              <a:rPr lang="en-US" sz="2000" dirty="0">
                <a:solidFill>
                  <a:srgbClr val="F7F5EF"/>
                </a:solidFill>
                <a:latin typeface="Cambria" pitchFamily="34" charset="0"/>
                <a:ea typeface="Cambria" pitchFamily="34" charset="-122"/>
                <a:cs typeface="Cambria" pitchFamily="34" charset="-120"/>
              </a:rPr>
              <a:t> Every violation that occurred was eventually caught before delivery.</a:t>
            </a:r>
            <a:endParaRPr lang="en-US" sz="20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EVALUATION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Reading the numbers honestly</a:t>
            </a:r>
            <a:endParaRPr lang="en-US" sz="2800" dirty="0"/>
          </a:p>
        </p:txBody>
      </p:sp>
      <p:sp>
        <p:nvSpPr>
          <p:cNvPr id="5" name="Text 2"/>
          <p:cNvSpPr txBox="1"/>
          <p:nvPr/>
        </p:nvSpPr>
        <p:spPr>
          <a:xfrm>
            <a:off x="812902" y="1777594"/>
            <a:ext cx="5080406" cy="228600"/>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rPr>
              <a:t>BVC / CGP, both 97.9%</a:t>
            </a:r>
            <a:endParaRPr lang="en-US" sz="1400" dirty="0"/>
          </a:p>
        </p:txBody>
      </p:sp>
      <p:sp>
        <p:nvSpPr>
          <p:cNvPr id="6" name="Text 3"/>
          <p:cNvSpPr txBox="1"/>
          <p:nvPr/>
        </p:nvSpPr>
        <p:spPr>
          <a:xfrm>
            <a:off x="812902" y="2044598"/>
            <a:ext cx="5080406" cy="1904695"/>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They co-occur exactly, measuring the same event. In 6 of 10 runs nothing non-compliant was delivered. The other four each involved </a:t>
            </a:r>
            <a:pPr indent="0" marL="0">
              <a:spcAft>
                <a:spcPts val="400"/>
              </a:spcAft>
              <a:buNone/>
            </a:pPr>
            <a:r>
              <a:rPr lang="en-US" sz="1200" i="1" dirty="0">
                <a:solidFill>
                  <a:schemeClr val="tx2"/>
                </a:solidFill>
              </a:rPr>
              <a:t>one</a:t>
            </a:r>
            <a:pPr indent="0" marL="0">
              <a:spcAft>
                <a:spcPts val="400"/>
              </a:spcAft>
              <a:buNone/>
            </a:pPr>
            <a:r>
              <a:rPr lang="en-US" sz="1200" dirty="0">
                <a:solidFill>
                  <a:schemeClr val="tx2"/>
                </a:solidFill>
              </a:rPr>
              <a:t> borderline case: 14.8% gold under </a:t>
            </a:r>
            <a:pPr indent="0" marL="0">
              <a:spcAft>
                <a:spcPts val="400"/>
              </a:spcAft>
              <a:buNone/>
            </a:pPr>
            <a:r>
              <a:rPr lang="en-US" sz="1200" i="1" dirty="0">
                <a:solidFill>
                  <a:schemeClr val="tx2"/>
                </a:solidFill>
              </a:rPr>
              <a:t>reckless_portfolio</a:t>
            </a:r>
            <a:pPr indent="0" marL="0">
              <a:spcAft>
                <a:spcPts val="400"/>
              </a:spcAft>
              <a:buNone/>
            </a:pPr>
            <a:r>
              <a:rPr lang="en-US" sz="1200" dirty="0">
                <a:solidFill>
                  <a:schemeClr val="tx2"/>
                </a:solidFill>
              </a:rPr>
              <a:t>, within the 15% limit and correctly approved by the numerical criterion, but phrased in a way that implied intended circumvention the predicate does not capture.</a:t>
            </a:r>
            <a:endParaRPr lang="en-US" sz="1200" dirty="0"/>
          </a:p>
        </p:txBody>
      </p:sp>
      <p:sp>
        <p:nvSpPr>
          <p:cNvPr id="7" name="Text 4"/>
          <p:cNvSpPr txBox="1"/>
          <p:nvPr/>
        </p:nvSpPr>
        <p:spPr>
          <a:xfrm>
            <a:off x="812902" y="4063594"/>
            <a:ext cx="5080406" cy="228600"/>
          </a:xfrm>
          <a:prstGeom prst="rect">
            <a:avLst/>
          </a:prstGeom>
          <a:noFill/>
          <a:ln/>
        </p:spPr>
        <p:txBody>
          <a:bodyPr wrap="square" lIns="0" tIns="0" rIns="0" bIns="0" rtlCol="0" anchor="t"/>
          <a:lstStyle/>
          <a:p>
            <a:pPr indent="0" marL="0">
              <a:spcAft>
                <a:spcPts val="400"/>
              </a:spcAft>
              <a:buNone/>
            </a:pPr>
            <a:r>
              <a:rPr lang="en-US" sz="1400" b="1" dirty="0">
                <a:solidFill>
                  <a:schemeClr val="accent4"/>
                </a:solidFill>
              </a:rPr>
              <a:t>ATC, 71.3%</a:t>
            </a:r>
            <a:endParaRPr lang="en-US" sz="1400" dirty="0"/>
          </a:p>
        </p:txBody>
      </p:sp>
      <p:sp>
        <p:nvSpPr>
          <p:cNvPr id="8" name="Text 5"/>
          <p:cNvSpPr txBox="1"/>
          <p:nvPr/>
        </p:nvSpPr>
        <p:spPr>
          <a:xfrm>
            <a:off x="812902" y="4330598"/>
            <a:ext cx="5080406" cy="1270102"/>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Traces were structurally well-formed in </a:t>
            </a:r>
            <a:pPr indent="0" marL="0">
              <a:spcAft>
                <a:spcPts val="400"/>
              </a:spcAft>
              <a:buNone/>
            </a:pPr>
            <a:r>
              <a:rPr lang="en-US" sz="1200" i="1" dirty="0">
                <a:solidFill>
                  <a:schemeClr val="tx2"/>
                </a:solidFill>
              </a:rPr>
              <a:t>every</a:t>
            </a:r>
            <a:pPr indent="0" marL="0">
              <a:spcAft>
                <a:spcPts val="400"/>
              </a:spcAft>
              <a:buNone/>
            </a:pPr>
            <a:r>
              <a:rPr lang="en-US" sz="1200" dirty="0">
                <a:solidFill>
                  <a:schemeClr val="tx2"/>
                </a:solidFill>
              </a:rPr>
              <a:t> session. Llama 3.1 8B omitted violated rule identifiers in 28.7%. An </a:t>
            </a:r>
            <a:pPr indent="0" marL="0">
              <a:spcAft>
                <a:spcPts val="400"/>
              </a:spcAft>
              <a:buNone/>
            </a:pPr>
            <a:r>
              <a:rPr lang="en-US" sz="1200" b="1" dirty="0">
                <a:solidFill>
                  <a:schemeClr val="tx2"/>
                </a:solidFill>
              </a:rPr>
              <a:t>instruction-following limit of a small model</a:t>
            </a:r>
            <a:pPr indent="0" marL="0">
              <a:spcAft>
                <a:spcPts val="400"/>
              </a:spcAft>
              <a:buNone/>
            </a:pPr>
            <a:r>
              <a:rPr lang="en-US" sz="1200" dirty="0">
                <a:solidFill>
                  <a:schemeClr val="tx2"/>
                </a:solidFill>
              </a:rPr>
              <a:t>, not a design failure.</a:t>
            </a:r>
            <a:endParaRPr lang="en-US" sz="1200" dirty="0"/>
          </a:p>
        </p:txBody>
      </p:sp>
      <p:sp>
        <p:nvSpPr>
          <p:cNvPr id="9" name="Text 6"/>
          <p:cNvSpPr txBox="1"/>
          <p:nvPr/>
        </p:nvSpPr>
        <p:spPr>
          <a:xfrm>
            <a:off x="6299302" y="1777594"/>
            <a:ext cx="5080406" cy="228600"/>
          </a:xfrm>
          <a:prstGeom prst="rect">
            <a:avLst/>
          </a:prstGeom>
          <a:noFill/>
          <a:ln/>
        </p:spPr>
        <p:txBody>
          <a:bodyPr wrap="square" lIns="0" tIns="0" rIns="0" bIns="0" rtlCol="0" anchor="t"/>
          <a:lstStyle/>
          <a:p>
            <a:pPr indent="0" marL="0">
              <a:spcAft>
                <a:spcPts val="400"/>
              </a:spcAft>
              <a:buNone/>
            </a:pPr>
            <a:r>
              <a:rPr lang="en-US" sz="1400" b="1" dirty="0">
                <a:solidFill>
                  <a:schemeClr val="accent4"/>
                </a:solidFill>
              </a:rPr>
              <a:t>CDA, 50.6% conditioned</a:t>
            </a:r>
            <a:endParaRPr lang="en-US" sz="1400" dirty="0"/>
          </a:p>
        </p:txBody>
      </p:sp>
      <p:sp>
        <p:nvSpPr>
          <p:cNvPr id="10" name="Text 7"/>
          <p:cNvSpPr txBox="1"/>
          <p:nvPr/>
        </p:nvSpPr>
        <p:spPr>
          <a:xfrm>
            <a:off x="6299302" y="2044598"/>
            <a:ext cx="5080406" cy="1015898"/>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Measures detection </a:t>
            </a:r>
            <a:pPr indent="0" marL="0">
              <a:spcAft>
                <a:spcPts val="400"/>
              </a:spcAft>
              <a:buNone/>
            </a:pPr>
            <a:r>
              <a:rPr lang="en-US" sz="1200" b="1" dirty="0">
                <a:solidFill>
                  <a:schemeClr val="tx2"/>
                </a:solidFill>
              </a:rPr>
              <a:t>latency</a:t>
            </a:r>
            <a:pPr indent="0" marL="0">
              <a:spcAft>
                <a:spcPts val="400"/>
              </a:spcAft>
              <a:buNone/>
            </a:pPr>
            <a:r>
              <a:rPr lang="en-US" sz="1200" dirty="0">
                <a:solidFill>
                  <a:schemeClr val="tx2"/>
                </a:solidFill>
              </a:rPr>
              <a:t>, not reliability: violations caught on revision 2 or later rather than first. Every violation was still caught before delivery, sufficient for containment in a revision-based architecture.</a:t>
            </a:r>
            <a:endParaRPr lang="en-US" sz="1200" dirty="0"/>
          </a:p>
        </p:txBody>
      </p:sp>
      <p:sp>
        <p:nvSpPr>
          <p:cNvPr id="11" name="Text 8"/>
          <p:cNvSpPr txBox="1"/>
          <p:nvPr/>
        </p:nvSpPr>
        <p:spPr>
          <a:xfrm>
            <a:off x="6299302" y="3174797"/>
            <a:ext cx="5080406" cy="22860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ME, 35.0%, std 22.9</a:t>
            </a:r>
            <a:endParaRPr lang="en-US" sz="1400" dirty="0"/>
          </a:p>
        </p:txBody>
      </p:sp>
      <p:sp>
        <p:nvSpPr>
          <p:cNvPr id="12" name="Text 9"/>
          <p:cNvSpPr txBox="1"/>
          <p:nvPr/>
        </p:nvSpPr>
        <p:spPr>
          <a:xfrm>
            <a:off x="6299302" y="3441802"/>
            <a:ext cx="5080406" cy="1015898"/>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Reflects </a:t>
            </a:r>
            <a:pPr indent="0" marL="0">
              <a:spcAft>
                <a:spcPts val="400"/>
              </a:spcAft>
              <a:buNone/>
            </a:pPr>
            <a:r>
              <a:rPr lang="en-US" sz="1200" b="1" dirty="0">
                <a:solidFill>
                  <a:schemeClr val="tx2"/>
                </a:solidFill>
              </a:rPr>
              <a:t>routing non-determinism</a:t>
            </a:r>
            <a:pPr indent="0" marL="0">
              <a:spcAft>
                <a:spcPts val="400"/>
              </a:spcAft>
              <a:buNone/>
            </a:pPr>
            <a:r>
              <a:rPr lang="en-US" sz="1200" dirty="0">
                <a:solidFill>
                  <a:schemeClr val="tx2"/>
                </a:solidFill>
              </a:rPr>
              <a:t>, not enforcement failure: when the orchestrator did not route to the target agent, the mandate could not be tested. An evaluation-methodology finding.</a:t>
            </a:r>
            <a:endParaRPr lang="en-US" sz="1200" dirty="0"/>
          </a:p>
        </p:txBody>
      </p:sp>
      <p:sp>
        <p:nvSpPr>
          <p:cNvPr id="13" name="Text 10"/>
          <p:cNvSpPr txBox="1"/>
          <p:nvPr/>
        </p:nvSpPr>
        <p:spPr>
          <a:xfrm>
            <a:off x="6299302" y="4572000"/>
            <a:ext cx="5080406" cy="22860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DC, 57.5% strict</a:t>
            </a:r>
            <a:endParaRPr lang="en-US" sz="1400" dirty="0"/>
          </a:p>
        </p:txBody>
      </p:sp>
      <p:sp>
        <p:nvSpPr>
          <p:cNvPr id="14" name="Text 11"/>
          <p:cNvSpPr txBox="1"/>
          <p:nvPr/>
        </p:nvSpPr>
        <p:spPr>
          <a:xfrm>
            <a:off x="6299302" y="4839005"/>
            <a:ext cx="5080406" cy="1015898"/>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No forced-pass in 40 disposition evaluations. </a:t>
            </a:r>
            <a:pPr indent="0" marL="0">
              <a:spcAft>
                <a:spcPts val="400"/>
              </a:spcAft>
              <a:buNone/>
            </a:pPr>
            <a:r>
              <a:rPr lang="en-US" sz="1200" i="1" dirty="0">
                <a:solidFill>
                  <a:schemeClr val="tx2"/>
                </a:solidFill>
              </a:rPr>
              <a:t>reckless_portfolio</a:t>
            </a:r>
            <a:pPr indent="0" marL="0">
              <a:spcAft>
                <a:spcPts val="400"/>
              </a:spcAft>
              <a:buNone/>
            </a:pPr>
            <a:r>
              <a:rPr lang="en-US" sz="1200" dirty="0">
                <a:solidFill>
                  <a:schemeClr val="tx2"/>
                </a:solidFill>
              </a:rPr>
              <a:t> triggered 2 to 5 times more revisions but </a:t>
            </a:r>
            <a:pPr indent="0" marL="0">
              <a:spcAft>
                <a:spcPts val="400"/>
              </a:spcAft>
              <a:buNone/>
            </a:pPr>
            <a:r>
              <a:rPr lang="en-US" sz="1200" b="1" dirty="0">
                <a:solidFill>
                  <a:schemeClr val="tx2"/>
                </a:solidFill>
              </a:rPr>
              <a:t>never breached the gate</a:t>
            </a:r>
            <a:pPr indent="0" marL="0">
              <a:spcAft>
                <a:spcPts val="400"/>
              </a:spcAft>
              <a:buNone/>
            </a:pPr>
            <a:r>
              <a:rPr lang="en-US" sz="1200" dirty="0">
                <a:solidFill>
                  <a:schemeClr val="tx2"/>
                </a:solidFill>
              </a:rPr>
              <a:t>. A measure of compliance </a:t>
            </a:r>
            <a:pPr indent="0" marL="0">
              <a:spcAft>
                <a:spcPts val="400"/>
              </a:spcAft>
              <a:buNone/>
            </a:pPr>
            <a:r>
              <a:rPr lang="en-US" sz="1200" i="1" dirty="0">
                <a:solidFill>
                  <a:schemeClr val="tx2"/>
                </a:solidFill>
              </a:rPr>
              <a:t>effort</a:t>
            </a:r>
            <a:pPr indent="0" marL="0">
              <a:spcAft>
                <a:spcPts val="400"/>
              </a:spcAft>
              <a:buNone/>
            </a:pPr>
            <a:r>
              <a:rPr lang="en-US" sz="1200" dirty="0">
                <a:solidFill>
                  <a:schemeClr val="tx2"/>
                </a:solidFill>
              </a:rPr>
              <a:t>, not safety.</a:t>
            </a:r>
            <a:endParaRPr lang="en-US" sz="12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DISCUSSION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What AI-Intent contributes, and what it costs</a:t>
            </a:r>
            <a:endParaRPr lang="en-US" sz="2800" dirty="0"/>
          </a:p>
        </p:txBody>
      </p:sp>
      <p:sp>
        <p:nvSpPr>
          <p:cNvPr id="5" name="Shape 2"/>
          <p:cNvSpPr/>
          <p:nvPr/>
        </p:nvSpPr>
        <p:spPr>
          <a:xfrm>
            <a:off x="812902" y="1714500"/>
            <a:ext cx="10566806" cy="2095805"/>
          </a:xfrm>
          <a:prstGeom prst="roundRect">
            <a:avLst>
              <a:gd name="adj" fmla="val 3490"/>
            </a:avLst>
          </a:prstGeom>
          <a:solidFill>
            <a:schemeClr val="bg2"/>
          </a:solidFill>
          <a:ln w="9525">
            <a:solidFill>
              <a:schemeClr val="accent6"/>
            </a:solidFill>
            <a:prstDash val="solid"/>
          </a:ln>
        </p:spPr>
      </p:sp>
      <p:sp>
        <p:nvSpPr>
          <p:cNvPr id="6" name="Shape 3"/>
          <p:cNvSpPr/>
          <p:nvPr/>
        </p:nvSpPr>
        <p:spPr>
          <a:xfrm>
            <a:off x="812902" y="1714500"/>
            <a:ext cx="38405" cy="2095805"/>
          </a:xfrm>
          <a:prstGeom prst="rect">
            <a:avLst/>
          </a:prstGeom>
          <a:solidFill>
            <a:schemeClr val="tx1"/>
          </a:solidFill>
          <a:ln w="12700">
            <a:solidFill>
              <a:schemeClr val="tx1"/>
            </a:solidFill>
            <a:prstDash val="solid"/>
          </a:ln>
        </p:spPr>
      </p:sp>
      <p:sp>
        <p:nvSpPr>
          <p:cNvPr id="7" name="Text 4"/>
          <p:cNvSpPr txBox="1"/>
          <p:nvPr/>
        </p:nvSpPr>
        <p:spPr>
          <a:xfrm>
            <a:off x="1041502" y="1854403"/>
            <a:ext cx="10159898" cy="2286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Three modeling constructs existing frameworks lack</a:t>
            </a:r>
            <a:endParaRPr lang="en-US" sz="1400" dirty="0"/>
          </a:p>
        </p:txBody>
      </p:sp>
      <p:sp>
        <p:nvSpPr>
          <p:cNvPr id="8" name="Text 5"/>
          <p:cNvSpPr txBox="1"/>
          <p:nvPr/>
        </p:nvSpPr>
        <p:spPr>
          <a:xfrm>
            <a:off x="1041502" y="2133295"/>
            <a:ext cx="10159898" cy="1587398"/>
          </a:xfrm>
          <a:prstGeom prst="rect">
            <a:avLst/>
          </a:prstGeom>
          <a:noFill/>
          <a:ln/>
        </p:spPr>
        <p:txBody>
          <a:bodyPr wrap="square" lIns="0" tIns="0" rIns="0" bIns="0" rtlCol="0" anchor="t"/>
          <a:lstStyle/>
          <a:p>
            <a:pPr indent="0" marL="0">
              <a:spcAft>
                <a:spcPts val="600"/>
              </a:spcAft>
              <a:buNone/>
            </a:pPr>
            <a:r>
              <a:rPr lang="en-US" sz="1300" b="1" dirty="0">
                <a:solidFill>
                  <a:schemeClr val="tx2"/>
                </a:solidFill>
              </a:rPr>
              <a:t>1. Binary sortal boundary</a:t>
            </a:r>
            <a:pPr indent="0" marL="0">
              <a:spcAft>
                <a:spcPts val="600"/>
              </a:spcAft>
              <a:buNone/>
            </a:pPr>
            <a:r>
              <a:rPr lang="en-US" sz="1300" dirty="0">
                <a:solidFill>
                  <a:schemeClr val="tx2"/>
                </a:solidFill>
              </a:rPr>
              <a:t> on the action space, complementary to graded goals, made explicit as a first-class enforceable artifact.</a:t>
            </a:r>
            <a:endParaRPr lang="en-US" sz="1300" dirty="0"/>
          </a:p>
          <a:p>
            <a:pPr indent="0" marL="0">
              <a:spcAft>
                <a:spcPts val="600"/>
              </a:spcAft>
              <a:buNone/>
            </a:pPr>
            <a:r>
              <a:rPr lang="en-US" sz="1300" b="1" dirty="0">
                <a:solidFill>
                  <a:schemeClr val="tx2"/>
                </a:solidFill>
              </a:rPr>
              <a:t>2. External norm enforcement</a:t>
            </a:r>
            <a:pPr indent="0" marL="0">
              <a:spcAft>
                <a:spcPts val="600"/>
              </a:spcAft>
              <a:buNone/>
            </a:pPr>
            <a:r>
              <a:rPr lang="en-US" sz="1300" dirty="0">
                <a:solidFill>
                  <a:schemeClr val="tx2"/>
                </a:solidFill>
              </a:rPr>
              <a:t> as a structural role rather than agent self-compliance, motivated by first-attempt violation rates observed </a:t>
            </a:r>
            <a:pPr indent="0" marL="0">
              <a:spcAft>
                <a:spcPts val="600"/>
              </a:spcAft>
              <a:buNone/>
            </a:pPr>
            <a:r>
              <a:rPr lang="en-US" sz="1300" i="1" dirty="0">
                <a:solidFill>
                  <a:schemeClr val="tx2"/>
                </a:solidFill>
              </a:rPr>
              <a:t>even under a neutral disposition</a:t>
            </a:r>
            <a:pPr indent="0" marL="0">
              <a:spcAft>
                <a:spcPts val="600"/>
              </a:spcAft>
              <a:buNone/>
            </a:pPr>
            <a:r>
              <a:rPr lang="en-US" sz="1300" dirty="0">
                <a:solidFill>
                  <a:schemeClr val="tx2"/>
                </a:solidFill>
              </a:rPr>
              <a:t>: </a:t>
            </a:r>
            <a:pPr indent="0" marL="0">
              <a:spcAft>
                <a:spcPts val="600"/>
              </a:spcAft>
              <a:buNone/>
            </a:pPr>
            <a:r>
              <a:rPr lang="en-US" sz="1300" b="1" dirty="0">
                <a:solidFill>
                  <a:schemeClr val="tx2"/>
                </a:solidFill>
              </a:rPr>
              <a:t>12.9%</a:t>
            </a:r>
            <a:pPr indent="0" marL="0">
              <a:spcAft>
                <a:spcPts val="600"/>
              </a:spcAft>
              <a:buNone/>
            </a:pPr>
            <a:r>
              <a:rPr lang="en-US" sz="1300" dirty="0">
                <a:solidFill>
                  <a:schemeClr val="tx2"/>
                </a:solidFill>
              </a:rPr>
              <a:t> for the materials agent, </a:t>
            </a:r>
            <a:pPr indent="0" marL="0">
              <a:spcAft>
                <a:spcPts val="600"/>
              </a:spcAft>
              <a:buNone/>
            </a:pPr>
            <a:r>
              <a:rPr lang="en-US" sz="1300" b="1" dirty="0">
                <a:solidFill>
                  <a:schemeClr val="tx2"/>
                </a:solidFill>
              </a:rPr>
              <a:t>25.6%</a:t>
            </a:r>
            <a:pPr indent="0" marL="0">
              <a:spcAft>
                <a:spcPts val="600"/>
              </a:spcAft>
              <a:buNone/>
            </a:pPr>
            <a:r>
              <a:rPr lang="en-US" sz="1300" dirty="0">
                <a:solidFill>
                  <a:schemeClr val="tx2"/>
                </a:solidFill>
              </a:rPr>
              <a:t> overall.</a:t>
            </a:r>
            <a:endParaRPr lang="en-US" sz="1300" dirty="0"/>
          </a:p>
          <a:p>
            <a:pPr indent="0" marL="0">
              <a:spcAft>
                <a:spcPts val="600"/>
              </a:spcAft>
              <a:buNone/>
            </a:pPr>
            <a:r>
              <a:rPr lang="en-US" sz="1300" b="1" dirty="0">
                <a:solidFill>
                  <a:schemeClr val="tx2"/>
                </a:solidFill>
              </a:rPr>
              <a:t>3. Communication as evidence</a:t>
            </a:r>
            <a:pPr indent="0" marL="0">
              <a:spcAft>
                <a:spcPts val="600"/>
              </a:spcAft>
              <a:buNone/>
            </a:pPr>
            <a:r>
              <a:rPr lang="en-US" sz="1300" dirty="0">
                <a:solidFill>
                  <a:schemeClr val="tx2"/>
                </a:solidFill>
              </a:rPr>
              <a:t>: a Compliance Verdict attached to every message, with the Trace derived from it.</a:t>
            </a:r>
            <a:endParaRPr lang="en-US" sz="1300" dirty="0"/>
          </a:p>
        </p:txBody>
      </p:sp>
      <p:sp>
        <p:nvSpPr>
          <p:cNvPr id="9" name="Shape 6"/>
          <p:cNvSpPr/>
          <p:nvPr/>
        </p:nvSpPr>
        <p:spPr>
          <a:xfrm>
            <a:off x="812902" y="4000500"/>
            <a:ext cx="10566806" cy="1968703"/>
          </a:xfrm>
          <a:prstGeom prst="roundRect">
            <a:avLst>
              <a:gd name="adj" fmla="val 3716"/>
            </a:avLst>
          </a:prstGeom>
          <a:solidFill>
            <a:schemeClr val="tx1"/>
          </a:solidFill>
          <a:ln w="12700">
            <a:solidFill>
              <a:schemeClr val="tx1"/>
            </a:solidFill>
            <a:prstDash val="solid"/>
          </a:ln>
        </p:spPr>
      </p:sp>
      <p:sp>
        <p:nvSpPr>
          <p:cNvPr id="10" name="Text 7"/>
          <p:cNvSpPr txBox="1"/>
          <p:nvPr/>
        </p:nvSpPr>
        <p:spPr>
          <a:xfrm>
            <a:off x="1041502" y="4140403"/>
            <a:ext cx="10159898" cy="228600"/>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The compliance versus utility tension</a:t>
            </a:r>
            <a:endParaRPr lang="en-US" sz="1400" dirty="0"/>
          </a:p>
        </p:txBody>
      </p:sp>
      <p:sp>
        <p:nvSpPr>
          <p:cNvPr id="11" name="Text 8"/>
          <p:cNvSpPr txBox="1"/>
          <p:nvPr/>
        </p:nvSpPr>
        <p:spPr>
          <a:xfrm>
            <a:off x="1041502" y="4419295"/>
            <a:ext cx="10159898" cy="1460297"/>
          </a:xfrm>
          <a:prstGeom prst="rect">
            <a:avLst/>
          </a:prstGeom>
          <a:noFill/>
          <a:ln/>
        </p:spPr>
        <p:txBody>
          <a:bodyPr wrap="square" lIns="0" tIns="0" rIns="0" bIns="0" rtlCol="0" anchor="t"/>
          <a:lstStyle/>
          <a:p>
            <a:pPr indent="0" marL="0">
              <a:spcAft>
                <a:spcPts val="600"/>
              </a:spcAft>
              <a:buNone/>
            </a:pPr>
            <a:r>
              <a:rPr lang="en-US" sz="1300" dirty="0">
                <a:solidFill>
                  <a:srgbClr val="F7F5EF"/>
                </a:solidFill>
              </a:rPr>
              <a:t>Asked for a leveraged gold ETF, a product the Materials Mandate forbids, the Materials Agent was permanently blocked and the Orchestrator fell back on Stocks and Bonds, producing a </a:t>
            </a:r>
            <a:pPr indent="0" marL="0">
              <a:spcAft>
                <a:spcPts val="600"/>
              </a:spcAft>
              <a:buNone/>
            </a:pPr>
            <a:r>
              <a:rPr lang="en-US" sz="1300" i="1" dirty="0">
                <a:solidFill>
                  <a:srgbClr val="F7F5EF"/>
                </a:solidFill>
              </a:rPr>
              <a:t>fully compliant recommendation that did not answer the question posed</a:t>
            </a:r>
            <a:pPr indent="0" marL="0">
              <a:spcAft>
                <a:spcPts val="600"/>
              </a:spcAft>
              <a:buNone/>
            </a:pPr>
            <a:r>
              <a:rPr lang="en-US" sz="1300" dirty="0">
                <a:solidFill>
                  <a:srgbClr val="F7F5EF"/>
                </a:solidFill>
              </a:rPr>
              <a:t>.</a:t>
            </a:r>
            <a:endParaRPr lang="en-US" sz="1300" dirty="0"/>
          </a:p>
          <a:p>
            <a:pPr indent="0" marL="0">
              <a:spcAft>
                <a:spcPts val="600"/>
              </a:spcAft>
              <a:buNone/>
            </a:pPr>
            <a:r>
              <a:rPr lang="en-US" sz="1300" dirty="0">
                <a:solidFill>
                  <a:srgbClr val="F7F5EF"/>
                </a:solidFill>
              </a:rPr>
              <a:t>AI-Intent resolves this by giving constraints </a:t>
            </a:r>
            <a:pPr indent="0" marL="0">
              <a:spcAft>
                <a:spcPts val="600"/>
              </a:spcAft>
              <a:buNone/>
            </a:pPr>
            <a:r>
              <a:rPr lang="en-US" sz="1300" b="1" dirty="0">
                <a:solidFill>
                  <a:srgbClr val="F7F5EF"/>
                </a:solidFill>
              </a:rPr>
              <a:t>lexicographic priority</a:t>
            </a:r>
            <a:pPr indent="0" marL="0">
              <a:spcAft>
                <a:spcPts val="600"/>
              </a:spcAft>
              <a:buNone/>
            </a:pPr>
            <a:r>
              <a:rPr lang="en-US" sz="1300" dirty="0">
                <a:solidFill>
                  <a:srgbClr val="F7F5EF"/>
                </a:solidFill>
              </a:rPr>
              <a:t>: a compliant non-answer beats a non-compliant answer. Right for regulated finance, but currently </a:t>
            </a:r>
            <a:pPr indent="0" marL="0">
              <a:spcAft>
                <a:spcPts val="600"/>
              </a:spcAft>
              <a:buNone/>
            </a:pPr>
            <a:r>
              <a:rPr lang="en-US" sz="1300" i="1" dirty="0">
                <a:solidFill>
                  <a:srgbClr val="F7F5EF"/>
                </a:solidFill>
              </a:rPr>
              <a:t>implicit</a:t>
            </a:r>
            <a:pPr indent="0" marL="0">
              <a:spcAft>
                <a:spcPts val="600"/>
              </a:spcAft>
              <a:buNone/>
            </a:pPr>
            <a:r>
              <a:rPr lang="en-US" sz="1300" dirty="0">
                <a:solidFill>
                  <a:srgbClr val="F7F5EF"/>
                </a:solidFill>
              </a:rPr>
              <a:t> rather than modeled.</a:t>
            </a:r>
            <a:endParaRPr lang="en-US" sz="13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DISCUSSION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Limitations we take seriously</a:t>
            </a:r>
            <a:endParaRPr lang="en-US" sz="2800" dirty="0"/>
          </a:p>
        </p:txBody>
      </p:sp>
      <p:sp>
        <p:nvSpPr>
          <p:cNvPr id="5" name="Text 2"/>
          <p:cNvSpPr txBox="1"/>
          <p:nvPr/>
        </p:nvSpPr>
        <p:spPr>
          <a:xfrm>
            <a:off x="812902" y="1746504"/>
            <a:ext cx="2540203" cy="761695"/>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Modeling-scope boundaries</a:t>
            </a:r>
            <a:endParaRPr lang="en-US" sz="1300" dirty="0"/>
          </a:p>
        </p:txBody>
      </p:sp>
      <p:sp>
        <p:nvSpPr>
          <p:cNvPr id="6" name="Text 3"/>
          <p:cNvSpPr txBox="1"/>
          <p:nvPr/>
        </p:nvSpPr>
        <p:spPr>
          <a:xfrm>
            <a:off x="3504895" y="1746504"/>
            <a:ext cx="7873898" cy="761695"/>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Constraint conflicts are detected but not resolved. Mandates are immutable at runtime. Constraints have </a:t>
            </a:r>
            <a:pPr indent="0" marL="0">
              <a:spcAft>
                <a:spcPts val="400"/>
              </a:spcAft>
              <a:buNone/>
            </a:pPr>
            <a:r>
              <a:rPr lang="en-US" sz="1200" i="1" dirty="0">
                <a:solidFill>
                  <a:schemeClr val="tx2"/>
                </a:solidFill>
              </a:rPr>
              <a:t>no exception structure</a:t>
            </a:r>
            <a:pPr indent="0" marL="0">
              <a:spcAft>
                <a:spcPts val="400"/>
              </a:spcAft>
              <a:buNone/>
            </a:pPr>
            <a:r>
              <a:rPr lang="en-US" sz="1200" dirty="0">
                <a:solidFill>
                  <a:schemeClr val="tx2"/>
                </a:solidFill>
              </a:rPr>
              <a:t>, unlike defeasible deontic logic. Deliberate for regulated finance, limiting where exceptions are routine.</a:t>
            </a:r>
            <a:endParaRPr lang="en-US" sz="1200" dirty="0"/>
          </a:p>
        </p:txBody>
      </p:sp>
      <p:sp>
        <p:nvSpPr>
          <p:cNvPr id="7" name="Shape 4"/>
          <p:cNvSpPr/>
          <p:nvPr/>
        </p:nvSpPr>
        <p:spPr>
          <a:xfrm>
            <a:off x="812902" y="2622499"/>
            <a:ext cx="10566806" cy="0"/>
          </a:xfrm>
          <a:prstGeom prst="line">
            <a:avLst/>
          </a:prstGeom>
          <a:noFill/>
          <a:ln w="9525">
            <a:solidFill>
              <a:schemeClr val="accent6"/>
            </a:solidFill>
            <a:prstDash val="solid"/>
          </a:ln>
        </p:spPr>
      </p:sp>
      <p:sp>
        <p:nvSpPr>
          <p:cNvPr id="8" name="Text 5"/>
          <p:cNvSpPr txBox="1"/>
          <p:nvPr/>
        </p:nvSpPr>
        <p:spPr>
          <a:xfrm>
            <a:off x="812902" y="2736799"/>
            <a:ext cx="2540203" cy="952805"/>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Specification to predicate consistency</a:t>
            </a:r>
            <a:endParaRPr lang="en-US" sz="1300" dirty="0"/>
          </a:p>
        </p:txBody>
      </p:sp>
      <p:sp>
        <p:nvSpPr>
          <p:cNvPr id="9" name="Text 6"/>
          <p:cNvSpPr txBox="1"/>
          <p:nvPr/>
        </p:nvSpPr>
        <p:spPr>
          <a:xfrm>
            <a:off x="3504895" y="2736799"/>
            <a:ext cx="7873898" cy="952805"/>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If φᵢ is miscoded relative to textᵢ, the gate silently enforces the wrong rule. A cap coded as &gt; 0.20 where the text says 15% yields a </a:t>
            </a:r>
            <a:pPr indent="0" marL="0">
              <a:spcAft>
                <a:spcPts val="400"/>
              </a:spcAft>
              <a:buNone/>
            </a:pPr>
            <a:r>
              <a:rPr lang="en-US" sz="1200" b="1" dirty="0">
                <a:solidFill>
                  <a:schemeClr val="tx2"/>
                </a:solidFill>
              </a:rPr>
              <a:t>silent false pass</a:t>
            </a:r>
            <a:pPr indent="0" marL="0">
              <a:spcAft>
                <a:spcPts val="400"/>
              </a:spcAft>
              <a:buNone/>
            </a:pPr>
            <a:r>
              <a:rPr lang="en-US" sz="1200" dirty="0">
                <a:solidFill>
                  <a:schemeClr val="tx2"/>
                </a:solidFill>
              </a:rPr>
              <a:t>, and BVC still reports containment because no rule fired. Expected rules and enforced predicates share provenance, so the evaluation does not independently verify this.</a:t>
            </a:r>
            <a:endParaRPr lang="en-US" sz="1200" dirty="0"/>
          </a:p>
        </p:txBody>
      </p:sp>
      <p:sp>
        <p:nvSpPr>
          <p:cNvPr id="10" name="Shape 7"/>
          <p:cNvSpPr/>
          <p:nvPr/>
        </p:nvSpPr>
        <p:spPr>
          <a:xfrm>
            <a:off x="812902" y="3803904"/>
            <a:ext cx="10566806" cy="0"/>
          </a:xfrm>
          <a:prstGeom prst="line">
            <a:avLst/>
          </a:prstGeom>
          <a:noFill/>
          <a:ln w="9525">
            <a:solidFill>
              <a:schemeClr val="accent6"/>
            </a:solidFill>
            <a:prstDash val="solid"/>
          </a:ln>
        </p:spPr>
      </p:sp>
      <p:sp>
        <p:nvSpPr>
          <p:cNvPr id="11" name="Text 8"/>
          <p:cNvSpPr txBox="1"/>
          <p:nvPr/>
        </p:nvSpPr>
        <p:spPr>
          <a:xfrm>
            <a:off x="812902" y="3918204"/>
            <a:ext cx="2540203" cy="381305"/>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Operativity depends on instruction following</a:t>
            </a:r>
            <a:endParaRPr lang="en-US" sz="1300" dirty="0"/>
          </a:p>
        </p:txBody>
      </p:sp>
      <p:sp>
        <p:nvSpPr>
          <p:cNvPr id="12" name="Text 9"/>
          <p:cNvSpPr txBox="1"/>
          <p:nvPr/>
        </p:nvSpPr>
        <p:spPr>
          <a:xfrm>
            <a:off x="3504895" y="3918204"/>
            <a:ext cx="7873898" cy="381305"/>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Model-agnostic by design, model-dependent in practice.</a:t>
            </a:r>
            <a:endParaRPr lang="en-US" sz="1200" dirty="0"/>
          </a:p>
        </p:txBody>
      </p:sp>
      <p:sp>
        <p:nvSpPr>
          <p:cNvPr id="13" name="Shape 10"/>
          <p:cNvSpPr/>
          <p:nvPr/>
        </p:nvSpPr>
        <p:spPr>
          <a:xfrm>
            <a:off x="812902" y="4412894"/>
            <a:ext cx="10566806" cy="0"/>
          </a:xfrm>
          <a:prstGeom prst="line">
            <a:avLst/>
          </a:prstGeom>
          <a:noFill/>
          <a:ln w="9525">
            <a:solidFill>
              <a:schemeClr val="accent6"/>
            </a:solidFill>
            <a:prstDash val="solid"/>
          </a:ln>
        </p:spPr>
      </p:sp>
      <p:sp>
        <p:nvSpPr>
          <p:cNvPr id="14" name="Text 11"/>
          <p:cNvSpPr txBox="1"/>
          <p:nvPr/>
        </p:nvSpPr>
        <p:spPr>
          <a:xfrm>
            <a:off x="812902" y="4527194"/>
            <a:ext cx="2540203" cy="57150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Deterministic predicate checking</a:t>
            </a:r>
            <a:endParaRPr lang="en-US" sz="1300" dirty="0"/>
          </a:p>
        </p:txBody>
      </p:sp>
      <p:sp>
        <p:nvSpPr>
          <p:cNvPr id="15" name="Text 12"/>
          <p:cNvSpPr txBox="1"/>
          <p:nvPr/>
        </p:nvSpPr>
        <p:spPr>
          <a:xfrm>
            <a:off x="3504895" y="4527194"/>
            <a:ext cx="7873898" cy="571500"/>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Substring matching for leverage detection fires on false positives. A 15-word negation window suppresses "not", "avoid", "decline", but not every formulation.</a:t>
            </a:r>
            <a:endParaRPr lang="en-US" sz="1200" dirty="0"/>
          </a:p>
        </p:txBody>
      </p:sp>
      <p:sp>
        <p:nvSpPr>
          <p:cNvPr id="16" name="Shape 13"/>
          <p:cNvSpPr/>
          <p:nvPr/>
        </p:nvSpPr>
        <p:spPr>
          <a:xfrm>
            <a:off x="812902" y="5212994"/>
            <a:ext cx="10566806" cy="0"/>
          </a:xfrm>
          <a:prstGeom prst="line">
            <a:avLst/>
          </a:prstGeom>
          <a:noFill/>
          <a:ln w="9525">
            <a:solidFill>
              <a:schemeClr val="accent6"/>
            </a:solidFill>
            <a:prstDash val="solid"/>
          </a:ln>
        </p:spPr>
      </p:sp>
      <p:sp>
        <p:nvSpPr>
          <p:cNvPr id="17" name="Text 14"/>
          <p:cNvSpPr txBox="1"/>
          <p:nvPr/>
        </p:nvSpPr>
        <p:spPr>
          <a:xfrm>
            <a:off x="812902" y="5327294"/>
            <a:ext cx="2540203" cy="381305"/>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Routing non-determinism</a:t>
            </a:r>
            <a:endParaRPr lang="en-US" sz="1300" dirty="0"/>
          </a:p>
        </p:txBody>
      </p:sp>
      <p:sp>
        <p:nvSpPr>
          <p:cNvPr id="18" name="Text 15"/>
          <p:cNvSpPr txBox="1"/>
          <p:nvPr/>
        </p:nvSpPr>
        <p:spPr>
          <a:xfrm>
            <a:off x="3504895" y="5327294"/>
            <a:ext cx="7873898" cy="381305"/>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Mandate enforcement is untestable when the target agent is never invoked.</a:t>
            </a:r>
            <a:endParaRPr lang="en-US" sz="12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CONCLUSION</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Conclusion</a:t>
            </a:r>
            <a:endParaRPr lang="en-US" sz="2800" dirty="0"/>
          </a:p>
        </p:txBody>
      </p:sp>
      <p:sp>
        <p:nvSpPr>
          <p:cNvPr id="5" name="Shape 2"/>
          <p:cNvSpPr/>
          <p:nvPr/>
        </p:nvSpPr>
        <p:spPr>
          <a:xfrm>
            <a:off x="812902" y="1714500"/>
            <a:ext cx="10566806" cy="1270102"/>
          </a:xfrm>
          <a:prstGeom prst="roundRect">
            <a:avLst>
              <a:gd name="adj" fmla="val 5760"/>
            </a:avLst>
          </a:prstGeom>
          <a:solidFill>
            <a:schemeClr val="tx1"/>
          </a:solidFill>
          <a:ln w="12700">
            <a:solidFill>
              <a:schemeClr val="tx1"/>
            </a:solidFill>
            <a:prstDash val="solid"/>
          </a:ln>
        </p:spPr>
      </p:sp>
      <p:sp>
        <p:nvSpPr>
          <p:cNvPr id="6" name="Text 3"/>
          <p:cNvSpPr txBox="1"/>
          <p:nvPr/>
        </p:nvSpPr>
        <p:spPr>
          <a:xfrm>
            <a:off x="1041502" y="1841602"/>
            <a:ext cx="10159898" cy="215798"/>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The argument</a:t>
            </a:r>
            <a:endParaRPr lang="en-US" sz="1400" dirty="0"/>
          </a:p>
        </p:txBody>
      </p:sp>
      <p:sp>
        <p:nvSpPr>
          <p:cNvPr id="7" name="Text 4"/>
          <p:cNvSpPr txBox="1"/>
          <p:nvPr/>
        </p:nvSpPr>
        <p:spPr>
          <a:xfrm>
            <a:off x="1041502" y="2083003"/>
            <a:ext cx="10159898" cy="825703"/>
          </a:xfrm>
          <a:prstGeom prst="rect">
            <a:avLst/>
          </a:prstGeom>
          <a:noFill/>
          <a:ln/>
        </p:spPr>
        <p:txBody>
          <a:bodyPr wrap="square" lIns="0" tIns="0" rIns="0" bIns="0" rtlCol="0" anchor="t"/>
          <a:lstStyle/>
          <a:p>
            <a:pPr indent="0" marL="0">
              <a:spcAft>
                <a:spcPts val="400"/>
              </a:spcAft>
              <a:buNone/>
            </a:pPr>
            <a:r>
              <a:rPr lang="en-US" sz="1250" dirty="0">
                <a:solidFill>
                  <a:srgbClr val="F7F5EF"/>
                </a:solidFill>
              </a:rPr>
              <a:t>AI-Intent grounds three governance constructs, a </a:t>
            </a:r>
            <a:pPr indent="0" marL="0">
              <a:spcAft>
                <a:spcPts val="400"/>
              </a:spcAft>
              <a:buNone/>
            </a:pPr>
            <a:r>
              <a:rPr lang="en-US" sz="1250" b="1" dirty="0">
                <a:solidFill>
                  <a:srgbClr val="F7F5EF"/>
                </a:solidFill>
              </a:rPr>
              <a:t>binary action-space boundary</a:t>
            </a:r>
            <a:pPr indent="0" marL="0">
              <a:spcAft>
                <a:spcPts val="400"/>
              </a:spcAft>
              <a:buNone/>
            </a:pPr>
            <a:r>
              <a:rPr lang="en-US" sz="1250" dirty="0">
                <a:solidFill>
                  <a:srgbClr val="F7F5EF"/>
                </a:solidFill>
              </a:rPr>
              <a:t>, </a:t>
            </a:r>
            <a:pPr indent="0" marL="0">
              <a:spcAft>
                <a:spcPts val="400"/>
              </a:spcAft>
              <a:buNone/>
            </a:pPr>
            <a:r>
              <a:rPr lang="en-US" sz="1250" b="1" dirty="0">
                <a:solidFill>
                  <a:srgbClr val="F7F5EF"/>
                </a:solidFill>
              </a:rPr>
              <a:t>runtime-enforceable negative obligations</a:t>
            </a:r>
            <a:pPr indent="0" marL="0">
              <a:spcAft>
                <a:spcPts val="400"/>
              </a:spcAft>
              <a:buNone/>
            </a:pPr>
            <a:r>
              <a:rPr lang="en-US" sz="1250" dirty="0">
                <a:solidFill>
                  <a:srgbClr val="F7F5EF"/>
                </a:solidFill>
              </a:rPr>
              <a:t>, and </a:t>
            </a:r>
            <a:pPr indent="0" marL="0">
              <a:spcAft>
                <a:spcPts val="400"/>
              </a:spcAft>
              <a:buNone/>
            </a:pPr>
            <a:r>
              <a:rPr lang="en-US" sz="1250" b="1" dirty="0">
                <a:solidFill>
                  <a:srgbClr val="F7F5EF"/>
                </a:solidFill>
              </a:rPr>
              <a:t>communication as evidence</a:t>
            </a:r>
            <a:pPr indent="0" marL="0">
              <a:spcAft>
                <a:spcPts val="400"/>
              </a:spcAft>
              <a:buNone/>
            </a:pPr>
            <a:r>
              <a:rPr lang="en-US" sz="1250" dirty="0">
                <a:solidFill>
                  <a:srgbClr val="F7F5EF"/>
                </a:solidFill>
              </a:rPr>
              <a:t>, in deontic logic and UFO, distinguishing what is </a:t>
            </a:r>
            <a:pPr indent="0" marL="0">
              <a:spcAft>
                <a:spcPts val="400"/>
              </a:spcAft>
              <a:buNone/>
            </a:pPr>
            <a:r>
              <a:rPr lang="en-US" sz="1250" i="1" dirty="0">
                <a:solidFill>
                  <a:srgbClr val="F7F5EF"/>
                </a:solidFill>
              </a:rPr>
              <a:t>new</a:t>
            </a:r>
            <a:pPr indent="0" marL="0">
              <a:spcAft>
                <a:spcPts val="400"/>
              </a:spcAft>
              <a:buNone/>
            </a:pPr>
            <a:r>
              <a:rPr lang="en-US" sz="1250" dirty="0">
                <a:solidFill>
                  <a:srgbClr val="F7F5EF"/>
                </a:solidFill>
              </a:rPr>
              <a:t> (sortal boundaries, external norm enforcement) from what is </a:t>
            </a:r>
            <a:pPr indent="0" marL="0">
              <a:spcAft>
                <a:spcPts val="400"/>
              </a:spcAft>
              <a:buNone/>
            </a:pPr>
            <a:r>
              <a:rPr lang="en-US" sz="1250" i="1" dirty="0">
                <a:solidFill>
                  <a:srgbClr val="F7F5EF"/>
                </a:solidFill>
              </a:rPr>
              <a:t>appropriated</a:t>
            </a:r>
            <a:pPr indent="0" marL="0">
              <a:spcAft>
                <a:spcPts val="400"/>
              </a:spcAft>
              <a:buNone/>
            </a:pPr>
            <a:r>
              <a:rPr lang="en-US" sz="1250" dirty="0">
                <a:solidFill>
                  <a:srgbClr val="F7F5EF"/>
                </a:solidFill>
              </a:rPr>
              <a:t> (prohibition semantics from NMAS, event ontology from UFO).</a:t>
            </a:r>
            <a:endParaRPr lang="en-US" sz="1250" dirty="0"/>
          </a:p>
        </p:txBody>
      </p:sp>
      <p:sp>
        <p:nvSpPr>
          <p:cNvPr id="8" name="Shape 5"/>
          <p:cNvSpPr/>
          <p:nvPr/>
        </p:nvSpPr>
        <p:spPr>
          <a:xfrm>
            <a:off x="812902" y="3149194"/>
            <a:ext cx="10566806" cy="1270102"/>
          </a:xfrm>
          <a:prstGeom prst="roundRect">
            <a:avLst>
              <a:gd name="adj" fmla="val 5760"/>
            </a:avLst>
          </a:prstGeom>
          <a:solidFill>
            <a:schemeClr val="bg2"/>
          </a:solidFill>
          <a:ln w="9525">
            <a:solidFill>
              <a:schemeClr val="accent6"/>
            </a:solidFill>
            <a:prstDash val="solid"/>
          </a:ln>
        </p:spPr>
      </p:sp>
      <p:sp>
        <p:nvSpPr>
          <p:cNvPr id="9" name="Shape 6"/>
          <p:cNvSpPr/>
          <p:nvPr/>
        </p:nvSpPr>
        <p:spPr>
          <a:xfrm>
            <a:off x="812902" y="3149194"/>
            <a:ext cx="38405" cy="1270102"/>
          </a:xfrm>
          <a:prstGeom prst="rect">
            <a:avLst/>
          </a:prstGeom>
          <a:solidFill>
            <a:schemeClr val="tx1"/>
          </a:solidFill>
          <a:ln w="12700">
            <a:solidFill>
              <a:schemeClr val="tx1"/>
            </a:solidFill>
            <a:prstDash val="solid"/>
          </a:ln>
        </p:spPr>
      </p:sp>
      <p:sp>
        <p:nvSpPr>
          <p:cNvPr id="10" name="Text 7"/>
          <p:cNvSpPr txBox="1"/>
          <p:nvPr/>
        </p:nvSpPr>
        <p:spPr>
          <a:xfrm>
            <a:off x="1041502" y="3276295"/>
            <a:ext cx="10159898" cy="215798"/>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What the reference implementation supports</a:t>
            </a:r>
            <a:endParaRPr lang="en-US" sz="1400" dirty="0"/>
          </a:p>
        </p:txBody>
      </p:sp>
      <p:sp>
        <p:nvSpPr>
          <p:cNvPr id="11" name="Text 8"/>
          <p:cNvSpPr txBox="1"/>
          <p:nvPr/>
        </p:nvSpPr>
        <p:spPr>
          <a:xfrm>
            <a:off x="1041502" y="3517697"/>
            <a:ext cx="10159898" cy="825703"/>
          </a:xfrm>
          <a:prstGeom prst="rect">
            <a:avLst/>
          </a:prstGeom>
          <a:noFill/>
          <a:ln/>
        </p:spPr>
        <p:txBody>
          <a:bodyPr wrap="square" lIns="0" tIns="0" rIns="0" bIns="0" rtlCol="0" anchor="t"/>
          <a:lstStyle/>
          <a:p>
            <a:pPr indent="0" marL="0">
              <a:spcAft>
                <a:spcPts val="400"/>
              </a:spcAft>
              <a:buNone/>
            </a:pPr>
            <a:r>
              <a:rPr lang="en-US" sz="1250" dirty="0">
                <a:solidFill>
                  <a:schemeClr val="tx2"/>
                </a:solidFill>
              </a:rPr>
              <a:t>(i) Agent self-compliance is unreliable for non-deterministic generators, motivating external enforcement as a </a:t>
            </a:r>
            <a:pPr indent="0" marL="0">
              <a:spcAft>
                <a:spcPts val="400"/>
              </a:spcAft>
              <a:buNone/>
            </a:pPr>
            <a:r>
              <a:rPr lang="en-US" sz="1250" i="1" dirty="0">
                <a:solidFill>
                  <a:schemeClr val="tx2"/>
                </a:solidFill>
              </a:rPr>
              <a:t>structural</a:t>
            </a:r>
            <a:pPr indent="0" marL="0">
              <a:spcAft>
                <a:spcPts val="400"/>
              </a:spcAft>
              <a:buNone/>
            </a:pPr>
            <a:r>
              <a:rPr lang="en-US" sz="1250" dirty="0">
                <a:solidFill>
                  <a:schemeClr val="tx2"/>
                </a:solidFill>
              </a:rPr>
              <a:t>, not optional, component.</a:t>
            </a:r>
            <a:endParaRPr lang="en-US" sz="1250" dirty="0"/>
          </a:p>
          <a:p>
            <a:pPr indent="0" marL="0">
              <a:spcAft>
                <a:spcPts val="400"/>
              </a:spcAft>
              <a:buNone/>
            </a:pPr>
            <a:r>
              <a:rPr lang="en-US" sz="1250" dirty="0">
                <a:solidFill>
                  <a:schemeClr val="tx2"/>
                </a:solidFill>
              </a:rPr>
              <a:t>(ii) A Compliance Agent realizing R1 to R4 can contain boundary violations </a:t>
            </a:r>
            <a:pPr indent="0" marL="0">
              <a:spcAft>
                <a:spcPts val="400"/>
              </a:spcAft>
              <a:buNone/>
            </a:pPr>
            <a:r>
              <a:rPr lang="en-US" sz="1250" i="1" dirty="0">
                <a:solidFill>
                  <a:schemeClr val="tx2"/>
                </a:solidFill>
              </a:rPr>
              <a:t>even under adversarial agent dispositions</a:t>
            </a:r>
            <a:pPr indent="0" marL="0">
              <a:spcAft>
                <a:spcPts val="400"/>
              </a:spcAft>
              <a:buNone/>
            </a:pPr>
            <a:r>
              <a:rPr lang="en-US" sz="1250" dirty="0">
                <a:solidFill>
                  <a:schemeClr val="tx2"/>
                </a:solidFill>
              </a:rPr>
              <a:t>.</a:t>
            </a:r>
            <a:endParaRPr lang="en-US" sz="1250" dirty="0"/>
          </a:p>
        </p:txBody>
      </p:sp>
      <p:sp>
        <p:nvSpPr>
          <p:cNvPr id="12" name="Shape 9"/>
          <p:cNvSpPr/>
          <p:nvPr/>
        </p:nvSpPr>
        <p:spPr>
          <a:xfrm>
            <a:off x="812902" y="4597603"/>
            <a:ext cx="3377794" cy="1333195"/>
          </a:xfrm>
          <a:prstGeom prst="roundRect">
            <a:avLst>
              <a:gd name="adj" fmla="val 5487"/>
            </a:avLst>
          </a:prstGeom>
          <a:solidFill>
            <a:schemeClr val="bg2"/>
          </a:solidFill>
          <a:ln w="9525">
            <a:solidFill>
              <a:schemeClr val="accent6"/>
            </a:solidFill>
            <a:prstDash val="solid"/>
          </a:ln>
        </p:spPr>
      </p:sp>
      <p:sp>
        <p:nvSpPr>
          <p:cNvPr id="13" name="Text 10"/>
          <p:cNvSpPr txBox="1"/>
          <p:nvPr/>
        </p:nvSpPr>
        <p:spPr>
          <a:xfrm>
            <a:off x="990295" y="4724705"/>
            <a:ext cx="3047695" cy="190195"/>
          </a:xfrm>
          <a:prstGeom prst="rect">
            <a:avLst/>
          </a:prstGeom>
          <a:noFill/>
          <a:ln/>
        </p:spPr>
        <p:txBody>
          <a:bodyPr wrap="square" lIns="0" tIns="0" rIns="0" bIns="0" rtlCol="0" anchor="t"/>
          <a:lstStyle/>
          <a:p>
            <a:pPr indent="0" marL="0">
              <a:spcAft>
                <a:spcPts val="400"/>
              </a:spcAft>
              <a:buNone/>
            </a:pPr>
            <a:r>
              <a:rPr lang="en-US" sz="1050" b="1" spc="100" kern="0" dirty="0">
                <a:solidFill>
                  <a:schemeClr val="accent1"/>
                </a:solidFill>
              </a:rPr>
              <a:t>FUTURE WORK · MODELING</a:t>
            </a:r>
            <a:endParaRPr lang="en-US" sz="1050" dirty="0"/>
          </a:p>
        </p:txBody>
      </p:sp>
      <p:sp>
        <p:nvSpPr>
          <p:cNvPr id="14" name="Text 11"/>
          <p:cNvSpPr txBox="1"/>
          <p:nvPr/>
        </p:nvSpPr>
        <p:spPr>
          <a:xfrm>
            <a:off x="990295" y="4966106"/>
            <a:ext cx="3047695" cy="888797"/>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Defeasible norms, session-mutable Mandates, richer predicates.</a:t>
            </a:r>
            <a:endParaRPr lang="en-US" sz="1200" dirty="0"/>
          </a:p>
        </p:txBody>
      </p:sp>
      <p:sp>
        <p:nvSpPr>
          <p:cNvPr id="15" name="Shape 12"/>
          <p:cNvSpPr/>
          <p:nvPr/>
        </p:nvSpPr>
        <p:spPr>
          <a:xfrm>
            <a:off x="4406494" y="4597603"/>
            <a:ext cx="3377794" cy="1333195"/>
          </a:xfrm>
          <a:prstGeom prst="roundRect">
            <a:avLst>
              <a:gd name="adj" fmla="val 5487"/>
            </a:avLst>
          </a:prstGeom>
          <a:solidFill>
            <a:schemeClr val="bg2"/>
          </a:solidFill>
          <a:ln w="9525">
            <a:solidFill>
              <a:schemeClr val="accent6"/>
            </a:solidFill>
            <a:prstDash val="solid"/>
          </a:ln>
        </p:spPr>
      </p:sp>
      <p:sp>
        <p:nvSpPr>
          <p:cNvPr id="16" name="Text 13"/>
          <p:cNvSpPr txBox="1"/>
          <p:nvPr/>
        </p:nvSpPr>
        <p:spPr>
          <a:xfrm>
            <a:off x="4584802" y="4724705"/>
            <a:ext cx="3047695" cy="190195"/>
          </a:xfrm>
          <a:prstGeom prst="rect">
            <a:avLst/>
          </a:prstGeom>
          <a:noFill/>
          <a:ln/>
        </p:spPr>
        <p:txBody>
          <a:bodyPr wrap="square" lIns="0" tIns="0" rIns="0" bIns="0" rtlCol="0" anchor="t"/>
          <a:lstStyle/>
          <a:p>
            <a:pPr indent="0" marL="0">
              <a:spcAft>
                <a:spcPts val="400"/>
              </a:spcAft>
              <a:buNone/>
            </a:pPr>
            <a:r>
              <a:rPr lang="en-US" sz="1050" b="1" spc="100" kern="0" dirty="0">
                <a:solidFill>
                  <a:schemeClr val="accent1"/>
                </a:solidFill>
              </a:rPr>
              <a:t>FUTURE WORK · ONTOLOGICAL</a:t>
            </a:r>
            <a:endParaRPr lang="en-US" sz="1050" dirty="0"/>
          </a:p>
        </p:txBody>
      </p:sp>
      <p:sp>
        <p:nvSpPr>
          <p:cNvPr id="17" name="Text 14"/>
          <p:cNvSpPr txBox="1"/>
          <p:nvPr/>
        </p:nvSpPr>
        <p:spPr>
          <a:xfrm>
            <a:off x="4584802" y="4966106"/>
            <a:ext cx="3047695" cy="888797"/>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A full OntoUML model; whether design-time reasoning catches the specification to predicate inconsistencies the runtime gate cannot.</a:t>
            </a:r>
            <a:endParaRPr lang="en-US" sz="1200" dirty="0"/>
          </a:p>
        </p:txBody>
      </p:sp>
      <p:sp>
        <p:nvSpPr>
          <p:cNvPr id="18" name="Shape 15"/>
          <p:cNvSpPr/>
          <p:nvPr/>
        </p:nvSpPr>
        <p:spPr>
          <a:xfrm>
            <a:off x="8001000" y="4597603"/>
            <a:ext cx="3377794" cy="1333195"/>
          </a:xfrm>
          <a:prstGeom prst="roundRect">
            <a:avLst>
              <a:gd name="adj" fmla="val 5487"/>
            </a:avLst>
          </a:prstGeom>
          <a:solidFill>
            <a:schemeClr val="bg2"/>
          </a:solidFill>
          <a:ln w="9525">
            <a:solidFill>
              <a:schemeClr val="accent6"/>
            </a:solidFill>
            <a:prstDash val="solid"/>
          </a:ln>
        </p:spPr>
      </p:sp>
      <p:sp>
        <p:nvSpPr>
          <p:cNvPr id="19" name="Text 16"/>
          <p:cNvSpPr txBox="1"/>
          <p:nvPr/>
        </p:nvSpPr>
        <p:spPr>
          <a:xfrm>
            <a:off x="8178394" y="4724705"/>
            <a:ext cx="3047695" cy="190195"/>
          </a:xfrm>
          <a:prstGeom prst="rect">
            <a:avLst/>
          </a:prstGeom>
          <a:noFill/>
          <a:ln/>
        </p:spPr>
        <p:txBody>
          <a:bodyPr wrap="square" lIns="0" tIns="0" rIns="0" bIns="0" rtlCol="0" anchor="t"/>
          <a:lstStyle/>
          <a:p>
            <a:pPr indent="0" marL="0">
              <a:spcAft>
                <a:spcPts val="400"/>
              </a:spcAft>
              <a:buNone/>
            </a:pPr>
            <a:r>
              <a:rPr lang="en-US" sz="1050" b="1" spc="100" kern="0" dirty="0">
                <a:solidFill>
                  <a:schemeClr val="accent1"/>
                </a:solidFill>
              </a:rPr>
              <a:t>FUTURE WORK · EMPIRICAL</a:t>
            </a:r>
            <a:endParaRPr lang="en-US" sz="1050" dirty="0"/>
          </a:p>
        </p:txBody>
      </p:sp>
      <p:sp>
        <p:nvSpPr>
          <p:cNvPr id="20" name="Text 17"/>
          <p:cNvSpPr txBox="1"/>
          <p:nvPr/>
        </p:nvSpPr>
        <p:spPr>
          <a:xfrm>
            <a:off x="8178394" y="4966106"/>
            <a:ext cx="3047695" cy="888797"/>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Further domains, more capable models.</a:t>
            </a:r>
            <a:endParaRPr lang="en-US" sz="12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812902" y="711403"/>
            <a:ext cx="609905" cy="38405"/>
          </a:xfrm>
          <a:prstGeom prst="rect">
            <a:avLst/>
          </a:prstGeom>
          <a:solidFill>
            <a:schemeClr val="accent2"/>
          </a:solidFill>
          <a:ln w="12700">
            <a:solidFill>
              <a:schemeClr val="accent2"/>
            </a:solidFill>
            <a:prstDash val="solid"/>
          </a:ln>
        </p:spPr>
      </p:sp>
      <p:sp>
        <p:nvSpPr>
          <p:cNvPr id="3" name="Text 1"/>
          <p:cNvSpPr txBox="1"/>
          <p:nvPr/>
        </p:nvSpPr>
        <p:spPr>
          <a:xfrm>
            <a:off x="812902" y="952805"/>
            <a:ext cx="10566806" cy="952805"/>
          </a:xfrm>
          <a:prstGeom prst="rect">
            <a:avLst/>
          </a:prstGeom>
          <a:noFill/>
          <a:ln/>
        </p:spPr>
        <p:txBody>
          <a:bodyPr wrap="square" lIns="0" tIns="0" rIns="0" bIns="0" rtlCol="0" anchor="t"/>
          <a:lstStyle/>
          <a:p>
            <a:pPr indent="0" marL="0">
              <a:spcAft>
                <a:spcPts val="400"/>
              </a:spcAft>
              <a:buNone/>
            </a:pPr>
            <a:r>
              <a:rPr lang="en-US" sz="5600" b="1" dirty="0">
                <a:solidFill>
                  <a:srgbClr val="F7F5EF"/>
                </a:solidFill>
                <a:latin typeface="Cambria" pitchFamily="34" charset="0"/>
                <a:ea typeface="Cambria" pitchFamily="34" charset="-122"/>
                <a:cs typeface="Cambria" pitchFamily="34" charset="-120"/>
              </a:rPr>
              <a:t>Thank you</a:t>
            </a:r>
            <a:endParaRPr lang="en-US" sz="5600" dirty="0"/>
          </a:p>
        </p:txBody>
      </p:sp>
      <p:sp>
        <p:nvSpPr>
          <p:cNvPr id="4" name="Text 2"/>
          <p:cNvSpPr txBox="1"/>
          <p:nvPr/>
        </p:nvSpPr>
        <p:spPr>
          <a:xfrm>
            <a:off x="812902" y="1968703"/>
            <a:ext cx="10566806" cy="508406"/>
          </a:xfrm>
          <a:prstGeom prst="rect">
            <a:avLst/>
          </a:prstGeom>
          <a:noFill/>
          <a:ln/>
        </p:spPr>
        <p:txBody>
          <a:bodyPr wrap="square" lIns="0" tIns="0" rIns="0" bIns="0" rtlCol="0" anchor="t"/>
          <a:lstStyle/>
          <a:p>
            <a:pPr indent="0" marL="0">
              <a:spcAft>
                <a:spcPts val="400"/>
              </a:spcAft>
              <a:buNone/>
            </a:pPr>
            <a:r>
              <a:rPr lang="en-US" sz="2400" dirty="0">
                <a:solidFill>
                  <a:srgbClr val="D9DEE8"/>
                </a:solidFill>
                <a:latin typeface="Cambria" pitchFamily="34" charset="0"/>
                <a:ea typeface="Cambria" pitchFamily="34" charset="-122"/>
                <a:cs typeface="Cambria" pitchFamily="34" charset="-120"/>
              </a:rPr>
              <a:t>Questions?</a:t>
            </a:r>
            <a:endParaRPr lang="en-US" sz="2400" dirty="0"/>
          </a:p>
        </p:txBody>
      </p:sp>
      <p:sp>
        <p:nvSpPr>
          <p:cNvPr id="5" name="Text 3"/>
          <p:cNvSpPr txBox="1"/>
          <p:nvPr/>
        </p:nvSpPr>
        <p:spPr>
          <a:xfrm>
            <a:off x="812902" y="4190695"/>
            <a:ext cx="3174797" cy="571500"/>
          </a:xfrm>
          <a:prstGeom prst="rect">
            <a:avLst/>
          </a:prstGeom>
          <a:noFill/>
          <a:ln/>
        </p:spPr>
        <p:txBody>
          <a:bodyPr wrap="square" lIns="0" tIns="0" rIns="0" bIns="0" rtlCol="0" anchor="t"/>
          <a:lstStyle/>
          <a:p>
            <a:pPr indent="0" marL="0">
              <a:spcAft>
                <a:spcPts val="400"/>
              </a:spcAft>
              <a:buNone/>
            </a:pPr>
            <a:r>
              <a:rPr lang="en-US" sz="1600" b="1" dirty="0">
                <a:solidFill>
                  <a:srgbClr val="F7F5EF"/>
                </a:solidFill>
              </a:rPr>
              <a:t>Wolfgang Maass</a:t>
            </a:r>
            <a:pPr indent="0" marL="0">
              <a:spcAft>
                <a:spcPts val="400"/>
              </a:spcAft>
              <a:buNone/>
            </a:pPr>
            <a:endParaRPr lang="en-US" sz="1600" dirty="0"/>
          </a:p>
          <a:p>
            <a:pPr indent="0" marL="0">
              <a:spcAft>
                <a:spcPts val="400"/>
              </a:spcAft>
              <a:buNone/>
            </a:pPr>
            <a:r>
              <a:rPr lang="en-US" sz="1200" dirty="0">
                <a:solidFill>
                  <a:srgbClr val="BFC8D9"/>
                </a:solidFill>
              </a:rPr>
              <a:t>wolfgang.maass@dfki.de</a:t>
            </a:r>
            <a:endParaRPr lang="en-US" sz="1600" dirty="0"/>
          </a:p>
        </p:txBody>
      </p:sp>
      <p:sp>
        <p:nvSpPr>
          <p:cNvPr id="6" name="Text 4"/>
          <p:cNvSpPr txBox="1"/>
          <p:nvPr/>
        </p:nvSpPr>
        <p:spPr>
          <a:xfrm>
            <a:off x="4317797" y="4190695"/>
            <a:ext cx="3174797" cy="571500"/>
          </a:xfrm>
          <a:prstGeom prst="rect">
            <a:avLst/>
          </a:prstGeom>
          <a:noFill/>
          <a:ln/>
        </p:spPr>
        <p:txBody>
          <a:bodyPr wrap="square" lIns="0" tIns="0" rIns="0" bIns="0" rtlCol="0" anchor="t"/>
          <a:lstStyle/>
          <a:p>
            <a:pPr indent="0" marL="0">
              <a:spcAft>
                <a:spcPts val="400"/>
              </a:spcAft>
              <a:buNone/>
            </a:pPr>
            <a:r>
              <a:rPr lang="en-US" sz="1600" b="1" dirty="0">
                <a:solidFill>
                  <a:srgbClr val="F7F5EF"/>
                </a:solidFill>
              </a:rPr>
              <a:t>Iris Reinhartz-Berger</a:t>
            </a:r>
            <a:pPr indent="0" marL="0">
              <a:spcAft>
                <a:spcPts val="400"/>
              </a:spcAft>
              <a:buNone/>
            </a:pPr>
            <a:endParaRPr lang="en-US" sz="1600" dirty="0"/>
          </a:p>
          <a:p>
            <a:pPr indent="0" marL="0">
              <a:spcAft>
                <a:spcPts val="400"/>
              </a:spcAft>
              <a:buNone/>
            </a:pPr>
            <a:r>
              <a:rPr lang="en-US" sz="1200" dirty="0">
                <a:solidFill>
                  <a:srgbClr val="BFC8D9"/>
                </a:solidFill>
              </a:rPr>
              <a:t>iris@is.haifa.ac.il</a:t>
            </a:r>
            <a:endParaRPr lang="en-US" sz="1600" dirty="0"/>
          </a:p>
        </p:txBody>
      </p:sp>
      <p:sp>
        <p:nvSpPr>
          <p:cNvPr id="7" name="Text 5"/>
          <p:cNvSpPr txBox="1"/>
          <p:nvPr/>
        </p:nvSpPr>
        <p:spPr>
          <a:xfrm>
            <a:off x="6933895" y="4190695"/>
            <a:ext cx="4444898" cy="571500"/>
          </a:xfrm>
          <a:prstGeom prst="rect">
            <a:avLst/>
          </a:prstGeom>
          <a:noFill/>
          <a:ln/>
        </p:spPr>
        <p:txBody>
          <a:bodyPr wrap="square" lIns="0" tIns="0" rIns="0" bIns="0" rtlCol="0" anchor="t"/>
          <a:lstStyle/>
          <a:p>
            <a:pPr algn="r" indent="0" marL="0">
              <a:spcAft>
                <a:spcPts val="400"/>
              </a:spcAft>
              <a:buNone/>
            </a:pPr>
            <a:r>
              <a:rPr lang="en-US" sz="1200" dirty="0">
                <a:solidFill>
                  <a:srgbClr val="BFC8D9"/>
                </a:solidFill>
              </a:rPr>
              <a:t>Reference implementation, evaluation suite and data</a:t>
            </a:r>
            <a:endParaRPr lang="en-US" sz="1400" dirty="0"/>
          </a:p>
          <a:p>
            <a:pPr algn="r" indent="0" marL="0">
              <a:spcAft>
                <a:spcPts val="400"/>
              </a:spcAft>
              <a:buNone/>
            </a:pPr>
            <a:r>
              <a:rPr lang="en-US" sz="1400" b="1" dirty="0">
                <a:solidFill>
                  <a:schemeClr val="accent2"/>
                </a:solidFill>
              </a:rPr>
              <a:t>github.com/InformationServiceSystems/ai-intent</a:t>
            </a:r>
            <a:endParaRPr lang="en-US" sz="1400" dirty="0"/>
          </a:p>
        </p:txBody>
      </p:sp>
      <p:sp>
        <p:nvSpPr>
          <p:cNvPr id="8" name="Shape 6"/>
          <p:cNvSpPr/>
          <p:nvPr/>
        </p:nvSpPr>
        <p:spPr>
          <a:xfrm>
            <a:off x="0" y="5715000"/>
            <a:ext cx="12191695" cy="1143000"/>
          </a:xfrm>
          <a:prstGeom prst="rect">
            <a:avLst/>
          </a:prstGeom>
          <a:solidFill>
            <a:schemeClr val="bg1"/>
          </a:solidFill>
          <a:ln w="12700">
            <a:solidFill>
              <a:schemeClr val="bg1"/>
            </a:solidFill>
            <a:prstDash val="solid"/>
          </a:ln>
        </p:spPr>
      </p:sp>
      <p:pic>
        <p:nvPicPr>
          <p:cNvPr id="9" name="Image 0" descr="DFKI">    </p:cNvPr>
          <p:cNvPicPr>
            <a:picLocks noChangeAspect="1"/>
          </p:cNvPicPr>
          <p:nvPr/>
        </p:nvPicPr>
        <p:blipFill>
          <a:blip r:embed="rId1"/>
          <a:srcRect l="0" r="0" t="0" b="0"/>
          <a:stretch/>
        </p:blipFill>
        <p:spPr>
          <a:xfrm>
            <a:off x="812902" y="5943600"/>
            <a:ext cx="2540203" cy="685800"/>
          </a:xfrm>
          <a:prstGeom prst="rect">
            <a:avLst/>
          </a:prstGeom>
        </p:spPr>
      </p:pic>
      <p:pic>
        <p:nvPicPr>
          <p:cNvPr id="10" name="Image 1" descr="Universität des Saarlandes">    </p:cNvPr>
          <p:cNvPicPr>
            <a:picLocks noChangeAspect="1"/>
          </p:cNvPicPr>
          <p:nvPr/>
        </p:nvPicPr>
        <p:blipFill>
          <a:blip r:embed="rId2"/>
          <a:srcRect l="0" r="0" t="0" b="0"/>
          <a:stretch/>
        </p:blipFill>
        <p:spPr>
          <a:xfrm>
            <a:off x="5175504" y="5905195"/>
            <a:ext cx="1841602" cy="761695"/>
          </a:xfrm>
          <a:prstGeom prst="rect">
            <a:avLst/>
          </a:prstGeom>
        </p:spPr>
      </p:pic>
      <p:pic>
        <p:nvPicPr>
          <p:cNvPr id="11" name="Image 2" descr="University of Haifa">    </p:cNvPr>
          <p:cNvPicPr>
            <a:picLocks noChangeAspect="1"/>
          </p:cNvPicPr>
          <p:nvPr/>
        </p:nvPicPr>
        <p:blipFill>
          <a:blip r:embed="rId3"/>
          <a:srcRect l="0" r="0" t="0" b="0"/>
          <a:stretch/>
        </p:blipFill>
        <p:spPr>
          <a:xfrm>
            <a:off x="10045598" y="5880506"/>
            <a:ext cx="1333195" cy="81290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BACKUP</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Agent mandates in full</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12902" y="1777594"/>
          <a:ext cx="10566806" cy="914400"/>
        </p:xfrm>
        <a:graphic>
          <a:graphicData uri="http://schemas.openxmlformats.org/drawingml/2006/table">
            <a:tbl>
              <a:tblPr/>
              <a:tblGrid>
                <a:gridCol w="1371600"/>
                <a:gridCol w="1796796"/>
                <a:gridCol w="844906"/>
                <a:gridCol w="844906"/>
                <a:gridCol w="5708599"/>
              </a:tblGrid>
              <a:tr h="0">
                <a:tc>
                  <a:txBody>
                    <a:bodyPr/>
                    <a:lstStyle/>
                    <a:p>
                      <a:pPr algn="l" indent="0" marL="0">
                        <a:buNone/>
                      </a:pPr>
                      <a:r>
                        <a:rPr lang="en-US" sz="1200" b="1" dirty="0">
                          <a:solidFill>
                            <a:srgbClr val="F7F5EF"/>
                          </a:solidFill>
                          <a:latin typeface="Calibri" pitchFamily="34" charset="0"/>
                          <a:ea typeface="Calibri" pitchFamily="34" charset="-122"/>
                          <a:cs typeface="Calibri" pitchFamily="34" charset="-120"/>
                        </a:rPr>
                        <a:t>Agent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l" indent="0" marL="0">
                        <a:buNone/>
                      </a:pPr>
                      <a:r>
                        <a:rPr lang="en-US" sz="1200" b="1" dirty="0">
                          <a:solidFill>
                            <a:srgbClr val="F7F5E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7F5EF"/>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7F5EF"/>
                          </a:solidFill>
                          <a:latin typeface="Calibri" pitchFamily="34" charset="0"/>
                          <a:ea typeface="Calibri" pitchFamily="34" charset="-122"/>
                          <a:cs typeface="Calibri" pitchFamily="34" charset="-120"/>
                        </a:rPr>
                        <a:t>|R|</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c>
                  <a:txBody>
                    <a:bodyPr/>
                    <a:lstStyle/>
                    <a:p>
                      <a:pPr algn="l" indent="0" marL="0">
                        <a:buNone/>
                      </a:pPr>
                      <a:r>
                        <a:rPr lang="en-US" sz="1200" b="1" dirty="0">
                          <a:solidFill>
                            <a:srgbClr val="F7F5EF"/>
                          </a:solidFill>
                          <a:latin typeface="Calibri" pitchFamily="34" charset="0"/>
                          <a:ea typeface="Calibri" pitchFamily="34" charset="-122"/>
                          <a:cs typeface="Calibri" pitchFamily="34" charset="-120"/>
                        </a:rPr>
                        <a:t>Key constraints (examples)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1B2A4A"/>
                    </a:solidFill>
                  </a:tcPr>
                </a:tc>
              </a:tr>
              <a:tr h="0">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Central</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Orchestrator</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F(single asset class &gt; 40%); O(consult ≥ 1 sub-agent); O(surface all violations)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Stocks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Equity Analyst</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F(non-large-cap); F(position &gt; 10%); F(leverage); O(ESG screening)</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r h="0">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Bonds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Fixed Income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F(rating &lt; BBB+); F(duration &gt; 10 yr); F(EM debt); F(bucket &gt; 30% per yr)</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DFCF9"/>
                    </a:solidFill>
                  </a:tcPr>
                </a:tc>
              </a:tr>
              <a:tr h="0">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Materials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Commodities</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algn="ctr" indent="0" marL="0">
                        <a:buNone/>
                      </a:pPr>
                      <a:r>
                        <a:rPr lang="en-US" sz="1200" dirty="0">
                          <a:solidFill>
                            <a:srgbClr val="1B2A4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F(non-Au/Ag commodity); F(allocation &gt; 15%); F(leveraged ETF/futures); O(inflation rationale)</a:t>
                      </a:r>
                      <a:endParaRPr lang="en-US" sz="1200" dirty="0">
                        <a:latin typeface="Calibri" charset="0"/>
                        <a:ea typeface="Calibri" charset="0"/>
                        <a:cs typeface="Calibri" charset="0"/>
                      </a:endParaRPr>
                    </a:p>
                  </a:txBody>
                  <a:tcPr marL="76200" marR="76200" marT="50800" marB="50800" anchor="ctr">
                    <a:lnL w="6350" cap="flat" cmpd="sng" algn="ctr">
                      <a:solidFill>
                        <a:srgbClr val="D5D0C4"/>
                      </a:solidFill>
                      <a:prstDash val="solid"/>
                      <a:round/>
                      <a:headEnd type="none" w="med" len="med"/>
                      <a:tailEnd type="none" w="med" len="med"/>
                    </a:lnL>
                    <a:lnR w="6350" cap="flat" cmpd="sng" algn="ctr">
                      <a:solidFill>
                        <a:srgbClr val="D5D0C4"/>
                      </a:solidFill>
                      <a:prstDash val="solid"/>
                      <a:round/>
                      <a:headEnd type="none" w="med" len="med"/>
                      <a:tailEnd type="none" w="med" len="med"/>
                    </a:lnR>
                    <a:lnT w="6350" cap="flat" cmpd="sng" algn="ctr">
                      <a:solidFill>
                        <a:srgbClr val="D5D0C4"/>
                      </a:solidFill>
                      <a:prstDash val="solid"/>
                      <a:round/>
                      <a:headEnd type="none" w="med" len="med"/>
                      <a:tailEnd type="none" w="med" len="med"/>
                    </a:lnT>
                    <a:lnB w="6350" cap="flat" cmpd="sng" algn="ctr">
                      <a:solidFill>
                        <a:srgbClr val="D5D0C4"/>
                      </a:solidFill>
                      <a:prstDash val="solid"/>
                      <a:round/>
                      <a:headEnd type="none" w="med" len="med"/>
                      <a:tailEnd type="none" w="med" len="med"/>
                    </a:lnB>
                    <a:solidFill>
                      <a:srgbClr val="F1EEE6"/>
                    </a:solidFill>
                  </a:tcPr>
                </a:tc>
              </a:tr>
            </a:tbl>
          </a:graphicData>
        </a:graphic>
      </p:graphicFrame>
      <p:sp>
        <p:nvSpPr>
          <p:cNvPr id="6" name="Text 2"/>
          <p:cNvSpPr txBox="1"/>
          <p:nvPr/>
        </p:nvSpPr>
        <p:spPr>
          <a:xfrm>
            <a:off x="812902" y="3619195"/>
            <a:ext cx="10566806" cy="254203"/>
          </a:xfrm>
          <a:prstGeom prst="rect">
            <a:avLst/>
          </a:prstGeom>
          <a:noFill/>
          <a:ln/>
        </p:spPr>
        <p:txBody>
          <a:bodyPr wrap="square" lIns="0" tIns="0" rIns="0" bIns="0" rtlCol="0" anchor="t"/>
          <a:lstStyle/>
          <a:p>
            <a:pPr indent="0" marL="0">
              <a:spcAft>
                <a:spcPts val="400"/>
              </a:spcAft>
              <a:buNone/>
            </a:pPr>
            <a:r>
              <a:rPr lang="en-US" sz="1100" dirty="0">
                <a:solidFill>
                  <a:schemeClr val="accent5"/>
                </a:solidFill>
              </a:rPr>
              <a:t>|C| = boundary constraints · |R| = risk parameters · F = prohibition · O = obligation</a:t>
            </a:r>
            <a:endParaRPr lang="en-US" sz="11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812902" y="609905"/>
            <a:ext cx="10566806" cy="254203"/>
          </a:xfrm>
          <a:prstGeom prst="rect">
            <a:avLst/>
          </a:prstGeom>
          <a:noFill/>
          <a:ln/>
        </p:spPr>
        <p:txBody>
          <a:bodyPr wrap="square" lIns="0" tIns="0" rIns="0" bIns="0" rtlCol="0" anchor="ctr"/>
          <a:lstStyle/>
          <a:p>
            <a:pPr indent="0" marL="0">
              <a:buNone/>
            </a:pPr>
            <a:r>
              <a:rPr lang="en-US" sz="1100" b="1" spc="200" kern="0" dirty="0">
                <a:solidFill>
                  <a:srgbClr val="B45F06"/>
                </a:solidFill>
              </a:rPr>
              <a:t>BACKUP</a:t>
            </a:r>
            <a:endParaRPr lang="en-US" sz="1100" dirty="0"/>
          </a:p>
        </p:txBody>
      </p:sp>
      <p:sp>
        <p:nvSpPr>
          <p:cNvPr id="3" name="Text 1"/>
          <p:cNvSpPr/>
          <p:nvPr>
            <p:ph idx="102" type="title" hasCustomPrompt="1"/>
          </p:nvPr>
        </p:nvSpPr>
        <p:spPr>
          <a:xfrm>
            <a:off x="812902" y="863194"/>
            <a:ext cx="10566806" cy="698602"/>
          </a:xfrm>
          <a:prstGeom prst="rect">
            <a:avLst/>
          </a:prstGeom>
          <a:noFill/>
          <a:ln/>
        </p:spPr>
        <p:txBody>
          <a:bodyPr wrap="square" lIns="0" tIns="0" rIns="0" bIns="0" rtlCol="0" anchor="t"/>
          <a:lstStyle/>
          <a:p>
            <a:pPr algn="l" indent="0" marL="0">
              <a:buNone/>
            </a:pPr>
            <a:r>
              <a:rPr lang="en-US" sz="2800" b="1" dirty="0">
                <a:solidFill>
                  <a:srgbClr val="1B2A4A"/>
                </a:solidFill>
              </a:rPr>
              <a:t>Threats to validity</a:t>
            </a:r>
            <a:endParaRPr lang="en-US" sz="2800" dirty="0"/>
          </a:p>
        </p:txBody>
      </p:sp>
      <p:sp>
        <p:nvSpPr>
          <p:cNvPr id="5" name="Shape 2"/>
          <p:cNvSpPr/>
          <p:nvPr/>
        </p:nvSpPr>
        <p:spPr>
          <a:xfrm>
            <a:off x="812902" y="1777594"/>
            <a:ext cx="5206594" cy="1943100"/>
          </a:xfrm>
          <a:prstGeom prst="roundRect">
            <a:avLst>
              <a:gd name="adj" fmla="val 3765"/>
            </a:avLst>
          </a:prstGeom>
          <a:solidFill>
            <a:schemeClr val="bg2"/>
          </a:solidFill>
          <a:ln w="9525">
            <a:solidFill>
              <a:schemeClr val="accent6"/>
            </a:solidFill>
            <a:prstDash val="solid"/>
          </a:ln>
        </p:spPr>
      </p:sp>
      <p:sp>
        <p:nvSpPr>
          <p:cNvPr id="6" name="Text 3"/>
          <p:cNvSpPr txBox="1"/>
          <p:nvPr/>
        </p:nvSpPr>
        <p:spPr>
          <a:xfrm>
            <a:off x="1015898" y="1930298"/>
            <a:ext cx="4826203" cy="2286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Internal</a:t>
            </a:r>
            <a:endParaRPr lang="en-US" sz="1400" dirty="0"/>
          </a:p>
        </p:txBody>
      </p:sp>
      <p:sp>
        <p:nvSpPr>
          <p:cNvPr id="7" name="Text 4"/>
          <p:cNvSpPr txBox="1"/>
          <p:nvPr/>
        </p:nvSpPr>
        <p:spPr>
          <a:xfrm>
            <a:off x="1015898" y="2210105"/>
            <a:ext cx="4826203" cy="1371600"/>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Scoring is deterministic pattern matching over session JSON, eliminating evaluator subjectivity. Expected rules were derived directly from Mandate definitions to mitigate misspecification.</a:t>
            </a:r>
            <a:endParaRPr lang="en-US" sz="1200" dirty="0"/>
          </a:p>
        </p:txBody>
      </p:sp>
      <p:sp>
        <p:nvSpPr>
          <p:cNvPr id="8" name="Shape 5"/>
          <p:cNvSpPr/>
          <p:nvPr/>
        </p:nvSpPr>
        <p:spPr>
          <a:xfrm>
            <a:off x="6172200" y="1777594"/>
            <a:ext cx="5206594" cy="1943100"/>
          </a:xfrm>
          <a:prstGeom prst="roundRect">
            <a:avLst>
              <a:gd name="adj" fmla="val 3765"/>
            </a:avLst>
          </a:prstGeom>
          <a:solidFill>
            <a:schemeClr val="bg2"/>
          </a:solidFill>
          <a:ln w="9525">
            <a:solidFill>
              <a:schemeClr val="accent6"/>
            </a:solidFill>
            <a:prstDash val="solid"/>
          </a:ln>
        </p:spPr>
      </p:sp>
      <p:sp>
        <p:nvSpPr>
          <p:cNvPr id="9" name="Text 6"/>
          <p:cNvSpPr txBox="1"/>
          <p:nvPr/>
        </p:nvSpPr>
        <p:spPr>
          <a:xfrm>
            <a:off x="6375197" y="1930298"/>
            <a:ext cx="4826203" cy="2286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Construct</a:t>
            </a:r>
            <a:endParaRPr lang="en-US" sz="1400" dirty="0"/>
          </a:p>
        </p:txBody>
      </p:sp>
      <p:sp>
        <p:nvSpPr>
          <p:cNvPr id="10" name="Text 7"/>
          <p:cNvSpPr txBox="1"/>
          <p:nvPr/>
        </p:nvSpPr>
        <p:spPr>
          <a:xfrm>
            <a:off x="6375197" y="2210105"/>
            <a:ext cx="4826203" cy="1371600"/>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ATC measures trace </a:t>
            </a:r>
            <a:pPr indent="0" marL="0">
              <a:spcAft>
                <a:spcPts val="400"/>
              </a:spcAft>
              <a:buNone/>
            </a:pPr>
            <a:r>
              <a:rPr lang="en-US" sz="1200" i="1" dirty="0">
                <a:solidFill>
                  <a:schemeClr val="tx2"/>
                </a:solidFill>
              </a:rPr>
              <a:t>population</a:t>
            </a:r>
            <a:pPr indent="0" marL="0">
              <a:spcAft>
                <a:spcPts val="400"/>
              </a:spcAft>
              <a:buNone/>
            </a:pPr>
            <a:r>
              <a:rPr lang="en-US" sz="1200" dirty="0">
                <a:solidFill>
                  <a:schemeClr val="tx2"/>
                </a:solidFill>
              </a:rPr>
              <a:t> completeness, not semantic correctness. CDA measures detection </a:t>
            </a:r>
            <a:pPr indent="0" marL="0">
              <a:spcAft>
                <a:spcPts val="400"/>
              </a:spcAft>
              <a:buNone/>
            </a:pPr>
            <a:r>
              <a:rPr lang="en-US" sz="1200" i="1" dirty="0">
                <a:solidFill>
                  <a:schemeClr val="tx2"/>
                </a:solidFill>
              </a:rPr>
              <a:t>latency</a:t>
            </a:r>
            <a:pPr indent="0" marL="0">
              <a:spcAft>
                <a:spcPts val="400"/>
              </a:spcAft>
              <a:buNone/>
            </a:pPr>
            <a:r>
              <a:rPr lang="en-US" sz="1200" dirty="0">
                <a:solidFill>
                  <a:schemeClr val="tx2"/>
                </a:solidFill>
              </a:rPr>
              <a:t>, not reliability.</a:t>
            </a:r>
            <a:endParaRPr lang="en-US" sz="1200" dirty="0"/>
          </a:p>
        </p:txBody>
      </p:sp>
      <p:sp>
        <p:nvSpPr>
          <p:cNvPr id="11" name="Shape 8"/>
          <p:cNvSpPr/>
          <p:nvPr/>
        </p:nvSpPr>
        <p:spPr>
          <a:xfrm>
            <a:off x="812902" y="3873398"/>
            <a:ext cx="5206594" cy="1943100"/>
          </a:xfrm>
          <a:prstGeom prst="roundRect">
            <a:avLst>
              <a:gd name="adj" fmla="val 3765"/>
            </a:avLst>
          </a:prstGeom>
          <a:solidFill>
            <a:schemeClr val="bg2"/>
          </a:solidFill>
          <a:ln w="9525">
            <a:solidFill>
              <a:schemeClr val="accent6"/>
            </a:solidFill>
            <a:prstDash val="solid"/>
          </a:ln>
        </p:spPr>
      </p:sp>
      <p:sp>
        <p:nvSpPr>
          <p:cNvPr id="12" name="Text 9"/>
          <p:cNvSpPr txBox="1"/>
          <p:nvPr/>
        </p:nvSpPr>
        <p:spPr>
          <a:xfrm>
            <a:off x="1015898" y="4026103"/>
            <a:ext cx="4826203" cy="2286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External</a:t>
            </a:r>
            <a:endParaRPr lang="en-US" sz="1400" dirty="0"/>
          </a:p>
        </p:txBody>
      </p:sp>
      <p:sp>
        <p:nvSpPr>
          <p:cNvPr id="13" name="Text 10"/>
          <p:cNvSpPr txBox="1"/>
          <p:nvPr/>
        </p:nvSpPr>
        <p:spPr>
          <a:xfrm>
            <a:off x="1015898" y="4304995"/>
            <a:ext cx="4826203" cy="1371600"/>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One domain, one model, positioned as a </a:t>
            </a:r>
            <a:pPr indent="0" marL="0">
              <a:spcAft>
                <a:spcPts val="400"/>
              </a:spcAft>
              <a:buNone/>
            </a:pPr>
            <a:r>
              <a:rPr lang="en-US" sz="1200" b="1" dirty="0">
                <a:solidFill>
                  <a:schemeClr val="tx2"/>
                </a:solidFill>
              </a:rPr>
              <a:t>proof of concept</a:t>
            </a:r>
            <a:pPr indent="0" marL="0">
              <a:spcAft>
                <a:spcPts val="400"/>
              </a:spcAft>
              <a:buNone/>
            </a:pPr>
            <a:r>
              <a:rPr lang="en-US" sz="1200" dirty="0">
                <a:solidFill>
                  <a:schemeClr val="tx2"/>
                </a:solidFill>
              </a:rPr>
              <a:t>. The domain-independent core should transfer where competence admits a sortal boundary, norms are prohibitions expressible as decidable predicates, Mandates are session-stable, and the domain tolerates lexicographic constraint priority. Transfer is poor where norms admit routine exceptions or require dynamic renegotiation.</a:t>
            </a:r>
            <a:endParaRPr lang="en-US" sz="1200" dirty="0"/>
          </a:p>
        </p:txBody>
      </p:sp>
      <p:sp>
        <p:nvSpPr>
          <p:cNvPr id="14" name="Shape 11"/>
          <p:cNvSpPr/>
          <p:nvPr/>
        </p:nvSpPr>
        <p:spPr>
          <a:xfrm>
            <a:off x="6172200" y="3873398"/>
            <a:ext cx="5206594" cy="1943100"/>
          </a:xfrm>
          <a:prstGeom prst="roundRect">
            <a:avLst>
              <a:gd name="adj" fmla="val 3765"/>
            </a:avLst>
          </a:prstGeom>
          <a:solidFill>
            <a:schemeClr val="bg2"/>
          </a:solidFill>
          <a:ln w="9525">
            <a:solidFill>
              <a:schemeClr val="accent6"/>
            </a:solidFill>
            <a:prstDash val="solid"/>
          </a:ln>
        </p:spPr>
      </p:sp>
      <p:sp>
        <p:nvSpPr>
          <p:cNvPr id="15" name="Text 12"/>
          <p:cNvSpPr txBox="1"/>
          <p:nvPr/>
        </p:nvSpPr>
        <p:spPr>
          <a:xfrm>
            <a:off x="6375197" y="4026103"/>
            <a:ext cx="4826203" cy="2286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Conclusion</a:t>
            </a:r>
            <a:endParaRPr lang="en-US" sz="1400" dirty="0"/>
          </a:p>
        </p:txBody>
      </p:sp>
      <p:sp>
        <p:nvSpPr>
          <p:cNvPr id="16" name="Text 13"/>
          <p:cNvSpPr txBox="1"/>
          <p:nvPr/>
        </p:nvSpPr>
        <p:spPr>
          <a:xfrm>
            <a:off x="6375197" y="4304995"/>
            <a:ext cx="4826203" cy="1371600"/>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BVC and CGP variance across 10 runs is 2.7%, low enough to support containment under these conditions. The sharper claim, that adversarial dispositions never breach the gate, is supported </a:t>
            </a:r>
            <a:pPr indent="0" marL="0">
              <a:spcAft>
                <a:spcPts val="400"/>
              </a:spcAft>
              <a:buNone/>
            </a:pPr>
            <a:r>
              <a:rPr lang="en-US" sz="1200" i="1" dirty="0">
                <a:solidFill>
                  <a:schemeClr val="tx2"/>
                </a:solidFill>
              </a:rPr>
              <a:t>categorically</a:t>
            </a:r>
            <a:pPr indent="0" marL="0">
              <a:spcAft>
                <a:spcPts val="400"/>
              </a:spcAft>
              <a:buNone/>
            </a:pPr>
            <a:r>
              <a:rPr lang="en-US" sz="1200" dirty="0">
                <a:solidFill>
                  <a:schemeClr val="tx2"/>
                </a:solidFill>
              </a:rPr>
              <a:t> (zero forced-pass in 40 disposition evaluations) rather than statistically.</a:t>
            </a:r>
            <a:endParaRPr lang="en-US" sz="1200" dirty="0"/>
          </a:p>
        </p:txBody>
      </p:sp>
      <p:sp>
        <p:nvSpPr>
          <p:cNvPr id="25" name="Slide Number Placeholder 0"/>
          <p:cNvSpPr>
            <a:spLocks noGrp="1"/>
          </p:cNvSpPr>
          <p:nvPr>
            <p:ph type="sldNum" sz="quarter" idx="4294967295"/>
          </p:nvPr>
        </p:nvSpPr>
        <p:spPr>
          <a:xfrm>
            <a:off x="10668305" y="6299302"/>
            <a:ext cx="711403" cy="254203"/>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AI-Intent ER 2026">
  <a:themeElements>
    <a:clrScheme name="AI-Intent ER 2026">
      <a:dk1>
        <a:srgbClr val="1B2A4A"/>
      </a:dk1>
      <a:lt1>
        <a:srgbClr val="F7F5EF"/>
      </a:lt1>
      <a:dk2>
        <a:srgbClr val="3E4A5E"/>
      </a:dk2>
      <a:lt2>
        <a:srgbClr val="FDFCF9"/>
      </a:lt2>
      <a:accent1>
        <a:srgbClr val="B45F06"/>
      </a:accent1>
      <a:accent2>
        <a:srgbClr val="D98A2B"/>
      </a:accent2>
      <a:accent3>
        <a:srgbClr val="2E7D32"/>
      </a:accent3>
      <a:accent4>
        <a:srgbClr val="B3261E"/>
      </a:accent4>
      <a:accent5>
        <a:srgbClr val="6B7280"/>
      </a:accent5>
      <a:accent6>
        <a:srgbClr val="D5D0C4"/>
      </a:accent6>
      <a:hlink>
        <a:srgbClr val="B45F06"/>
      </a:hlink>
      <a:folHlink>
        <a:srgbClr val="6B7280"/>
      </a:folHlink>
    </a:clrScheme>
    <a:fontScheme name="AI-Intent ER 2026">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AI-Intent: A Conceptual Modeling Framework for Accountable Multi-Agent AI Systems</dc:title>
  <dc:subject>ER 2026 conference talk</dc:subject>
  <dc:creator>Wolfgang Maass, Iris Reinhartz-Berger</dc:creator>
  <cp:lastModifiedBy>Wolfgang Maass, Iris Reinhartz-Berger</cp:lastModifiedBy>
  <cp:revision>1</cp:revision>
  <dcterms:created xsi:type="dcterms:W3CDTF">2026-10-05T11:01:54Z</dcterms:created>
  <dcterms:modified xsi:type="dcterms:W3CDTF">2026-10-05T11:01:54Z</dcterms:modified>
</cp:coreProperties>
</file>